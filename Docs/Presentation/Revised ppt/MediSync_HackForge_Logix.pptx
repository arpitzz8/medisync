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d3c39a4e70476b" /><Relationship Type="http://schemas.openxmlformats.org/officeDocument/2006/relationships/extended-properties" Target="/docProps/app.xml" Id="R1efa11a113924261" /><Relationship Type="http://schemas.openxmlformats.org/officeDocument/2006/relationships/officeDocument" Target="/ppt/presentation.xml" Id="Re87084567d3c49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3c0f1c5f824a13"/>
  </p:sldMasterIdLst>
  <p:notesMasterIdLst>
    <p:notesMasterId xmlns:r="http://schemas.openxmlformats.org/officeDocument/2006/relationships" r:id="R0144fd62ba724056"/>
  </p:notesMasterIdLst>
  <p:sldIdLst>
    <p:sldId xmlns:r="http://schemas.openxmlformats.org/officeDocument/2006/relationships" id="256" r:id="Rb92961eac67a4870"/>
    <p:sldId xmlns:r="http://schemas.openxmlformats.org/officeDocument/2006/relationships" id="257" r:id="R35271136be0345e0"/>
    <p:sldId xmlns:r="http://schemas.openxmlformats.org/officeDocument/2006/relationships" id="258" r:id="R81aa02ec0e1a4601"/>
    <p:sldId xmlns:r="http://schemas.openxmlformats.org/officeDocument/2006/relationships" id="259" r:id="R90bca1b31b1b43da"/>
    <p:sldId xmlns:r="http://schemas.openxmlformats.org/officeDocument/2006/relationships" id="260" r:id="R7eab9cf265844dc0"/>
    <p:sldId xmlns:r="http://schemas.openxmlformats.org/officeDocument/2006/relationships" id="261" r:id="Ref6e78c24d1c4309"/>
    <p:sldId xmlns:r="http://schemas.openxmlformats.org/officeDocument/2006/relationships" id="262" r:id="R6873970584ef47c8"/>
    <p:sldId xmlns:r="http://schemas.openxmlformats.org/officeDocument/2006/relationships" id="263" r:id="R4d52c23557ad4365"/>
    <p:sldId xmlns:r="http://schemas.openxmlformats.org/officeDocument/2006/relationships" id="264" r:id="R93fc3d36b9124234"/>
    <p:sldId xmlns:r="http://schemas.openxmlformats.org/officeDocument/2006/relationships" id="265" r:id="R23adc394b14d4c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ddc9ca4cbd45d4" /><Relationship Type="http://schemas.openxmlformats.org/officeDocument/2006/relationships/slideMaster" Target="/ppt/slideMasters/slideMaster1.xml" Id="R963c0f1c5f824a13" /><Relationship Type="http://schemas.openxmlformats.org/officeDocument/2006/relationships/notesMaster" Target="/ppt/notesMasters/notesMaster1.xml" Id="R0144fd62ba724056" /><Relationship Type="http://schemas.openxmlformats.org/officeDocument/2006/relationships/presProps" Target="/ppt/presProps.xml" Id="R6c468f9e6af44319" /><Relationship Type="http://schemas.openxmlformats.org/officeDocument/2006/relationships/tableStyles" Target="/ppt/tableStyles.xml" Id="Re23631e3f1a14c68" /><Relationship Type="http://schemas.openxmlformats.org/officeDocument/2006/relationships/slide" Target="/ppt/slides/slide1.xml" Id="Rb92961eac67a4870" /><Relationship Type="http://schemas.openxmlformats.org/officeDocument/2006/relationships/slide" Target="/ppt/slides/slide2.xml" Id="R35271136be0345e0" /><Relationship Type="http://schemas.openxmlformats.org/officeDocument/2006/relationships/slide" Target="/ppt/slides/slide3.xml" Id="R81aa02ec0e1a4601" /><Relationship Type="http://schemas.openxmlformats.org/officeDocument/2006/relationships/slide" Target="/ppt/slides/slide4.xml" Id="R90bca1b31b1b43da" /><Relationship Type="http://schemas.openxmlformats.org/officeDocument/2006/relationships/slide" Target="/ppt/slides/slide5.xml" Id="R7eab9cf265844dc0" /><Relationship Type="http://schemas.openxmlformats.org/officeDocument/2006/relationships/slide" Target="/ppt/slides/slide6.xml" Id="Ref6e78c24d1c4309" /><Relationship Type="http://schemas.openxmlformats.org/officeDocument/2006/relationships/slide" Target="/ppt/slides/slide7.xml" Id="R6873970584ef47c8" /><Relationship Type="http://schemas.openxmlformats.org/officeDocument/2006/relationships/slide" Target="/ppt/slides/slide8.xml" Id="R4d52c23557ad4365" /><Relationship Type="http://schemas.openxmlformats.org/officeDocument/2006/relationships/slide" Target="/ppt/slides/slide9.xml" Id="R93fc3d36b9124234" /><Relationship Type="http://schemas.openxmlformats.org/officeDocument/2006/relationships/slide" Target="/ppt/slides/slide10.xml" Id="R23adc394b14d4c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6b612f525343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994a52edb6445e" /><Relationship Type="http://schemas.openxmlformats.org/officeDocument/2006/relationships/notesMaster" Target="/ppt/notesMasters/notesMaster1.xml" Id="R55418aa4aaee4c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4afb2337d14322" /><Relationship Type="http://schemas.openxmlformats.org/officeDocument/2006/relationships/notesMaster" Target="/ppt/notesMasters/notesMaster1.xml" Id="Ra4f74032d2e846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39d4ef86d34cd4" /><Relationship Type="http://schemas.openxmlformats.org/officeDocument/2006/relationships/notesMaster" Target="/ppt/notesMasters/notesMaster1.xml" Id="R75bd5c8d3cde4a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b72525ea1242d2" /><Relationship Type="http://schemas.openxmlformats.org/officeDocument/2006/relationships/notesMaster" Target="/ppt/notesMasters/notesMaster1.xml" Id="R2d350a870efc4a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59360f498c4acc" /><Relationship Type="http://schemas.openxmlformats.org/officeDocument/2006/relationships/notesMaster" Target="/ppt/notesMasters/notesMaster1.xml" Id="Rfbdb38ac14244c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ab73fec60d45b8" /><Relationship Type="http://schemas.openxmlformats.org/officeDocument/2006/relationships/notesMaster" Target="/ppt/notesMasters/notesMaster1.xml" Id="R9e3c99bafc9f4a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c4708b8ed44094" /><Relationship Type="http://schemas.openxmlformats.org/officeDocument/2006/relationships/notesMaster" Target="/ppt/notesMasters/notesMaster1.xml" Id="R59bba2b5d9bd45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8143f1b0454e67" /><Relationship Type="http://schemas.openxmlformats.org/officeDocument/2006/relationships/notesMaster" Target="/ppt/notesMasters/notesMaster1.xml" Id="Rff4953902d8c4c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307e5958d584a8c" /><Relationship Type="http://schemas.openxmlformats.org/officeDocument/2006/relationships/notesMaster" Target="/ppt/notesMasters/notesMaster1.xml" Id="Rdcb100d5d8d045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0a960680eb495e" /><Relationship Type="http://schemas.openxmlformats.org/officeDocument/2006/relationships/notesMaster" Target="/ppt/notesMasters/notesMaster1.xml" Id="R6b8ed4144ba349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Landscape sources checked 7 Oct 2026; product descriptions reflect manufacturer pages and the open-source project's README, not independent performance testing.</a:t>
            </a:r>
          </a:p>
          <a:p xmlns:a="http://schemas.openxmlformats.org/drawingml/2006/main">
            <a:r>
              <a:t>Hero Smart Dispenser overview: https://herohealth.com/medication-management/</a:t>
            </a:r>
          </a:p>
          <a:p xmlns:a="http://schemas.openxmlformats.org/drawingml/2006/main">
            <a:r>
              <a:t>Hero dispensing and caregiver alert details: https://support.herohealth.com/en/articles/8058271-how-does-the-hero-dispense-medications</a:t>
            </a:r>
          </a:p>
          <a:p xmlns:a="http://schemas.openxmlformats.org/drawingml/2006/main">
            <a:r>
              <a:t>AdhereTech / Aidia Smart Bottle: https://adheretech.com/</a:t>
            </a:r>
          </a:p>
          <a:p xmlns:a="http://schemas.openxmlformats.org/drawingml/2006/main">
            <a:r>
              <a:t>Shaztech open-source automatic dispenser README: https://github.com/Shaztech/Pilldispenser/blob/main/README.md</a:t>
            </a:r>
          </a:p>
          <a:p xmlns:a="http://schemas.openxmlformats.org/drawingml/2006/main">
            <a:r>
              <a:t>MediSync status and limitations reflect the team's supplied project material. Wokwi prototype remains in progress and needs validation; an event does not prove ingestion.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ESP32 / PlatformIO firmware and Wokwi project are supplied for simulation. The Wokwi sequence still needs validation. The app, adaptive ML, offline and cloud AI, hospital dashboard, and TEE are planned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868417726844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999aea2b894054" /><Relationship Type="http://schemas.openxmlformats.org/officeDocument/2006/relationships/slideLayout" Target="/ppt/slideLayouts/slideLayout1.xml" Id="R847b73e7388e4d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7b73e7388e4d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a1a85e1ed4f3d" /><Relationship Type="http://schemas.openxmlformats.org/officeDocument/2006/relationships/image" Target="/ppt/media/image.png" Id="Rd0ffeb741ce54891" /><Relationship Type="http://schemas.openxmlformats.org/officeDocument/2006/relationships/notesSlide" Target="/ppt/notesSlides/notesSlide1.xml" Id="Rba8130a427ac45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4fb834faf48e4" /><Relationship Type="http://schemas.openxmlformats.org/officeDocument/2006/relationships/notesSlide" Target="/ppt/notesSlides/notesSlide2.xml" Id="R799266843d9a44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99941c3f2418f" /><Relationship Type="http://schemas.openxmlformats.org/officeDocument/2006/relationships/notesSlide" Target="/ppt/notesSlides/notesSlide3.xml" Id="R048b47c514d446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e487b0b2a4688" /><Relationship Type="http://schemas.openxmlformats.org/officeDocument/2006/relationships/image" Target="/ppt/media/image2.png" Id="R45b82eba0b53405e" /><Relationship Type="http://schemas.openxmlformats.org/officeDocument/2006/relationships/image" Target="/ppt/media/image3.png" Id="R722dc06074e141c5" /><Relationship Type="http://schemas.openxmlformats.org/officeDocument/2006/relationships/notesSlide" Target="/ppt/notesSlides/notesSlide4.xml" Id="Rbf43aa4797d940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53300275a4401" /><Relationship Type="http://schemas.openxmlformats.org/officeDocument/2006/relationships/notesSlide" Target="/ppt/notesSlides/notesSlide5.xml" Id="R521e234918b44f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3006c3f1c429d" /><Relationship Type="http://schemas.openxmlformats.org/officeDocument/2006/relationships/notesSlide" Target="/ppt/notesSlides/notesSlide6.xml" Id="Ref8c4e4455bd47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1f05ff85b417d" /><Relationship Type="http://schemas.openxmlformats.org/officeDocument/2006/relationships/notesSlide" Target="/ppt/notesSlides/notesSlide7.xml" Id="R6e05453b35f443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cf2b7b7ad4354" /><Relationship Type="http://schemas.openxmlformats.org/officeDocument/2006/relationships/notesSlide" Target="/ppt/notesSlides/notesSlide8.xml" Id="R5f0351046f4d40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0f9a0fa934b49" /><Relationship Type="http://schemas.openxmlformats.org/officeDocument/2006/relationships/notesSlide" Target="/ppt/notesSlides/notesSlide9.xml" Id="R1e4492ce6d2b44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5090a402c450c" /><Relationship Type="http://schemas.openxmlformats.org/officeDocument/2006/relationships/notesSlide" Target="/ppt/notesSlides/notesSlide10.xml" Id="R0f299754871d4b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00CA5-BFD3-43DE-B4E9-795D9FB0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191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HACKFORGE LOGIX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73C24-AACF-4C77-BE3D-E7A33E18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47625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MediSync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Medication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Tracking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5CB5F-E959-46AC-971E-DCE49608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862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Desk and portable concepts for reminders and event tracking; the Wokwi simulation is in progress.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EAF7E-45F3-48B6-9E14-A38F04E7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Primary: Open Innovation | Secondary: AI/ML + Cybersecurity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feb741ce54891"/>
          <a:stretch xmlns:a="http://schemas.openxmlformats.org/drawingml/2006/main"/>
        </p:blipFill>
        <p:spPr>
          <a:xfrm xmlns:a="http://schemas.openxmlformats.org/drawingml/2006/main">
            <a:off x="5657850" y="1572816"/>
            <a:ext cx="5905500" cy="332184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16D9D-84AD-4D9F-9390-C4B103E8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55340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Concept render — not a physical device</a:t>
            </a:r>
          </a:p>
        </p:txBody>
      </p:sp>
    </p:spTree>
    <p:extLst>
      <p:ext uri="{BB962C8B-B14F-4D97-AF65-F5344CB8AC3E}">
        <p14:creationId xmlns:p14="http://schemas.microsoft.com/office/powerpoint/2010/main" val="1986135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A9204-6D1D-47A7-AF8C-FDDBEEE3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F5BDC-0E74-49D1-98CC-89A1FCFB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668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674BDB-9A97-40BB-9293-E2AAA816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666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Medication routines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DE127-A28F-408A-B439-09CF2CB4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66875"/>
            <a:ext cx="624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Different schedules and packaging make daily tracking harder.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10B3A-D667-4F2B-9BE2-7D7D6933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28875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AC910-0BFF-4076-838D-BE9F391D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2F639-9375-4A5B-975F-F54B3637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480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Mixed packages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E44C4-1898-42FB-9DB0-A076F200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48000"/>
            <a:ext cx="624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Bottles, liquids and blister packs have different sensing limits.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65DBB-A397-479C-B778-0893B693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100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3F42F-5CF2-49E6-8D00-DC8351F2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29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E16D6-8350-4F31-8F82-195F2B94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291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Uncertain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E48C5-B3E9-480A-BA26-E18AADFE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429125"/>
            <a:ext cx="6248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A reminder or sensor change cannot establish that a dose was taken.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DFCAE-BF90-45FE-826F-B186925E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91125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44168-2F64-44F3-A6EC-9EBC6A81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055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MediSync targets people managing medicines and their authorized helpers.</a:t>
            </a:r>
          </a:p>
        </p:txBody>
      </p:sp>
    </p:spTree>
    <p:extLst>
      <p:ext uri="{BB962C8B-B14F-4D97-AF65-F5344CB8AC3E}">
        <p14:creationId xmlns:p14="http://schemas.microsoft.com/office/powerpoint/2010/main" val="1408590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63CC51-3D79-4BA2-A599-60AE28EE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Existing Solutions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4571E-63A0-4099-9406-2C8D2920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09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EXAMPLES REVIEWED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EBE34-EDE8-46D7-8CC6-B93A5AAE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097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OFFERING / MEDISYNC 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F5A1F-01C9-40BF-B833-47DE220C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Hero dispenser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F4F5C-DAE4-47CA-998F-885095E0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764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Automated dose sorting, scheduled dispensing and caregiver alerts.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8055B-0058-4FE2-9245-D925DC28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669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09090-2137-48B4-8D94-2111C6BD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Aidia Smart Bottle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C3D6A-F45B-40DA-A423-D5A16FF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03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Connected bottle-based reminders and patient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105F3-FCAD-4C60-94AA-205C112C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65397-F51B-46FB-A1DF-8236EEE5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2422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Shaztech open 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92EB45-F42D-41C4-ACC1-53A16F35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42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ESP32 dispenser with editable firmware, PCBs and printable parts.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0FBA7-2BF5-4957-A791-18431474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CCCE19-68E1-4E6C-B39E-21A30346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4812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Open Innovation lesson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B6DF9-3085-4D8D-A7E8-FE46F9D4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481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Use public builds as references; validate safety and usability locally.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E80113-36CD-4A30-A4EB-CB260AB5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386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E9DEA-CAD0-4275-B8EA-6681DDF3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7202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MediSync today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1FB377-CB04-4905-B49E-4CDD77C3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720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Wokwi prototype remains in progress; offline app and adaptive ML are planned.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7F650-491A-4F3E-B00F-E614E6F0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625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EC78D-97D3-4257-9FDC-8A0E514E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9592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Evidence limit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552BF1-09D3-4FCC-A3A1-52E32651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95925"/>
            <a:ext cx="695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Sensor cues need validation; an event does not prove a dose was swallowed.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B2C80-FEF1-42DA-BB7E-31B8DB85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864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048383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E2DCD-6A7F-4D95-A953-951A751D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b82eba0b53405e"/>
          <a:stretch xmlns:a="http://schemas.openxmlformats.org/drawingml/2006/main"/>
        </p:blipFill>
        <p:spPr>
          <a:xfrm xmlns:a="http://schemas.openxmlformats.org/drawingml/2006/main">
            <a:off x="868892" y="1381125"/>
            <a:ext cx="5520267" cy="310515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dc06074e141c5"/>
          <a:stretch xmlns:a="http://schemas.openxmlformats.org/drawingml/2006/main"/>
        </p:blipFill>
        <p:spPr>
          <a:xfrm xmlns:a="http://schemas.openxmlformats.org/drawingml/2006/main">
            <a:off x="7955384" y="1333500"/>
            <a:ext cx="2339132" cy="3543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BA69A-CEAD-49CF-9B52-1655A684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Home / desk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48230F-1A12-4BC5-9854-26206A31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33975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12 positions: 3 pill/container, 3 liquid and 6 blister.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0272E-90F2-4B72-AEC7-9505BE3B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340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Home / desk concept render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E58DB-5B75-448B-B3D0-8EDC87EA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101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Portable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23FE6D-F5F7-4BAE-A1A1-8BA4609A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419725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6 compartments for personal use or travel.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70F5A-7192-405B-94E5-DB6CF9B4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81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Portable concept render</a:t>
            </a:r>
          </a:p>
        </p:txBody>
      </p:sp>
    </p:spTree>
    <p:extLst>
      <p:ext uri="{BB962C8B-B14F-4D97-AF65-F5344CB8AC3E}">
        <p14:creationId xmlns:p14="http://schemas.microsoft.com/office/powerpoint/2010/main" val="256062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8668A-5B35-46A2-913D-04FEC74A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Key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91DF9-F07A-4FE4-AA65-23611C06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252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D07AD-8AB8-4CA8-96D2-07B2C486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28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5EA1E-53F9-4316-88B0-F4A66C38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28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CURRENT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8D874-E5AD-4130-9855-CF5A072B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28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LIMITATION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33E45-A342-4774-848A-4C5D8661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Scheduled reminders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513E2-0CC1-4AA4-A526-20F94232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Simulated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02278-A687-49F3-8A79-9A92BC06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478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Compressed clock + OLED / buzzer / 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D55DC-EB30-44EE-95D7-6AA6BF3E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3257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Wokwi validation 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6422C-AABC-461B-B599-73A4E27A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55D36-4EA5-42B4-8DBB-B79136E3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Weight event candidate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B211C-8D86-46DC-B388-E9F55AEA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051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Simulated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F7E859-6DAB-4DFB-A50C-80D05DB8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051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One adjustable HX711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D3B62D-D9AB-4BC9-AA00-0E4F37B1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05175"/>
            <a:ext cx="3257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Candidate only; not ingestion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AB82B8-3228-4C18-B51B-D0327351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BBEB9-8F13-4EFC-A1DC-3A19C672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Blister cue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61C06E-E710-42D0-880A-00CB339B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62475"/>
            <a:ext cx="138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Input cue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DA635D-777F-44F9-B6AE-A279F0D8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62475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IR EVENT (SIM) button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09927-8484-4D0C-B2F7-DC98B0CB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62475"/>
            <a:ext cx="3257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No physical IR sensor connected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9B44F-619F-4EAD-A879-61BAA90F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1C31F-632C-4FD1-945E-334484CA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App, adaptive ML, cloud AI, hospital dashboard and TEE remain planned.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D511B8-7693-4754-B4E4-6C25E607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Sensor events do not confirm that a dose was swallowed.</a:t>
            </a:r>
          </a:p>
        </p:txBody>
      </p:sp>
    </p:spTree>
    <p:extLst>
      <p:ext uri="{BB962C8B-B14F-4D97-AF65-F5344CB8AC3E}">
        <p14:creationId xmlns:p14="http://schemas.microsoft.com/office/powerpoint/2010/main" val="4534925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1696BA-7754-4C6E-BF89-57098FD5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614A2-E45D-4A5E-AA9C-E085BF9E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Wokwi flow: reminders create sensor-event candidates for user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4BF60-8259-46F1-A5A0-E6B2DF7C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9525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A53ED-A868-49D1-9DAB-A99AD7F5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76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58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C05FF-60CE-403A-9137-3512934F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670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4EA16-4C84-432B-AFD4-D904727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52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Schedule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0A430-213B-430C-87D4-1E384C98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Register slot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and schedule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0F9BA-A489-448D-8C4D-55603C2E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76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58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A2FD5-BA11-46C9-95D7-719D57FD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670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FA906-4BBE-4599-A786-E9A85987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52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Remind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10F9E-D1C6-454F-A768-7CC457E9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57625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OLED, LED and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buzzer cues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07883-5C14-4DA6-9562-4AEE7615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58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86C70-C964-4C1E-967E-3864AA7F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70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7C950A-B3AB-42B8-8304-1446F1AD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52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275EB-F8ED-464A-8897-04BC4A42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57625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Simulated HX711;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IR button cue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C5BC5-6833-4258-8D96-3017FEB5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76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785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D2701-1513-47E1-8EDD-4AD9ECE2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67000"/>
            <a:ext cx="323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8851B-54DD-4A6E-B334-31096040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5280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C59657-8F85-4A53-AAFE-1D0017F0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57625"/>
            <a:ext cx="2324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Log candidate or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leave unresolved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FE3F3E-5E76-41C3-AF6F-4E977A40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34025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No phone app or cloud connection; sensor cues cannot confirm a dose was swallowed.</a:t>
            </a:r>
          </a:p>
        </p:txBody>
      </p:sp>
    </p:spTree>
    <p:extLst>
      <p:ext uri="{BB962C8B-B14F-4D97-AF65-F5344CB8AC3E}">
        <p14:creationId xmlns:p14="http://schemas.microsoft.com/office/powerpoint/2010/main" val="506009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FB76F-AF41-400A-8FA9-94E89E11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004B2-9147-45A5-8005-4F1AA840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CURRENT SIMULATED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9F4FC-A131-4665-9205-858D9385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4667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ESP32 / Arduino C++ / PlatformIO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Wokwi HX711 model + SSD1306 OLED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NeoPixel ring, buttons and buzzer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20BC3-6C74-4066-94A9-062FFC2E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One adjustable load input; readings and slot state are simulated.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1C5EA-F9A2-4644-A083-64E0C2FF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2875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65E05-099B-47F6-BBF1-232906B9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28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PLANNED — NOT IMPLEMENTED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D107E-B8BF-4572-A676-446917AC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6690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Offline phone app and local data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Adaptive ML with user review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Optional cloud AI with consent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Hospital dashboard + audit trail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TEE on supported phones (future)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8B322-BF17-4D6A-B195-5FC3F849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Wokwi firmware is in progress and needs validation before a live demo.</a:t>
            </a:r>
          </a:p>
        </p:txBody>
      </p:sp>
    </p:spTree>
    <p:extLst>
      <p:ext uri="{BB962C8B-B14F-4D97-AF65-F5344CB8AC3E}">
        <p14:creationId xmlns:p14="http://schemas.microsoft.com/office/powerpoint/2010/main" val="1612961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529DDD-0EED-43CC-9B1A-CC41DFB8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Prototype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DEE99-A8B4-4268-9D15-518CA3B4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01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Wokwi simulation is in progress; validate this sequence before pitching.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65712-9A62-46A7-B45B-1A0845DE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9C6DA-63FA-4720-973C-917C0501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2286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041C4-FA3B-4074-9929-846EF82B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718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Set load ~0.50 kg; ADD 1 Vitamin_D 08:00; BASELINE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562FD-C96D-4E3C-8786-4D9BAFD9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908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5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5D969-D93F-4CFB-86D7-468C57F6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24175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0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4D858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F552B-7B87-492E-B8E7-0E3463E1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5226C-0254-4902-A036-58EABAFA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2286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Reminder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D0A10-4298-427A-9FA4-9106F5A6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718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NOW 1; acknowledge with 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074E8-627B-4629-9332-896C3ABA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908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5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4A5E2-4C95-4BA8-8519-3F7E0225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24175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0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4D858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DB2F6-8CF3-40CD-9CFD-AE5B4FE4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D7216-BAC9-46B5-AA61-FE18C352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24175"/>
            <a:ext cx="2286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Sensor cue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95ED0-FE9F-4C5C-9C9C-187450F2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Adjust to ~0.35 kg; optional IR EVENT (SIM)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9F3063-D5FD-4DB2-8D6D-A559A2CF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9087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58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DC2C1-4B68-4A73-8FC6-129D074C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24175"/>
            <a:ext cx="323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0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4D858A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4B5B6-4090-43EE-8EF5-F99A5D4B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574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71154-D345-44D8-BAB3-997684A0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24175"/>
            <a:ext cx="2286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Event 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911FA-0481-4660-8614-996C3640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718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CONFIRM 1; inspect serial event candidate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CBD613-06BD-4610-B095-9E58315B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339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8B9A0-E911-4187-8309-D97760EF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Capture OLED + serial output after validation; a sensor change is not ingestion proof.</a:t>
            </a:r>
          </a:p>
        </p:txBody>
      </p:sp>
    </p:spTree>
    <p:extLst>
      <p:ext uri="{BB962C8B-B14F-4D97-AF65-F5344CB8AC3E}">
        <p14:creationId xmlns:p14="http://schemas.microsoft.com/office/powerpoint/2010/main" val="606484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2AC9D3-A602-4B4C-91E7-846F6666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Expected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9E4F3-2C0A-4A99-8844-FE49F6D8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PEOPLE AT HOME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1FBD3-78E4-46B6-8E3C-0F941993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Give users and authorized helpers a clearer view of reminders awaiting follow-up.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3CD23-B046-4326-A137-A7ACC6A6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PORTABLE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56FDC-8553-4A48-B3C5-B8256826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The portable concept could support routines away from home; usability remains untested.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E7914-A863-4554-9577-CB9C199A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76375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115D9-D85F-4047-A72B-59DEE42B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763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CARE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78D83D-6F9E-42F2-A47F-4598A161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52625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A future dashboard could surface unresolved events for staff review, subject to workflow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93AC2-67D4-4B3C-B95F-B34DE8C4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862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EVIDENCE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4953F-AB4B-48E3-A526-40619F30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243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No adherence, clinical or time-saved outcomes have been measured.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18A5D-C2DE-486E-BDD2-C18ED442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Expected benefits remain hypotheses until sensor and user studies are complete.</a:t>
            </a:r>
          </a:p>
        </p:txBody>
      </p:sp>
    </p:spTree>
    <p:extLst>
      <p:ext uri="{BB962C8B-B14F-4D97-AF65-F5344CB8AC3E}">
        <p14:creationId xmlns:p14="http://schemas.microsoft.com/office/powerpoint/2010/main" val="10185033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06C8A-A040-42F9-ACB8-1858E4D2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32735-4947-4204-8A9C-FC3D709B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76DA1-730C-423B-ABE3-8C213952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954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PHYSICAL 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AA78A-9F14-42EA-85C7-1AA817A4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48577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8353A"/>
                </a:solidFill>
                <a:latin typeface="Arial"/>
                <a:ea typeface="Arial"/>
                <a:cs typeface="Arial"/>
              </a:rPr>
              <a:t>Build the desk and portable units; calibrate sensors across real packages and measure false event rates.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0ABF35-3BAE-4343-9768-76CFB4CF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LOCAL APP + ADAPTIVE ML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8C0B57-A269-4CDD-8896-2E4898A2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4857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Build the offline app and local profile. ML suggestions stay subject to user review and approval.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9814B-5FE0-4AAD-955C-A128E3AC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95425"/>
            <a:ext cx="19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84797-5B35-45F4-B7B4-B9046234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4954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AI + HOSPITAL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7FE21-29D2-4408-AB90-591F24CE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14525"/>
            <a:ext cx="4667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35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8353A"/>
                </a:solidFill>
                <a:latin typeface="Arial"/>
                <a:ea typeface="Arial"/>
                <a:cs typeface="Arial"/>
              </a:rPr>
              <a:t>Evaluate offline and consent-based cloud AI after safety review; dashboard and audit trail remain planned.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12C67-3B23-46C8-812B-739B4724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432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D858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4D858A"/>
                </a:solidFill>
                <a:latin typeface="Arial"/>
                <a:ea typeface="Arial"/>
                <a:cs typeface="Arial"/>
              </a:rPr>
              <a:t>CYBERSECURITY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546774-55F6-4461-8F31-F992E44F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7190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878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8787A"/>
                </a:solidFill>
                <a:latin typeface="Arial"/>
                <a:ea typeface="Arial"/>
                <a:cs typeface="Arial"/>
              </a:rPr>
              <a:t>Plan encryption, role-based access and user-controlled sharing/deletion. Assess TEE on supported phones.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CE5C4-E519-476A-B534-64FB17CD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02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C8785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7854"/>
                </a:solidFill>
                <a:latin typeface="Arial"/>
                <a:ea typeface="Arial"/>
                <a:cs typeface="Arial"/>
              </a:rPr>
              <a:t>All items here are planned; none is implemented in the current firmware.</a:t>
            </a:r>
          </a:p>
        </p:txBody>
      </p:sp>
    </p:spTree>
    <p:extLst>
      <p:ext uri="{BB962C8B-B14F-4D97-AF65-F5344CB8AC3E}">
        <p14:creationId xmlns:p14="http://schemas.microsoft.com/office/powerpoint/2010/main" val="17204568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2026-10-07T07:04:13.9250000Z</dcterms:created>
  <dcterms:modified xsi:type="dcterms:W3CDTF">2026-10-07T07:04:13.9250000Z</dcterms:modified>
</coreProperties>
</file>