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ddab40dfda94212" Type="http://schemas.openxmlformats.org/officeDocument/2006/relationships/extended-properties" Target="docProps/app.xml"/><Relationship Id="Rb5d438074e8f4f89" Type="http://schemas.openxmlformats.org/officeDocument/2006/relationships/officeDocument" Target="ppt/presentation.xml"/><Relationship Id="Rbb98efcabe2e44a8"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5d2d7c645153494c"/>
  </p:sldMasterIdLst>
  <p:notesMasterIdLst>
    <p:notesMasterId xmlns:r="http://schemas.openxmlformats.org/officeDocument/2006/relationships" r:id="Rbe4dd4c22f214045"/>
  </p:notesMasterIdLst>
  <p:sldIdLst>
    <p:sldId xmlns:r="http://schemas.openxmlformats.org/officeDocument/2006/relationships" id="256" r:id="R92aa00d6d4f0421f"/>
    <p:sldId xmlns:r="http://schemas.openxmlformats.org/officeDocument/2006/relationships" id="257" r:id="R946ead58ae844317"/>
    <p:sldId xmlns:r="http://schemas.openxmlformats.org/officeDocument/2006/relationships" id="258" r:id="R8b585e7029294952"/>
    <p:sldId xmlns:r="http://schemas.openxmlformats.org/officeDocument/2006/relationships" id="259" r:id="R9b591c9396de47e9"/>
    <p:sldId xmlns:r="http://schemas.openxmlformats.org/officeDocument/2006/relationships" id="260" r:id="R5056ae352d1440ff"/>
    <p:sldId xmlns:r="http://schemas.openxmlformats.org/officeDocument/2006/relationships" id="261" r:id="R04dece60bb03472f"/>
    <p:sldId xmlns:r="http://schemas.openxmlformats.org/officeDocument/2006/relationships" id="262" r:id="Re099a5d1163e49d2"/>
    <p:sldId xmlns:r="http://schemas.openxmlformats.org/officeDocument/2006/relationships" id="263" r:id="R5763f3838a444f6d"/>
    <p:sldId xmlns:r="http://schemas.openxmlformats.org/officeDocument/2006/relationships" id="264" r:id="Rf572919d34bd4546"/>
    <p:sldId xmlns:r="http://schemas.openxmlformats.org/officeDocument/2006/relationships" id="265" r:id="R52204bae09f749ce"/>
    <p:sldId xmlns:r="http://schemas.openxmlformats.org/officeDocument/2006/relationships" id="266" r:id="R426b847eeb0c45e4"/>
    <p:sldId xmlns:r="http://schemas.openxmlformats.org/officeDocument/2006/relationships" id="267" r:id="R4a8f45f4c1b14fa1"/>
    <p:sldId xmlns:r="http://schemas.openxmlformats.org/officeDocument/2006/relationships" id="268" r:id="R2cda7da39c14433e"/>
    <p:sldId xmlns:r="http://schemas.openxmlformats.org/officeDocument/2006/relationships" id="269" r:id="Rd052098b9e584e9a"/>
    <p:sldId xmlns:r="http://schemas.openxmlformats.org/officeDocument/2006/relationships" id="270" r:id="Rc9d0cf22a16f4d45"/>
    <p:sldId xmlns:r="http://schemas.openxmlformats.org/officeDocument/2006/relationships" id="271" r:id="R79ccfe68b3b64653"/>
    <p:sldId xmlns:r="http://schemas.openxmlformats.org/officeDocument/2006/relationships" id="272" r:id="Rb35ec9ad824244b2"/>
    <p:sldId xmlns:r="http://schemas.openxmlformats.org/officeDocument/2006/relationships" id="273" r:id="Rd79fb2c170cc4e2b"/>
    <p:sldId xmlns:r="http://schemas.openxmlformats.org/officeDocument/2006/relationships" id="274" r:id="R2810ac0d261143fe"/>
    <p:sldId xmlns:r="http://schemas.openxmlformats.org/officeDocument/2006/relationships" id="275" r:id="R322b27d7cbb5453f"/>
    <p:sldId xmlns:r="http://schemas.openxmlformats.org/officeDocument/2006/relationships" id="276" r:id="R620dd7a11d21401a"/>
    <p:sldId xmlns:r="http://schemas.openxmlformats.org/officeDocument/2006/relationships" id="277" r:id="Rcbf488d8fc8a48c3"/>
    <p:sldId xmlns:r="http://schemas.openxmlformats.org/officeDocument/2006/relationships" id="278" r:id="R937b32813b2a4e86"/>
    <p:sldId xmlns:r="http://schemas.openxmlformats.org/officeDocument/2006/relationships" id="279" r:id="R7b7d1b7e93bc4124"/>
    <p:sldId xmlns:ns0="http://schemas.openxmlformats.org/officeDocument/2006/relationships" id="280" ns0:id="rId30"/>
    <p:sldId xmlns:ns0="http://schemas.openxmlformats.org/officeDocument/2006/relationships" id="281" ns0:id="rId31"/>
    <p:sldId xmlns:ns0="http://schemas.openxmlformats.org/officeDocument/2006/relationships" id="282" ns0:id="rId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a4d7e4723d4e94" Type="http://schemas.openxmlformats.org/officeDocument/2006/relationships/theme" Target="theme/theme1.xml"/><Relationship Id="R04dece60bb03472f" Type="http://schemas.openxmlformats.org/officeDocument/2006/relationships/slide" Target="slides/slide6.xml"/><Relationship Id="R2810ac0d261143fe" Type="http://schemas.openxmlformats.org/officeDocument/2006/relationships/slide" Target="slides/slide19.xml"/><Relationship Id="R2cda7da39c14433e" Type="http://schemas.openxmlformats.org/officeDocument/2006/relationships/slide" Target="slides/slide13.xml"/><Relationship Id="R322b27d7cbb5453f" Type="http://schemas.openxmlformats.org/officeDocument/2006/relationships/slide" Target="slides/slide20.xml"/><Relationship Id="R38e29cc3b5454208" Type="http://schemas.openxmlformats.org/officeDocument/2006/relationships/tableStyles" Target="tableStyles.xml"/><Relationship Id="R426b847eeb0c45e4" Type="http://schemas.openxmlformats.org/officeDocument/2006/relationships/slide" Target="slides/slide11.xml"/><Relationship Id="R4a8f45f4c1b14fa1" Type="http://schemas.openxmlformats.org/officeDocument/2006/relationships/slide" Target="slides/slide12.xml"/><Relationship Id="R5056ae352d1440ff" Type="http://schemas.openxmlformats.org/officeDocument/2006/relationships/slide" Target="slides/slide5.xml"/><Relationship Id="R52204bae09f749ce" Type="http://schemas.openxmlformats.org/officeDocument/2006/relationships/slide" Target="slides/slide10.xml"/><Relationship Id="R5763f3838a444f6d" Type="http://schemas.openxmlformats.org/officeDocument/2006/relationships/slide" Target="slides/slide8.xml"/><Relationship Id="R5d2d7c645153494c" Type="http://schemas.openxmlformats.org/officeDocument/2006/relationships/slideMaster" Target="slideMasters/slideMaster1.xml"/><Relationship Id="R620dd7a11d21401a" Type="http://schemas.openxmlformats.org/officeDocument/2006/relationships/slide" Target="slides/slide21.xml"/><Relationship Id="R79ccfe68b3b64653" Type="http://schemas.openxmlformats.org/officeDocument/2006/relationships/slide" Target="slides/slide16.xml"/><Relationship Id="R7b7d1b7e93bc4124" Type="http://schemas.openxmlformats.org/officeDocument/2006/relationships/slide" Target="slides/slide24.xml"/><Relationship Id="R8b585e7029294952" Type="http://schemas.openxmlformats.org/officeDocument/2006/relationships/slide" Target="slides/slide3.xml"/><Relationship Id="R92aa00d6d4f0421f" Type="http://schemas.openxmlformats.org/officeDocument/2006/relationships/slide" Target="slides/slide1.xml"/><Relationship Id="R937b32813b2a4e86" Type="http://schemas.openxmlformats.org/officeDocument/2006/relationships/slide" Target="slides/slide23.xml"/><Relationship Id="R946ead58ae844317" Type="http://schemas.openxmlformats.org/officeDocument/2006/relationships/slide" Target="slides/slide2.xml"/><Relationship Id="R9b591c9396de47e9" Type="http://schemas.openxmlformats.org/officeDocument/2006/relationships/slide" Target="slides/slide4.xml"/><Relationship Id="Rb35ec9ad824244b2" Type="http://schemas.openxmlformats.org/officeDocument/2006/relationships/slide" Target="slides/slide17.xml"/><Relationship Id="Rb810591cff274d0e" Type="http://schemas.openxmlformats.org/officeDocument/2006/relationships/presProps" Target="presProps.xml"/><Relationship Id="Rbe4dd4c22f214045" Type="http://schemas.openxmlformats.org/officeDocument/2006/relationships/notesMaster" Target="notesMasters/notesMaster1.xml"/><Relationship Id="Rc9d0cf22a16f4d45" Type="http://schemas.openxmlformats.org/officeDocument/2006/relationships/slide" Target="slides/slide15.xml"/><Relationship Id="Rcbf488d8fc8a48c3" Type="http://schemas.openxmlformats.org/officeDocument/2006/relationships/slide" Target="slides/slide22.xml"/><Relationship Id="Rd052098b9e584e9a" Type="http://schemas.openxmlformats.org/officeDocument/2006/relationships/slide" Target="slides/slide14.xml"/><Relationship Id="Rd79fb2c170cc4e2b" Type="http://schemas.openxmlformats.org/officeDocument/2006/relationships/slide" Target="slides/slide18.xml"/><Relationship Id="Re099a5d1163e49d2" Type="http://schemas.openxmlformats.org/officeDocument/2006/relationships/slide" Target="slides/slide7.xml"/><Relationship Id="Rf572919d34bd4546" Type="http://schemas.openxmlformats.org/officeDocument/2006/relationships/slide" Target="slides/slide9.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8e942ca3d25947b4"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19133a8507e14617" Type="http://schemas.openxmlformats.org/officeDocument/2006/relationships/slide" Target="../slides/slide1.xml"/><Relationship Id="R2eee84e882df414d"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9f099bc598604ad5" Type="http://schemas.openxmlformats.org/officeDocument/2006/relationships/slide" Target="../slides/slide2.xml"/><Relationship Id="Rf878c53733fc4068"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80c46bb4f7bc454b" Type="http://schemas.openxmlformats.org/officeDocument/2006/relationships/notesMaster" Target="../notesMasters/notesMaster1.xml"/><Relationship Id="Rdd7d046702974cb8"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54c25267ab5d45dd" Type="http://schemas.openxmlformats.org/officeDocument/2006/relationships/slide" Target="../slides/slide4.xml"/><Relationship Id="Rfa156b921a8a4c7f"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a27465a5bc1f4df8" Type="http://schemas.openxmlformats.org/officeDocument/2006/relationships/notesMaster" Target="../notesMasters/notesMaster1.xml"/><Relationship Id="Rcb6e1225d76843b9"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1c396456d6b14d61" Type="http://schemas.openxmlformats.org/officeDocument/2006/relationships/notesMaster" Target="../notesMasters/notesMaster1.xml"/><Relationship Id="R79bca92a1343436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a142faa9a1a641b1" Type="http://schemas.openxmlformats.org/officeDocument/2006/relationships/notesMaster" Target="../notesMasters/notesMaster1.xml"/><Relationship Id="Re860d3d623b34415"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1fa47b49659b44b1" Type="http://schemas.openxmlformats.org/officeDocument/2006/relationships/notesMaster" Target="../notesMasters/notesMaster1.xml"/><Relationship Id="Rd36e67b9f30f48ee"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521fb84d48374c92" Type="http://schemas.openxmlformats.org/officeDocument/2006/relationships/notesMaster" Target="../notesMasters/notesMaster1.xml"/><Relationship Id="R7aa7d9afc2e0485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1b9a76fd70ac411e" Type="http://schemas.openxmlformats.org/officeDocument/2006/relationships/notesMaster" Target="../notesMasters/notesMaster1.xml"/><Relationship Id="Rc2e05c1e804a4283"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edb083e4200e4afa" Type="http://schemas.openxmlformats.org/officeDocument/2006/relationships/notesMaster" Target="../notesMasters/notesMaster1.xml"/><Relationship Id="Rf592819a0279442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7d7b182ba89646fb" Type="http://schemas.openxmlformats.org/officeDocument/2006/relationships/notesMaster" Target="../notesMasters/notesMaster1.xml"/><Relationship Id="R8f5fb96ea5904a30"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273bc39211e441f8" Type="http://schemas.openxmlformats.org/officeDocument/2006/relationships/slide" Target="../slides/slide13.xml"/><Relationship Id="R65d56cca4f4f4838"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62cedc033ff84af6" Type="http://schemas.openxmlformats.org/officeDocument/2006/relationships/slide" Target="../slides/slide14.xml"/><Relationship Id="R8889a5334eb244ad"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0209cbefa97047f3" Type="http://schemas.openxmlformats.org/officeDocument/2006/relationships/notesMaster" Target="../notesMasters/notesMaster1.xml"/><Relationship Id="Rca1af91279744a66"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5ef233f8d0d041b9" Type="http://schemas.openxmlformats.org/officeDocument/2006/relationships/slide" Target="../slides/slide16.xml"/><Relationship Id="R6e845aed5ca64cf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baeffa7d6e3043f8" Type="http://schemas.openxmlformats.org/officeDocument/2006/relationships/notesMaster" Target="../notesMasters/notesMaster1.xml"/><Relationship Id="Rd8b251ea894b474e"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156ff171b5bd43b8" Type="http://schemas.openxmlformats.org/officeDocument/2006/relationships/notesMaster" Target="../notesMasters/notesMaster1.xml"/><Relationship Id="R162f2ecf70b74fd6"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6b0ca5c759344614" Type="http://schemas.openxmlformats.org/officeDocument/2006/relationships/notesMaster" Target="../notesMasters/notesMaster1.xml"/><Relationship Id="Ree74fec771d44b2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4e08bc6d047f4be7" Type="http://schemas.openxmlformats.org/officeDocument/2006/relationships/notesMaster" Target="../notesMasters/notesMaster1.xml"/><Relationship Id="R8768ee66beec4f89"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204cfdfdb75f45b6" Type="http://schemas.openxmlformats.org/officeDocument/2006/relationships/slide" Target="../slides/slide21.xml"/><Relationship Id="Rbd108ae2e73c454d"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2df5f812bb0440da" Type="http://schemas.openxmlformats.org/officeDocument/2006/relationships/notesMaster" Target="../notesMasters/notesMaster1.xml"/><Relationship Id="Re1ba848398b7403e"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34a75251dfd44cd3" Type="http://schemas.openxmlformats.org/officeDocument/2006/relationships/slide" Target="../slides/slide23.xml"/><Relationship Id="Rbdb09e96442146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13494b8bbcba4362" Type="http://schemas.openxmlformats.org/officeDocument/2006/relationships/slide" Target="../slides/slide24.xml"/><Relationship Id="R99d0780cc8874d49"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Model choices shown are the planned starting stack. Logistic regression runs locally to flag repeated late or missed-dose patterns by medicine and time from schedules, reminder history and recorded events as data builds. Gemma 4 E2B/E4B explains a flagged pattern and drafts reminder wording; it does not calculate the risk score or change the schedule. The user approves any reminder change. These choices need testing before implementation and are not clinically validated.
Model sources: https://ai.google.dev/gemma/docs/core/model_card_4 and https://ai.google.dev/gemma/docs/core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Gemma 4 E2B and E4B are the proposed on-device language-model choices; Google lists these smaller variants for mobile and edge use, with quantized options. Actual memory fit, speed and answer quality must be checked on the target phone. Gemini 3.8 Flash is the proposed opt-in cloud model. Its Google Search grounding capability can retrieve current public sources when used; this is not a guarantee that a source is medically correct. Confirm availability, privacy design and medical accuracy before implementation.
Model sources: https://ai.google.dev/gemma/docs/get_started, https://ai.google.dev/gemma/docs/core, https://ai.google.dev/gemini-api/docs/models/gemini-3.8-flash, and https://ai.google.dev/gemini-api/docs/google-search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dcdfc27623ba4dd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5cee224baafe40e3" Type="http://schemas.openxmlformats.org/officeDocument/2006/relationships/slideLayout" Target="../slideLayouts/slideLayout1.xml"/><Relationship Id="Re2e55e5359554d7e"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ee224baafe40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8510784853d4d54" Type="http://schemas.openxmlformats.org/officeDocument/2006/relationships/notesSlide" Target="../notesSlides/notesSlide1.xml"/><Relationship Id="R31c26a2009ec4468" Type="http://schemas.openxmlformats.org/officeDocument/2006/relationships/slideLayout" Target="../slideLayouts/slideLayout1.xml"/><Relationship Id="R8212ce981c314edd" Type="http://schemas.openxmlformats.org/officeDocument/2006/relationships/image" Target="../media/image.png"/></Relationships>
</file>

<file path=ppt/slides/_rels/slide2.xml.rels><?xml version='1.0' encoding='UTF-8' standalone='yes'?>
<Relationships xmlns="http://schemas.openxmlformats.org/package/2006/relationships"><Relationship Id="R08a9ea74edc043b0" Type="http://schemas.openxmlformats.org/officeDocument/2006/relationships/notesSlide" Target="../notesSlides/notesSlide2.xml"/><Relationship Id="R9ed2bcdbed6d40e8"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3fe4fdc4225e4691" Type="http://schemas.openxmlformats.org/officeDocument/2006/relationships/slideLayout" Target="../slideLayouts/slideLayout1.xml"/><Relationship Id="R6f825c69aded4440" Type="http://schemas.openxmlformats.org/officeDocument/2006/relationships/notesSlide" Target="../notesSlides/notesSlide3.xml"/><Relationship Id="R86a3bec43ab8403f" Type="http://schemas.openxmlformats.org/officeDocument/2006/relationships/image" Target="../media/image3.png"/><Relationship Id="Ra1edc066d7b746b9" Type="http://schemas.openxmlformats.org/officeDocument/2006/relationships/image" Target="../media/image2.png"/></Relationships>
</file>

<file path=ppt/slides/_rels/slide4.xml.rels><?xml version='1.0' encoding='UTF-8' standalone='yes'?>
<Relationships xmlns="http://schemas.openxmlformats.org/package/2006/relationships"><Relationship Id="R4def214db9764629" Type="http://schemas.openxmlformats.org/officeDocument/2006/relationships/notesSlide" Target="../notesSlides/notesSlide4.xml"/><Relationship Id="Rbb7440e897804c28"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3aa26b84306542b9" Type="http://schemas.openxmlformats.org/officeDocument/2006/relationships/slideLayout" Target="../slideLayouts/slideLayout1.xml"/><Relationship Id="Rb17c485bbd63478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9edc221d32524e38" Type="http://schemas.openxmlformats.org/officeDocument/2006/relationships/notesSlide" Target="../notesSlides/notesSlide6.xml"/><Relationship Id="Rf5b4faf58e71451d"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8b00ba40e87e4689" Type="http://schemas.openxmlformats.org/officeDocument/2006/relationships/slideLayout" Target="../slideLayouts/slideLayout1.xml"/><Relationship Id="R8e47cebbba90415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9a6b5f269fcf4528" Type="http://schemas.openxmlformats.org/officeDocument/2006/relationships/notesSlide" Target="../notesSlides/notesSlide8.xml"/><Relationship Id="Rea38240388974c1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a504ac1a7baf40d5" Type="http://schemas.openxmlformats.org/officeDocument/2006/relationships/notesSlide" Target="../notesSlides/notesSlide9.xml"/><Relationship Id="Rada56cf762414264" Type="http://schemas.openxmlformats.org/officeDocument/2006/relationships/slideLayout" Target="../slideLayouts/slideLayout1.xml"/><Relationship Id="Rd7295e634a474bcf" Type="http://schemas.openxmlformats.org/officeDocument/2006/relationships/image" Target="../media/image4.png"/><Relationship Id="Rdf2c300c9d7c4fe2" Type="http://schemas.openxmlformats.org/officeDocument/2006/relationships/image" Target="../media/image5.png"/></Relationships>
</file>

<file path=ppt/slides/_rels/slide10.xml.rels><?xml version='1.0' encoding='UTF-8' standalone='yes'?>
<Relationships xmlns="http://schemas.openxmlformats.org/package/2006/relationships"><Relationship Id="R0b12dee7a7c84932" Type="http://schemas.openxmlformats.org/officeDocument/2006/relationships/notesSlide" Target="../notesSlides/notesSlide10.xml"/><Relationship Id="R2158c159ebe04d4d" Type="http://schemas.openxmlformats.org/officeDocument/2006/relationships/image" Target="../media/image8.png"/><Relationship Id="R3cb161916ef448de" Type="http://schemas.openxmlformats.org/officeDocument/2006/relationships/image" Target="../media/image7.png"/><Relationship Id="R47a62343101d4f99" Type="http://schemas.openxmlformats.org/officeDocument/2006/relationships/slideLayout" Target="../slideLayouts/slideLayout1.xml"/><Relationship Id="R6ed50df6c6634a1b" Type="http://schemas.openxmlformats.org/officeDocument/2006/relationships/image" Target="../media/image6.png"/></Relationships>
</file>

<file path=ppt/slides/_rels/slide11.xml.rels><?xml version='1.0' encoding='UTF-8' standalone='yes'?>
<Relationships xmlns="http://schemas.openxmlformats.org/package/2006/relationships"><Relationship Id="Rd253da3c7bd042df" Type="http://schemas.openxmlformats.org/officeDocument/2006/relationships/slideLayout" Target="../slideLayouts/slideLayout1.xml"/><Relationship Id="Re63afdd905b1427b"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2cc5e59542404ea4" Type="http://schemas.openxmlformats.org/officeDocument/2006/relationships/notesSlide" Target="../notesSlides/notesSlide12.xml"/><Relationship Id="R97482f9e09254f8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6883e5f246d04ed8" Type="http://schemas.openxmlformats.org/officeDocument/2006/relationships/slideLayout" Target="../slideLayouts/slideLayout1.xml"/><Relationship Id="Rcf207556de4544c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5a8ed8284bac4383" Type="http://schemas.openxmlformats.org/officeDocument/2006/relationships/slideLayout" Target="../slideLayouts/slideLayout1.xml"/><Relationship Id="Rb09fcbb342f1486b"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044082d3fca3404f" Type="http://schemas.openxmlformats.org/officeDocument/2006/relationships/notesSlide" Target="../notesSlides/notesSlide15.xml"/><Relationship Id="R53118fc2f5af4b0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6f5db407d3224251" Type="http://schemas.openxmlformats.org/officeDocument/2006/relationships/slideLayout" Target="../slideLayouts/slideLayout1.xml"/><Relationship Id="R9817222bd8ad43df"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0c61bca7a68c4b0b" Type="http://schemas.openxmlformats.org/officeDocument/2006/relationships/slideLayout" Target="../slideLayouts/slideLayout1.xml"/><Relationship Id="R9fe6a51a77574fa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256edd804a6b4a15" Type="http://schemas.openxmlformats.org/officeDocument/2006/relationships/slideLayout" Target="../slideLayouts/slideLayout1.xml"/><Relationship Id="R3570eb407ccb487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9cd26eabdb734b7e" Type="http://schemas.openxmlformats.org/officeDocument/2006/relationships/slideLayout" Target="../slideLayouts/slideLayout1.xml"/><Relationship Id="Ra1e293a208f1478f"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2195050e07474721" Type="http://schemas.openxmlformats.org/officeDocument/2006/relationships/slideLayout" Target="../slideLayouts/slideLayout1.xml"/><Relationship Id="R41c7f400e5364a1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615d7613d42c4091" Type="http://schemas.openxmlformats.org/officeDocument/2006/relationships/notesSlide" Target="../notesSlides/notesSlide21.xml"/><Relationship Id="Rad77234e33374674"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3a89b64a1d8d41b7" Type="http://schemas.openxmlformats.org/officeDocument/2006/relationships/slideLayout" Target="../slideLayouts/slideLayout1.xml"/><Relationship Id="R76d7b05395db4bc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aaee81a86c6b4a70" Type="http://schemas.openxmlformats.org/officeDocument/2006/relationships/notesSlide" Target="../notesSlides/notesSlide23.xml"/><Relationship Id="Rae1480235c6e47a8"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b41fa0773505495c" Type="http://schemas.openxmlformats.org/officeDocument/2006/relationships/notesSlide" Target="../notesSlides/notesSlide24.xml"/><Relationship Id="Rb7d4c25948504b0c"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D00CA5-BFD3-43DE-B4E9-795D9FB0101C}"/>
              </a:ext>
            </a:extLst>
          </p:cNvPr>
          <p:cNvSpPr>
            <a:spLocks xmlns:a="http://schemas.openxmlformats.org/drawingml/2006/main" noGrp="1"/>
          </p:cNvSpPr>
          <p:nvPr/>
        </p:nvSpPr>
        <p:spPr>
          <a:xfrm xmlns:a="http://schemas.openxmlformats.org/drawingml/2006/main">
            <a:off x="742950" y="10191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00" b="1">
                <a:solidFill>
                  <a:srgbClr val="4D858A"/>
                </a:solidFill>
                <a:latin typeface="Arial"/>
                <a:ea typeface="Arial"/>
                <a:cs typeface="Arial"/>
              </a:defRPr>
            </a:pPr>
            <a:r>
              <a:rPr sz="1500" b="1">
                <a:solidFill>
                  <a:srgbClr val="4D858A"/>
                </a:solidFill>
                <a:latin typeface="Arial"/>
                <a:ea typeface="Arial"/>
                <a:cs typeface="Arial"/>
              </a:rPr>
              <a:t>MEDISYNC</a:t>
            </a:r>
          </a:p>
        </p:txBody>
      </p:sp>
      <p:sp>
        <p:nvSpPr>
          <p:cNvPr id="2" name="">
            <a:extLst xmlns:a="http://schemas.openxmlformats.org/drawingml/2006/main">
              <a:ext uri="{FF2B5EF4-FFF2-40B4-BE49-F238E27FC236}">
                <a16:creationId xmlns:a16="http://schemas.microsoft.com/office/drawing/2014/main" id="{64C73C24-AACF-4C77-BE3D-E7A33E18DE52}"/>
              </a:ext>
            </a:extLst>
          </p:cNvPr>
          <p:cNvSpPr>
            <a:spLocks xmlns:a="http://schemas.openxmlformats.org/drawingml/2006/main" noGrp="1"/>
          </p:cNvSpPr>
          <p:nvPr/>
        </p:nvSpPr>
        <p:spPr>
          <a:xfrm xmlns:a="http://schemas.openxmlformats.org/drawingml/2006/main">
            <a:off x="742950" y="1752600"/>
            <a:ext cx="47625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4950" b="1">
                <a:solidFill>
                  <a:srgbClr val="28353A"/>
                </a:solidFill>
                <a:latin typeface="Arial"/>
                <a:ea typeface="Arial"/>
                <a:cs typeface="Arial"/>
              </a:defRPr>
            </a:pPr>
            <a:r>
              <a:rPr sz="4950" b="1">
                <a:solidFill>
                  <a:srgbClr val="28353A"/>
                </a:solidFill>
                <a:latin typeface="Arial"/>
                <a:ea typeface="Arial"/>
                <a:cs typeface="Arial"/>
              </a:rPr>
              <a:t>Medication</a:t>
            </a:r>
          </a:p>
          <a:p xmlns:a="http://schemas.openxmlformats.org/drawingml/2006/main">
            <a:pPr algn="l">
              <a:buNone/>
              <a:defRPr sz="4950" b="1">
                <a:solidFill>
                  <a:srgbClr val="28353A"/>
                </a:solidFill>
                <a:latin typeface="Arial"/>
                <a:ea typeface="Arial"/>
                <a:cs typeface="Arial"/>
              </a:defRPr>
            </a:pPr>
            <a:r>
              <a:rPr sz="4950" b="1">
                <a:solidFill>
                  <a:srgbClr val="28353A"/>
                </a:solidFill>
                <a:latin typeface="Arial"/>
                <a:ea typeface="Arial"/>
                <a:cs typeface="Arial"/>
              </a:rPr>
              <a:t>reminders and</a:t>
            </a:r>
          </a:p>
          <a:p xmlns:a="http://schemas.openxmlformats.org/drawingml/2006/main">
            <a:pPr algn="l">
              <a:buNone/>
              <a:defRPr sz="4950" b="1">
                <a:solidFill>
                  <a:srgbClr val="28353A"/>
                </a:solidFill>
                <a:latin typeface="Arial"/>
                <a:ea typeface="Arial"/>
                <a:cs typeface="Arial"/>
              </a:defRPr>
            </a:pPr>
            <a:r>
              <a:rPr sz="4950" b="1">
                <a:solidFill>
                  <a:srgbClr val="28353A"/>
                </a:solidFill>
                <a:latin typeface="Arial"/>
                <a:ea typeface="Arial"/>
                <a:cs typeface="Arial"/>
              </a:rPr>
              <a:t>tracking</a:t>
            </a:r>
          </a:p>
        </p:txBody>
      </p:sp>
      <p:sp>
        <p:nvSpPr>
          <p:cNvPr id="3" name="">
            <a:extLst xmlns:a="http://schemas.openxmlformats.org/drawingml/2006/main">
              <a:ext uri="{FF2B5EF4-FFF2-40B4-BE49-F238E27FC236}">
                <a16:creationId xmlns:a16="http://schemas.microsoft.com/office/drawing/2014/main" id="{F625CB5F-E959-46AC-971E-DCE4960861D3}"/>
              </a:ext>
            </a:extLst>
          </p:cNvPr>
          <p:cNvSpPr>
            <a:spLocks xmlns:a="http://schemas.openxmlformats.org/drawingml/2006/main" noGrp="1"/>
          </p:cNvSpPr>
          <p:nvPr/>
        </p:nvSpPr>
        <p:spPr>
          <a:xfrm xmlns:a="http://schemas.openxmlformats.org/drawingml/2006/main">
            <a:off x="781050" y="4486275"/>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50" b="0">
                <a:solidFill>
                  <a:srgbClr val="68787A"/>
                </a:solidFill>
                <a:latin typeface="Arial"/>
                <a:ea typeface="Arial"/>
                <a:cs typeface="Arial"/>
              </a:defRPr>
            </a:pPr>
            <a:r>
              <a:rPr sz="1950" b="0">
                <a:solidFill>
                  <a:srgbClr val="68787A"/>
                </a:solidFill>
                <a:latin typeface="Arial"/>
                <a:ea typeface="Arial"/>
                <a:cs typeface="Arial"/>
              </a:rPr>
              <a:t>Two device concepts for remembering doses and recording medication-related changes.</a:t>
            </a:r>
          </a:p>
        </p:txBody>
      </p:sp>
      <p:sp>
        <p:nvSpPr>
          <p:cNvPr id="4" name="">
            <a:extLst xmlns:a="http://schemas.openxmlformats.org/drawingml/2006/main">
              <a:ext uri="{FF2B5EF4-FFF2-40B4-BE49-F238E27FC236}">
                <a16:creationId xmlns:a16="http://schemas.microsoft.com/office/drawing/2014/main" id="{59CEAF7E-45F3-48B6-9E14-A38F04E7E696}"/>
              </a:ext>
            </a:extLst>
          </p:cNvPr>
          <p:cNvSpPr>
            <a:spLocks xmlns:a="http://schemas.openxmlformats.org/drawingml/2006/main" noGrp="1"/>
          </p:cNvSpPr>
          <p:nvPr/>
        </p:nvSpPr>
        <p:spPr>
          <a:xfrm xmlns:a="http://schemas.openxmlformats.org/drawingml/2006/main">
            <a:off x="781050" y="57150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00" b="1">
                <a:solidFill>
                  <a:srgbClr val="C87854"/>
                </a:solidFill>
                <a:latin typeface="Arial"/>
                <a:ea typeface="Arial"/>
                <a:cs typeface="Arial"/>
              </a:defRPr>
            </a:pPr>
            <a:r>
              <a:rPr sz="1500" b="1">
                <a:solidFill>
                  <a:srgbClr val="C87854"/>
                </a:solidFill>
                <a:latin typeface="Arial"/>
                <a:ea typeface="Arial"/>
                <a:cs typeface="Arial"/>
              </a:rPr>
              <a:t>A sensed change is not proof that a dose was swallowed.</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212ce981c314edd"/>
          <a:stretch xmlns:a="http://schemas.openxmlformats.org/drawingml/2006/main"/>
        </p:blipFill>
        <p:spPr>
          <a:xfrm xmlns:a="http://schemas.openxmlformats.org/drawingml/2006/main">
            <a:off x="5657850" y="1572816"/>
            <a:ext cx="5905500" cy="332184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5A16D9D-84AD-4D9F-9390-C4B103E81BA2}"/>
              </a:ext>
            </a:extLst>
          </p:cNvPr>
          <p:cNvSpPr>
            <a:spLocks xmlns:a="http://schemas.openxmlformats.org/drawingml/2006/main" noGrp="1"/>
          </p:cNvSpPr>
          <p:nvPr/>
        </p:nvSpPr>
        <p:spPr>
          <a:xfrm xmlns:a="http://schemas.openxmlformats.org/drawingml/2006/main">
            <a:off x="7324725" y="553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425" b="0">
                <a:solidFill>
                  <a:srgbClr val="68787A"/>
                </a:solidFill>
                <a:latin typeface="Arial"/>
                <a:ea typeface="Arial"/>
                <a:cs typeface="Arial"/>
              </a:defRPr>
            </a:pPr>
            <a:r>
              <a:rPr sz="1425" b="0">
                <a:solidFill>
                  <a:srgbClr val="68787A"/>
                </a:solidFill>
                <a:latin typeface="Arial"/>
                <a:ea typeface="Arial"/>
                <a:cs typeface="Arial"/>
              </a:rPr>
              <a:t>Home / desk concept render</a:t>
            </a:r>
          </a:p>
        </p:txBody>
      </p:sp>
    </p:spTree>
    <p:extLst>
      <p:ext uri="{BB962C8B-B14F-4D97-AF65-F5344CB8AC3E}">
        <p14:creationId xmlns:p14="http://schemas.microsoft.com/office/powerpoint/2010/main" val="1986135045"/>
      </p:ext>
    </p:extLst>
  </p:cSld>
</p:sld>
</file>

<file path=ppt/slides/slide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08A9204-6D1D-47A7-AF8C-FDDBEEE3AB79}"/>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Medication routines can be hard to track</a:t>
            </a:r>
          </a:p>
        </p:txBody>
      </p:sp>
      <p:sp>
        <p:nvSpPr>
          <p:cNvPr id="2" name="">
            <a:extLst xmlns:a="http://schemas.openxmlformats.org/drawingml/2006/main">
              <a:ext uri="{FF2B5EF4-FFF2-40B4-BE49-F238E27FC236}">
                <a16:creationId xmlns:a16="http://schemas.microsoft.com/office/drawing/2014/main" id="{A2DF5BDC-0E74-49D1-98CC-89A1FCFBAF1A}"/>
              </a:ext>
            </a:extLst>
          </p:cNvPr>
          <p:cNvSpPr>
            <a:spLocks xmlns:a="http://schemas.openxmlformats.org/drawingml/2006/main" noGrp="1"/>
          </p:cNvSpPr>
          <p:nvPr/>
        </p:nvSpPr>
        <p:spPr>
          <a:xfrm xmlns:a="http://schemas.openxmlformats.org/drawingml/2006/main">
            <a:off x="781050" y="16668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1">
                <a:solidFill>
                  <a:srgbClr val="C87854"/>
                </a:solidFill>
                <a:latin typeface="Arial"/>
                <a:ea typeface="Arial"/>
                <a:cs typeface="Arial"/>
              </a:defRPr>
            </a:pPr>
            <a:r>
              <a:rPr sz="1875" b="1">
                <a:solidFill>
                  <a:srgbClr val="C87854"/>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31674BDB-9A97-40BB-9293-E2AAA816B09F}"/>
              </a:ext>
            </a:extLst>
          </p:cNvPr>
          <p:cNvSpPr>
            <a:spLocks xmlns:a="http://schemas.openxmlformats.org/drawingml/2006/main" noGrp="1"/>
          </p:cNvSpPr>
          <p:nvPr/>
        </p:nvSpPr>
        <p:spPr>
          <a:xfrm xmlns:a="http://schemas.openxmlformats.org/drawingml/2006/main">
            <a:off x="1562100" y="16668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175" b="1">
                <a:solidFill>
                  <a:srgbClr val="28353A"/>
                </a:solidFill>
                <a:latin typeface="Arial"/>
                <a:ea typeface="Arial"/>
                <a:cs typeface="Arial"/>
              </a:defRPr>
            </a:pPr>
            <a:r>
              <a:rPr sz="2175" b="1">
                <a:solidFill>
                  <a:srgbClr val="28353A"/>
                </a:solidFill>
                <a:latin typeface="Arial"/>
                <a:ea typeface="Arial"/>
                <a:cs typeface="Arial"/>
              </a:rPr>
              <a:t>Different schedules</a:t>
            </a:r>
          </a:p>
        </p:txBody>
      </p:sp>
      <p:sp>
        <p:nvSpPr>
          <p:cNvPr id="4" name="">
            <a:extLst xmlns:a="http://schemas.openxmlformats.org/drawingml/2006/main">
              <a:ext uri="{FF2B5EF4-FFF2-40B4-BE49-F238E27FC236}">
                <a16:creationId xmlns:a16="http://schemas.microsoft.com/office/drawing/2014/main" id="{B30DE127-A28F-408A-B439-09CF2CB41682}"/>
              </a:ext>
            </a:extLst>
          </p:cNvPr>
          <p:cNvSpPr>
            <a:spLocks xmlns:a="http://schemas.openxmlformats.org/drawingml/2006/main" noGrp="1"/>
          </p:cNvSpPr>
          <p:nvPr/>
        </p:nvSpPr>
        <p:spPr>
          <a:xfrm xmlns:a="http://schemas.openxmlformats.org/drawingml/2006/main">
            <a:off x="4972050" y="1666875"/>
            <a:ext cx="624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0">
                <a:solidFill>
                  <a:srgbClr val="68787A"/>
                </a:solidFill>
                <a:latin typeface="Arial"/>
                <a:ea typeface="Arial"/>
                <a:cs typeface="Arial"/>
              </a:defRPr>
            </a:pPr>
            <a:r>
              <a:rPr sz="1875" b="0">
                <a:solidFill>
                  <a:srgbClr val="68787A"/>
                </a:solidFill>
                <a:latin typeface="Arial"/>
                <a:ea typeface="Arial"/>
                <a:cs typeface="Arial"/>
              </a:rPr>
              <a:t>Several medicines can have different times and routines.</a:t>
            </a:r>
          </a:p>
        </p:txBody>
      </p:sp>
      <p:sp>
        <p:nvSpPr>
          <p:cNvPr id="5" name="">
            <a:extLst xmlns:a="http://schemas.openxmlformats.org/drawingml/2006/main">
              <a:ext uri="{FF2B5EF4-FFF2-40B4-BE49-F238E27FC236}">
                <a16:creationId xmlns:a16="http://schemas.microsoft.com/office/drawing/2014/main" id="{C3010B3A-D667-4F2B-9BE2-7D7D693354AA}"/>
              </a:ext>
            </a:extLst>
          </p:cNvPr>
          <p:cNvSpPr>
            <a:spLocks xmlns:a="http://schemas.openxmlformats.org/drawingml/2006/main" noGrp="1"/>
          </p:cNvSpPr>
          <p:nvPr/>
        </p:nvSpPr>
        <p:spPr>
          <a:xfrm xmlns:a="http://schemas.openxmlformats.org/drawingml/2006/main">
            <a:off x="1562100" y="2428875"/>
            <a:ext cx="96202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E8AC910-0BFF-4076-838D-BE9F391D2A72}"/>
              </a:ext>
            </a:extLst>
          </p:cNvPr>
          <p:cNvSpPr>
            <a:spLocks xmlns:a="http://schemas.openxmlformats.org/drawingml/2006/main" noGrp="1"/>
          </p:cNvSpPr>
          <p:nvPr/>
        </p:nvSpPr>
        <p:spPr>
          <a:xfrm xmlns:a="http://schemas.openxmlformats.org/drawingml/2006/main">
            <a:off x="781050" y="30480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1">
                <a:solidFill>
                  <a:srgbClr val="C87854"/>
                </a:solidFill>
                <a:latin typeface="Arial"/>
                <a:ea typeface="Arial"/>
                <a:cs typeface="Arial"/>
              </a:defRPr>
            </a:pPr>
            <a:r>
              <a:rPr sz="1875" b="1">
                <a:solidFill>
                  <a:srgbClr val="C87854"/>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4742F639-9375-4A5B-975F-F54B36377BEF}"/>
              </a:ext>
            </a:extLst>
          </p:cNvPr>
          <p:cNvSpPr>
            <a:spLocks xmlns:a="http://schemas.openxmlformats.org/drawingml/2006/main" noGrp="1"/>
          </p:cNvSpPr>
          <p:nvPr/>
        </p:nvSpPr>
        <p:spPr>
          <a:xfrm xmlns:a="http://schemas.openxmlformats.org/drawingml/2006/main">
            <a:off x="1562100" y="304800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175" b="1">
                <a:solidFill>
                  <a:srgbClr val="28353A"/>
                </a:solidFill>
                <a:latin typeface="Arial"/>
                <a:ea typeface="Arial"/>
                <a:cs typeface="Arial"/>
              </a:defRPr>
            </a:pPr>
            <a:r>
              <a:rPr sz="2175" b="1">
                <a:solidFill>
                  <a:srgbClr val="28353A"/>
                </a:solidFill>
                <a:latin typeface="Arial"/>
                <a:ea typeface="Arial"/>
                <a:cs typeface="Arial"/>
              </a:rPr>
              <a:t>Different packages</a:t>
            </a:r>
          </a:p>
        </p:txBody>
      </p:sp>
      <p:sp>
        <p:nvSpPr>
          <p:cNvPr id="8" name="">
            <a:extLst xmlns:a="http://schemas.openxmlformats.org/drawingml/2006/main">
              <a:ext uri="{FF2B5EF4-FFF2-40B4-BE49-F238E27FC236}">
                <a16:creationId xmlns:a16="http://schemas.microsoft.com/office/drawing/2014/main" id="{23EE44C4-1898-42FB-9DB0-A076F2005356}"/>
              </a:ext>
            </a:extLst>
          </p:cNvPr>
          <p:cNvSpPr>
            <a:spLocks xmlns:a="http://schemas.openxmlformats.org/drawingml/2006/main" noGrp="1"/>
          </p:cNvSpPr>
          <p:nvPr/>
        </p:nvSpPr>
        <p:spPr>
          <a:xfrm xmlns:a="http://schemas.openxmlformats.org/drawingml/2006/main">
            <a:off x="4972050" y="3048000"/>
            <a:ext cx="624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0">
                <a:solidFill>
                  <a:srgbClr val="68787A"/>
                </a:solidFill>
                <a:latin typeface="Arial"/>
                <a:ea typeface="Arial"/>
                <a:cs typeface="Arial"/>
              </a:defRPr>
            </a:pPr>
            <a:r>
              <a:rPr sz="1875" b="0">
                <a:solidFill>
                  <a:srgbClr val="68787A"/>
                </a:solidFill>
                <a:latin typeface="Arial"/>
                <a:ea typeface="Arial"/>
                <a:cs typeface="Arial"/>
              </a:rPr>
              <a:t>Bottles, liquids and blister packs do not behave the same way.</a:t>
            </a:r>
          </a:p>
        </p:txBody>
      </p:sp>
      <p:sp>
        <p:nvSpPr>
          <p:cNvPr id="9" name="">
            <a:extLst xmlns:a="http://schemas.openxmlformats.org/drawingml/2006/main">
              <a:ext uri="{FF2B5EF4-FFF2-40B4-BE49-F238E27FC236}">
                <a16:creationId xmlns:a16="http://schemas.microsoft.com/office/drawing/2014/main" id="{65A65DBB-A397-479C-B778-0893B693775D}"/>
              </a:ext>
            </a:extLst>
          </p:cNvPr>
          <p:cNvSpPr>
            <a:spLocks xmlns:a="http://schemas.openxmlformats.org/drawingml/2006/main" noGrp="1"/>
          </p:cNvSpPr>
          <p:nvPr/>
        </p:nvSpPr>
        <p:spPr>
          <a:xfrm xmlns:a="http://schemas.openxmlformats.org/drawingml/2006/main">
            <a:off x="1562100" y="3810000"/>
            <a:ext cx="96202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B83F42F-5CF2-49E6-8D00-DC8351F24703}"/>
              </a:ext>
            </a:extLst>
          </p:cNvPr>
          <p:cNvSpPr>
            <a:spLocks xmlns:a="http://schemas.openxmlformats.org/drawingml/2006/main" noGrp="1"/>
          </p:cNvSpPr>
          <p:nvPr/>
        </p:nvSpPr>
        <p:spPr>
          <a:xfrm xmlns:a="http://schemas.openxmlformats.org/drawingml/2006/main">
            <a:off x="781050" y="44291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1">
                <a:solidFill>
                  <a:srgbClr val="C87854"/>
                </a:solidFill>
                <a:latin typeface="Arial"/>
                <a:ea typeface="Arial"/>
                <a:cs typeface="Arial"/>
              </a:defRPr>
            </a:pPr>
            <a:r>
              <a:rPr sz="1875" b="1">
                <a:solidFill>
                  <a:srgbClr val="C87854"/>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B66E16D6-8350-4F31-8F82-195F2B94FB34}"/>
              </a:ext>
            </a:extLst>
          </p:cNvPr>
          <p:cNvSpPr>
            <a:spLocks xmlns:a="http://schemas.openxmlformats.org/drawingml/2006/main" noGrp="1"/>
          </p:cNvSpPr>
          <p:nvPr/>
        </p:nvSpPr>
        <p:spPr>
          <a:xfrm xmlns:a="http://schemas.openxmlformats.org/drawingml/2006/main">
            <a:off x="1562100" y="44291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175" b="1">
                <a:solidFill>
                  <a:srgbClr val="28353A"/>
                </a:solidFill>
                <a:latin typeface="Arial"/>
                <a:ea typeface="Arial"/>
                <a:cs typeface="Arial"/>
              </a:defRPr>
            </a:pPr>
            <a:r>
              <a:rPr sz="2175" b="1">
                <a:solidFill>
                  <a:srgbClr val="28353A"/>
                </a:solidFill>
                <a:latin typeface="Arial"/>
                <a:ea typeface="Arial"/>
                <a:cs typeface="Arial"/>
              </a:rPr>
              <a:t>A reminder is not a dose</a:t>
            </a:r>
          </a:p>
        </p:txBody>
      </p:sp>
      <p:sp>
        <p:nvSpPr>
          <p:cNvPr id="12" name="">
            <a:extLst xmlns:a="http://schemas.openxmlformats.org/drawingml/2006/main">
              <a:ext uri="{FF2B5EF4-FFF2-40B4-BE49-F238E27FC236}">
                <a16:creationId xmlns:a16="http://schemas.microsoft.com/office/drawing/2014/main" id="{8ACE48C5-B3E9-480A-BA26-E18AADFE171B}"/>
              </a:ext>
            </a:extLst>
          </p:cNvPr>
          <p:cNvSpPr>
            <a:spLocks xmlns:a="http://schemas.openxmlformats.org/drawingml/2006/main" noGrp="1"/>
          </p:cNvSpPr>
          <p:nvPr/>
        </p:nvSpPr>
        <p:spPr>
          <a:xfrm xmlns:a="http://schemas.openxmlformats.org/drawingml/2006/main">
            <a:off x="4972050" y="4429125"/>
            <a:ext cx="624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0">
                <a:solidFill>
                  <a:srgbClr val="68787A"/>
                </a:solidFill>
                <a:latin typeface="Arial"/>
                <a:ea typeface="Arial"/>
                <a:cs typeface="Arial"/>
              </a:defRPr>
            </a:pPr>
            <a:r>
              <a:rPr sz="1875" b="0">
                <a:solidFill>
                  <a:srgbClr val="68787A"/>
                </a:solidFill>
                <a:latin typeface="Arial"/>
                <a:ea typeface="Arial"/>
                <a:cs typeface="Arial"/>
              </a:rPr>
              <a:t>Someone may pick up a package, get interrupted and put it back.</a:t>
            </a:r>
          </a:p>
        </p:txBody>
      </p:sp>
      <p:sp>
        <p:nvSpPr>
          <p:cNvPr id="13" name="">
            <a:extLst xmlns:a="http://schemas.openxmlformats.org/drawingml/2006/main">
              <a:ext uri="{FF2B5EF4-FFF2-40B4-BE49-F238E27FC236}">
                <a16:creationId xmlns:a16="http://schemas.microsoft.com/office/drawing/2014/main" id="{84FDFCAE-BF90-45FE-826F-B186925EC227}"/>
              </a:ext>
            </a:extLst>
          </p:cNvPr>
          <p:cNvSpPr>
            <a:spLocks xmlns:a="http://schemas.openxmlformats.org/drawingml/2006/main" noGrp="1"/>
          </p:cNvSpPr>
          <p:nvPr/>
        </p:nvSpPr>
        <p:spPr>
          <a:xfrm xmlns:a="http://schemas.openxmlformats.org/drawingml/2006/main">
            <a:off x="1562100" y="5191125"/>
            <a:ext cx="96202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ED44168-2F64-44F3-A6EC-9EBC6A816B44}"/>
              </a:ext>
            </a:extLst>
          </p:cNvPr>
          <p:cNvSpPr>
            <a:spLocks xmlns:a="http://schemas.openxmlformats.org/drawingml/2006/main" noGrp="1"/>
          </p:cNvSpPr>
          <p:nvPr/>
        </p:nvSpPr>
        <p:spPr>
          <a:xfrm xmlns:a="http://schemas.openxmlformats.org/drawingml/2006/main">
            <a:off x="1562100" y="590550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00" b="1">
                <a:solidFill>
                  <a:srgbClr val="4D858A"/>
                </a:solidFill>
                <a:latin typeface="Arial"/>
                <a:ea typeface="Arial"/>
                <a:cs typeface="Arial"/>
              </a:defRPr>
            </a:pPr>
            <a:r>
              <a:rPr sz="1800" b="1">
                <a:solidFill>
                  <a:srgbClr val="4D858A"/>
                </a:solidFill>
                <a:latin typeface="Arial"/>
                <a:ea typeface="Arial"/>
                <a:cs typeface="Arial"/>
              </a:rPr>
              <a:t>MediSync focuses on the medication event around a reminder.</a:t>
            </a:r>
          </a:p>
        </p:txBody>
      </p:sp>
    </p:spTree>
    <p:extLst>
      <p:ext uri="{BB962C8B-B14F-4D97-AF65-F5344CB8AC3E}">
        <p14:creationId xmlns:p14="http://schemas.microsoft.com/office/powerpoint/2010/main" val="1408590304"/>
      </p:ext>
    </p:extLst>
  </p:cSld>
</p:sld>
</file>

<file path=ppt/slides/slide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7E2DCD-6A7F-4D95-A953-951A751D5DC6}"/>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Two versions for different settings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1edc066d7b746b9"/>
          <a:stretch xmlns:a="http://schemas.openxmlformats.org/drawingml/2006/main"/>
        </p:blipFill>
        <p:spPr>
          <a:xfrm xmlns:a="http://schemas.openxmlformats.org/drawingml/2006/main">
            <a:off x="868892" y="1381125"/>
            <a:ext cx="5520267" cy="310515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6a3bec43ab8403f"/>
          <a:stretch xmlns:a="http://schemas.openxmlformats.org/drawingml/2006/main"/>
        </p:blipFill>
        <p:spPr>
          <a:xfrm xmlns:a="http://schemas.openxmlformats.org/drawingml/2006/main">
            <a:off x="7955384" y="1333500"/>
            <a:ext cx="2339132" cy="3543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DBBA69A-CEAD-49CF-9B52-1655A68403EE}"/>
              </a:ext>
            </a:extLst>
          </p:cNvPr>
          <p:cNvSpPr>
            <a:spLocks xmlns:a="http://schemas.openxmlformats.org/drawingml/2006/main" noGrp="1"/>
          </p:cNvSpPr>
          <p:nvPr/>
        </p:nvSpPr>
        <p:spPr>
          <a:xfrm xmlns:a="http://schemas.openxmlformats.org/drawingml/2006/main">
            <a:off x="819150" y="46958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250" b="1">
                <a:solidFill>
                  <a:srgbClr val="28353A"/>
                </a:solidFill>
                <a:latin typeface="Arial"/>
                <a:ea typeface="Arial"/>
                <a:cs typeface="Arial"/>
              </a:defRPr>
            </a:pPr>
            <a:r>
              <a:rPr sz="2250" b="1">
                <a:solidFill>
                  <a:srgbClr val="28353A"/>
                </a:solidFill>
                <a:latin typeface="Arial"/>
                <a:ea typeface="Arial"/>
                <a:cs typeface="Arial"/>
              </a:rPr>
              <a:t>Home / desk</a:t>
            </a:r>
          </a:p>
        </p:txBody>
      </p:sp>
      <p:sp>
        <p:nvSpPr>
          <p:cNvPr id="5" name="">
            <a:extLst xmlns:a="http://schemas.openxmlformats.org/drawingml/2006/main">
              <a:ext uri="{FF2B5EF4-FFF2-40B4-BE49-F238E27FC236}">
                <a16:creationId xmlns:a16="http://schemas.microsoft.com/office/drawing/2014/main" id="{7648230F-1A12-4BC5-9854-26206A31990D}"/>
              </a:ext>
            </a:extLst>
          </p:cNvPr>
          <p:cNvSpPr>
            <a:spLocks xmlns:a="http://schemas.openxmlformats.org/drawingml/2006/main" noGrp="1"/>
          </p:cNvSpPr>
          <p:nvPr/>
        </p:nvSpPr>
        <p:spPr>
          <a:xfrm xmlns:a="http://schemas.openxmlformats.org/drawingml/2006/main">
            <a:off x="819150" y="5133975"/>
            <a:ext cx="542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725" b="0">
                <a:solidFill>
                  <a:srgbClr val="68787A"/>
                </a:solidFill>
                <a:latin typeface="Arial"/>
                <a:ea typeface="Arial"/>
                <a:cs typeface="Arial"/>
              </a:defRPr>
            </a:pPr>
            <a:r>
              <a:rPr sz="1725" b="0">
                <a:solidFill>
                  <a:srgbClr val="68787A"/>
                </a:solidFill>
                <a:latin typeface="Arial"/>
                <a:ea typeface="Arial"/>
                <a:cs typeface="Arial"/>
              </a:rPr>
              <a:t>12 positions: 3 pill or container, 3 liquid, 6 blister.</a:t>
            </a:r>
          </a:p>
        </p:txBody>
      </p:sp>
      <p:sp>
        <p:nvSpPr>
          <p:cNvPr id="6" name="">
            <a:extLst xmlns:a="http://schemas.openxmlformats.org/drawingml/2006/main">
              <a:ext uri="{FF2B5EF4-FFF2-40B4-BE49-F238E27FC236}">
                <a16:creationId xmlns:a16="http://schemas.microsoft.com/office/drawing/2014/main" id="{7760272E-90F2-4B72-AEC7-9505BE3B8B86}"/>
              </a:ext>
            </a:extLst>
          </p:cNvPr>
          <p:cNvSpPr>
            <a:spLocks xmlns:a="http://schemas.openxmlformats.org/drawingml/2006/main" noGrp="1"/>
          </p:cNvSpPr>
          <p:nvPr/>
        </p:nvSpPr>
        <p:spPr>
          <a:xfrm xmlns:a="http://schemas.openxmlformats.org/drawingml/2006/main">
            <a:off x="819150" y="5934075"/>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68787A"/>
                </a:solidFill>
                <a:latin typeface="Arial"/>
                <a:ea typeface="Arial"/>
                <a:cs typeface="Arial"/>
              </a:defRPr>
            </a:pPr>
            <a:r>
              <a:rPr sz="1350" b="0">
                <a:solidFill>
                  <a:srgbClr val="68787A"/>
                </a:solidFill>
                <a:latin typeface="Arial"/>
                <a:ea typeface="Arial"/>
                <a:cs typeface="Arial"/>
              </a:rPr>
              <a:t>Front concept render</a:t>
            </a:r>
          </a:p>
        </p:txBody>
      </p:sp>
      <p:sp>
        <p:nvSpPr>
          <p:cNvPr id="7" name="">
            <a:extLst xmlns:a="http://schemas.openxmlformats.org/drawingml/2006/main">
              <a:ext uri="{FF2B5EF4-FFF2-40B4-BE49-F238E27FC236}">
                <a16:creationId xmlns:a16="http://schemas.microsoft.com/office/drawing/2014/main" id="{0CDE58DB-5B75-448B-B3D0-8EDC87EA7163}"/>
              </a:ext>
            </a:extLst>
          </p:cNvPr>
          <p:cNvSpPr>
            <a:spLocks xmlns:a="http://schemas.openxmlformats.org/drawingml/2006/main" noGrp="1"/>
          </p:cNvSpPr>
          <p:nvPr/>
        </p:nvSpPr>
        <p:spPr>
          <a:xfrm xmlns:a="http://schemas.openxmlformats.org/drawingml/2006/main">
            <a:off x="7105650" y="501015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50" b="1">
                <a:solidFill>
                  <a:srgbClr val="28353A"/>
                </a:solidFill>
                <a:latin typeface="Arial"/>
                <a:ea typeface="Arial"/>
                <a:cs typeface="Arial"/>
              </a:defRPr>
            </a:pPr>
            <a:r>
              <a:rPr sz="2250" b="1">
                <a:solidFill>
                  <a:srgbClr val="28353A"/>
                </a:solidFill>
                <a:latin typeface="Arial"/>
                <a:ea typeface="Arial"/>
                <a:cs typeface="Arial"/>
              </a:rPr>
              <a:t>Portable</a:t>
            </a:r>
          </a:p>
        </p:txBody>
      </p:sp>
      <p:sp>
        <p:nvSpPr>
          <p:cNvPr id="8" name="">
            <a:extLst xmlns:a="http://schemas.openxmlformats.org/drawingml/2006/main">
              <a:ext uri="{FF2B5EF4-FFF2-40B4-BE49-F238E27FC236}">
                <a16:creationId xmlns:a16="http://schemas.microsoft.com/office/drawing/2014/main" id="{5923FE6D-F5F7-4BAE-A1A1-8BA4609AB9EE}"/>
              </a:ext>
            </a:extLst>
          </p:cNvPr>
          <p:cNvSpPr>
            <a:spLocks xmlns:a="http://schemas.openxmlformats.org/drawingml/2006/main" noGrp="1"/>
          </p:cNvSpPr>
          <p:nvPr/>
        </p:nvSpPr>
        <p:spPr>
          <a:xfrm xmlns:a="http://schemas.openxmlformats.org/drawingml/2006/main">
            <a:off x="7105650" y="5419725"/>
            <a:ext cx="4095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725" b="0">
                <a:solidFill>
                  <a:srgbClr val="68787A"/>
                </a:solidFill>
                <a:latin typeface="Arial"/>
                <a:ea typeface="Arial"/>
                <a:cs typeface="Arial"/>
              </a:defRPr>
            </a:pPr>
            <a:r>
              <a:rPr sz="1725" b="0">
                <a:solidFill>
                  <a:srgbClr val="68787A"/>
                </a:solidFill>
                <a:latin typeface="Arial"/>
                <a:ea typeface="Arial"/>
                <a:cs typeface="Arial"/>
              </a:rPr>
              <a:t>6 compartments for personal use or travel.</a:t>
            </a:r>
          </a:p>
        </p:txBody>
      </p:sp>
      <p:sp>
        <p:nvSpPr>
          <p:cNvPr id="9" name="">
            <a:extLst xmlns:a="http://schemas.openxmlformats.org/drawingml/2006/main">
              <a:ext uri="{FF2B5EF4-FFF2-40B4-BE49-F238E27FC236}">
                <a16:creationId xmlns:a16="http://schemas.microsoft.com/office/drawing/2014/main" id="{2DD70F5A-7192-405B-94E5-DB6CF9B418AA}"/>
              </a:ext>
            </a:extLst>
          </p:cNvPr>
          <p:cNvSpPr>
            <a:spLocks xmlns:a="http://schemas.openxmlformats.org/drawingml/2006/main" noGrp="1"/>
          </p:cNvSpPr>
          <p:nvPr/>
        </p:nvSpPr>
        <p:spPr>
          <a:xfrm xmlns:a="http://schemas.openxmlformats.org/drawingml/2006/main">
            <a:off x="7105650" y="59817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350" b="0">
                <a:solidFill>
                  <a:srgbClr val="68787A"/>
                </a:solidFill>
                <a:latin typeface="Arial"/>
                <a:ea typeface="Arial"/>
                <a:cs typeface="Arial"/>
              </a:defRPr>
            </a:pPr>
            <a:r>
              <a:rPr sz="1350" b="0">
                <a:solidFill>
                  <a:srgbClr val="68787A"/>
                </a:solidFill>
                <a:latin typeface="Arial"/>
                <a:ea typeface="Arial"/>
                <a:cs typeface="Arial"/>
              </a:rPr>
              <a:t>Open case concept render</a:t>
            </a:r>
          </a:p>
        </p:txBody>
      </p:sp>
    </p:spTree>
    <p:extLst>
      <p:ext uri="{BB962C8B-B14F-4D97-AF65-F5344CB8AC3E}">
        <p14:creationId xmlns:p14="http://schemas.microsoft.com/office/powerpoint/2010/main" val="256062805"/>
      </p:ext>
    </p:extLst>
  </p:cSld>
</p:sld>
</file>

<file path=ppt/slides/slide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B1696BA-7754-4C6E-BF89-57098FD5A1C1}"/>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How the system is meant to work</a:t>
            </a:r>
          </a:p>
        </p:txBody>
      </p:sp>
      <p:sp>
        <p:nvSpPr>
          <p:cNvPr id="2" name="">
            <a:extLst xmlns:a="http://schemas.openxmlformats.org/drawingml/2006/main">
              <a:ext uri="{FF2B5EF4-FFF2-40B4-BE49-F238E27FC236}">
                <a16:creationId xmlns:a16="http://schemas.microsoft.com/office/drawing/2014/main" id="{822614A2-E45D-4A5E-AA9C-E085BF9EDC97}"/>
              </a:ext>
            </a:extLst>
          </p:cNvPr>
          <p:cNvSpPr>
            <a:spLocks xmlns:a="http://schemas.openxmlformats.org/drawingml/2006/main" noGrp="1"/>
          </p:cNvSpPr>
          <p:nvPr/>
        </p:nvSpPr>
        <p:spPr>
          <a:xfrm xmlns:a="http://schemas.openxmlformats.org/drawingml/2006/main">
            <a:off x="762000" y="138112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025" b="0">
                <a:solidFill>
                  <a:srgbClr val="68787A"/>
                </a:solidFill>
                <a:latin typeface="Arial"/>
                <a:ea typeface="Arial"/>
                <a:cs typeface="Arial"/>
              </a:defRPr>
            </a:pPr>
            <a:r>
              <a:rPr sz="2025" b="0">
                <a:solidFill>
                  <a:srgbClr val="68787A"/>
                </a:solidFill>
                <a:latin typeface="Arial"/>
                <a:ea typeface="Arial"/>
                <a:cs typeface="Arial"/>
              </a:rPr>
              <a:t>The device checks for a medication-related change around a scheduled dose.</a:t>
            </a:r>
          </a:p>
        </p:txBody>
      </p:sp>
      <p:sp>
        <p:nvSpPr>
          <p:cNvPr id="3" name="">
            <a:extLst xmlns:a="http://schemas.openxmlformats.org/drawingml/2006/main">
              <a:ext uri="{FF2B5EF4-FFF2-40B4-BE49-F238E27FC236}">
                <a16:creationId xmlns:a16="http://schemas.microsoft.com/office/drawing/2014/main" id="{9704BF60-8259-46F1-A5A0-E6B2DF7C6FE5}"/>
              </a:ext>
            </a:extLst>
          </p:cNvPr>
          <p:cNvSpPr>
            <a:spLocks xmlns:a="http://schemas.openxmlformats.org/drawingml/2006/main" noGrp="1"/>
          </p:cNvSpPr>
          <p:nvPr/>
        </p:nvSpPr>
        <p:spPr>
          <a:xfrm xmlns:a="http://schemas.openxmlformats.org/drawingml/2006/main">
            <a:off x="1333500" y="2857500"/>
            <a:ext cx="9525000" cy="3810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6A53ED-A868-49D1-9DAB-A99AD7F58DA1}"/>
              </a:ext>
            </a:extLst>
          </p:cNvPr>
          <p:cNvSpPr>
            <a:spLocks xmlns:a="http://schemas.openxmlformats.org/drawingml/2006/main" noGrp="1"/>
          </p:cNvSpPr>
          <p:nvPr/>
        </p:nvSpPr>
        <p:spPr>
          <a:xfrm xmlns:a="http://schemas.openxmlformats.org/drawingml/2006/main">
            <a:off x="1428750" y="2676525"/>
            <a:ext cx="361950" cy="361950"/>
          </a:xfrm>
          <a:prstGeom xmlns:a="http://schemas.openxmlformats.org/drawingml/2006/main" prst="ellipse">
            <a:avLst/>
          </a:prstGeom>
          <a:solidFill xmlns:a="http://schemas.openxmlformats.org/drawingml/2006/main">
            <a:srgbClr val="4D858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7EC05FF-60CE-403A-9137-3512934F6E88}"/>
              </a:ext>
            </a:extLst>
          </p:cNvPr>
          <p:cNvSpPr>
            <a:spLocks xmlns:a="http://schemas.openxmlformats.org/drawingml/2006/main" noGrp="1"/>
          </p:cNvSpPr>
          <p:nvPr/>
        </p:nvSpPr>
        <p:spPr>
          <a:xfrm xmlns:a="http://schemas.openxmlformats.org/drawingml/2006/main">
            <a:off x="1447800" y="2667000"/>
            <a:ext cx="32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A674EA16-4C84-432B-AFD4-D904727140EC}"/>
              </a:ext>
            </a:extLst>
          </p:cNvPr>
          <p:cNvSpPr>
            <a:spLocks xmlns:a="http://schemas.openxmlformats.org/drawingml/2006/main" noGrp="1"/>
          </p:cNvSpPr>
          <p:nvPr/>
        </p:nvSpPr>
        <p:spPr>
          <a:xfrm xmlns:a="http://schemas.openxmlformats.org/drawingml/2006/main">
            <a:off x="571500" y="33528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025" b="1">
                <a:solidFill>
                  <a:srgbClr val="28353A"/>
                </a:solidFill>
                <a:latin typeface="Arial"/>
                <a:ea typeface="Arial"/>
                <a:cs typeface="Arial"/>
              </a:defRPr>
            </a:pPr>
            <a:r>
              <a:rPr sz="2025" b="1">
                <a:solidFill>
                  <a:srgbClr val="28353A"/>
                </a:solidFill>
                <a:latin typeface="Arial"/>
                <a:ea typeface="Arial"/>
                <a:cs typeface="Arial"/>
              </a:rPr>
              <a:t>Set up</a:t>
            </a:r>
          </a:p>
        </p:txBody>
      </p:sp>
      <p:sp>
        <p:nvSpPr>
          <p:cNvPr id="7" name="">
            <a:extLst xmlns:a="http://schemas.openxmlformats.org/drawingml/2006/main">
              <a:ext uri="{FF2B5EF4-FFF2-40B4-BE49-F238E27FC236}">
                <a16:creationId xmlns:a16="http://schemas.microsoft.com/office/drawing/2014/main" id="{D540A430-213B-430C-87D4-1E384C988D2A}"/>
              </a:ext>
            </a:extLst>
          </p:cNvPr>
          <p:cNvSpPr>
            <a:spLocks xmlns:a="http://schemas.openxmlformats.org/drawingml/2006/main" noGrp="1"/>
          </p:cNvSpPr>
          <p:nvPr/>
        </p:nvSpPr>
        <p:spPr>
          <a:xfrm xmlns:a="http://schemas.openxmlformats.org/drawingml/2006/main">
            <a:off x="457200" y="3857625"/>
            <a:ext cx="2324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0">
                <a:solidFill>
                  <a:srgbClr val="68787A"/>
                </a:solidFill>
                <a:latin typeface="Arial"/>
                <a:ea typeface="Arial"/>
                <a:cs typeface="Arial"/>
              </a:defRPr>
            </a:pPr>
            <a:r>
              <a:rPr sz="1650" b="0">
                <a:solidFill>
                  <a:srgbClr val="68787A"/>
                </a:solidFill>
                <a:latin typeface="Arial"/>
                <a:ea typeface="Arial"/>
                <a:cs typeface="Arial"/>
              </a:rPr>
              <a:t>Add the medicine</a:t>
            </a:r>
          </a:p>
          <a:p xmlns:a="http://schemas.openxmlformats.org/drawingml/2006/main">
            <a:pPr algn="ctr">
              <a:buNone/>
              <a:defRPr sz="1650" b="0">
                <a:solidFill>
                  <a:srgbClr val="68787A"/>
                </a:solidFill>
                <a:latin typeface="Arial"/>
                <a:ea typeface="Arial"/>
                <a:cs typeface="Arial"/>
              </a:defRPr>
            </a:pPr>
            <a:r>
              <a:rPr sz="1650" b="0">
                <a:solidFill>
                  <a:srgbClr val="68787A"/>
                </a:solidFill>
                <a:latin typeface="Arial"/>
                <a:ea typeface="Arial"/>
                <a:cs typeface="Arial"/>
              </a:rPr>
              <a:t>and schedule</a:t>
            </a:r>
          </a:p>
        </p:txBody>
      </p:sp>
      <p:sp>
        <p:nvSpPr>
          <p:cNvPr id="8" name="">
            <a:extLst xmlns:a="http://schemas.openxmlformats.org/drawingml/2006/main">
              <a:ext uri="{FF2B5EF4-FFF2-40B4-BE49-F238E27FC236}">
                <a16:creationId xmlns:a16="http://schemas.microsoft.com/office/drawing/2014/main" id="{4730F9BA-A489-448D-8C4D-55603C2E1CB3}"/>
              </a:ext>
            </a:extLst>
          </p:cNvPr>
          <p:cNvSpPr>
            <a:spLocks xmlns:a="http://schemas.openxmlformats.org/drawingml/2006/main" noGrp="1"/>
          </p:cNvSpPr>
          <p:nvPr/>
        </p:nvSpPr>
        <p:spPr>
          <a:xfrm xmlns:a="http://schemas.openxmlformats.org/drawingml/2006/main">
            <a:off x="4381500" y="2676525"/>
            <a:ext cx="361950" cy="361950"/>
          </a:xfrm>
          <a:prstGeom xmlns:a="http://schemas.openxmlformats.org/drawingml/2006/main" prst="ellipse">
            <a:avLst/>
          </a:prstGeom>
          <a:solidFill xmlns:a="http://schemas.openxmlformats.org/drawingml/2006/main">
            <a:srgbClr val="4D858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1BA2FD5-BA11-46C9-95D7-719D57FDFA89}"/>
              </a:ext>
            </a:extLst>
          </p:cNvPr>
          <p:cNvSpPr>
            <a:spLocks xmlns:a="http://schemas.openxmlformats.org/drawingml/2006/main" noGrp="1"/>
          </p:cNvSpPr>
          <p:nvPr/>
        </p:nvSpPr>
        <p:spPr>
          <a:xfrm xmlns:a="http://schemas.openxmlformats.org/drawingml/2006/main">
            <a:off x="4400550" y="2667000"/>
            <a:ext cx="32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973FA906-4BBE-4599-A786-E9A85987E90A}"/>
              </a:ext>
            </a:extLst>
          </p:cNvPr>
          <p:cNvSpPr>
            <a:spLocks xmlns:a="http://schemas.openxmlformats.org/drawingml/2006/main" noGrp="1"/>
          </p:cNvSpPr>
          <p:nvPr/>
        </p:nvSpPr>
        <p:spPr>
          <a:xfrm xmlns:a="http://schemas.openxmlformats.org/drawingml/2006/main">
            <a:off x="3524250" y="33528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025" b="1">
                <a:solidFill>
                  <a:srgbClr val="28353A"/>
                </a:solidFill>
                <a:latin typeface="Arial"/>
                <a:ea typeface="Arial"/>
                <a:cs typeface="Arial"/>
              </a:defRPr>
            </a:pPr>
            <a:r>
              <a:rPr sz="2025" b="1">
                <a:solidFill>
                  <a:srgbClr val="28353A"/>
                </a:solidFill>
                <a:latin typeface="Arial"/>
                <a:ea typeface="Arial"/>
                <a:cs typeface="Arial"/>
              </a:rPr>
              <a:t>Remind</a:t>
            </a:r>
          </a:p>
        </p:txBody>
      </p:sp>
      <p:sp>
        <p:nvSpPr>
          <p:cNvPr id="11" name="">
            <a:extLst xmlns:a="http://schemas.openxmlformats.org/drawingml/2006/main">
              <a:ext uri="{FF2B5EF4-FFF2-40B4-BE49-F238E27FC236}">
                <a16:creationId xmlns:a16="http://schemas.microsoft.com/office/drawing/2014/main" id="{91210F9E-D1C6-454F-A768-7CC457E9AF70}"/>
              </a:ext>
            </a:extLst>
          </p:cNvPr>
          <p:cNvSpPr>
            <a:spLocks xmlns:a="http://schemas.openxmlformats.org/drawingml/2006/main" noGrp="1"/>
          </p:cNvSpPr>
          <p:nvPr/>
        </p:nvSpPr>
        <p:spPr>
          <a:xfrm xmlns:a="http://schemas.openxmlformats.org/drawingml/2006/main">
            <a:off x="3409950" y="3857625"/>
            <a:ext cx="2324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0">
                <a:solidFill>
                  <a:srgbClr val="68787A"/>
                </a:solidFill>
                <a:latin typeface="Arial"/>
                <a:ea typeface="Arial"/>
                <a:cs typeface="Arial"/>
              </a:defRPr>
            </a:pPr>
            <a:r>
              <a:rPr sz="1650" b="0">
                <a:solidFill>
                  <a:srgbClr val="68787A"/>
                </a:solidFill>
                <a:latin typeface="Arial"/>
                <a:ea typeface="Arial"/>
                <a:cs typeface="Arial"/>
              </a:rPr>
              <a:t>Light, screen and</a:t>
            </a:r>
          </a:p>
          <a:p xmlns:a="http://schemas.openxmlformats.org/drawingml/2006/main">
            <a:pPr algn="ctr">
              <a:buNone/>
              <a:defRPr sz="1650" b="0">
                <a:solidFill>
                  <a:srgbClr val="68787A"/>
                </a:solidFill>
                <a:latin typeface="Arial"/>
                <a:ea typeface="Arial"/>
                <a:cs typeface="Arial"/>
              </a:defRPr>
            </a:pPr>
            <a:r>
              <a:rPr sz="1650" b="0">
                <a:solidFill>
                  <a:srgbClr val="68787A"/>
                </a:solidFill>
                <a:latin typeface="Arial"/>
                <a:ea typeface="Arial"/>
                <a:cs typeface="Arial"/>
              </a:rPr>
              <a:t>sound</a:t>
            </a:r>
          </a:p>
        </p:txBody>
      </p:sp>
      <p:sp>
        <p:nvSpPr>
          <p:cNvPr id="12" name="">
            <a:extLst xmlns:a="http://schemas.openxmlformats.org/drawingml/2006/main">
              <a:ext uri="{FF2B5EF4-FFF2-40B4-BE49-F238E27FC236}">
                <a16:creationId xmlns:a16="http://schemas.microsoft.com/office/drawing/2014/main" id="{E4507883-5C14-4DA6-9562-4AEE7615F81D}"/>
              </a:ext>
            </a:extLst>
          </p:cNvPr>
          <p:cNvSpPr>
            <a:spLocks xmlns:a="http://schemas.openxmlformats.org/drawingml/2006/main" noGrp="1"/>
          </p:cNvSpPr>
          <p:nvPr/>
        </p:nvSpPr>
        <p:spPr>
          <a:xfrm xmlns:a="http://schemas.openxmlformats.org/drawingml/2006/main">
            <a:off x="7429500" y="2676525"/>
            <a:ext cx="361950" cy="361950"/>
          </a:xfrm>
          <a:prstGeom xmlns:a="http://schemas.openxmlformats.org/drawingml/2006/main" prst="ellipse">
            <a:avLst/>
          </a:prstGeom>
          <a:solidFill xmlns:a="http://schemas.openxmlformats.org/drawingml/2006/main">
            <a:srgbClr val="4D858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7A86C70-C964-4C1E-967E-3864AA7FE695}"/>
              </a:ext>
            </a:extLst>
          </p:cNvPr>
          <p:cNvSpPr>
            <a:spLocks xmlns:a="http://schemas.openxmlformats.org/drawingml/2006/main" noGrp="1"/>
          </p:cNvSpPr>
          <p:nvPr/>
        </p:nvSpPr>
        <p:spPr>
          <a:xfrm xmlns:a="http://schemas.openxmlformats.org/drawingml/2006/main">
            <a:off x="7448550" y="2667000"/>
            <a:ext cx="32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E77C950A-B3AB-42B8-8304-1446F1ADED95}"/>
              </a:ext>
            </a:extLst>
          </p:cNvPr>
          <p:cNvSpPr>
            <a:spLocks xmlns:a="http://schemas.openxmlformats.org/drawingml/2006/main" noGrp="1"/>
          </p:cNvSpPr>
          <p:nvPr/>
        </p:nvSpPr>
        <p:spPr>
          <a:xfrm xmlns:a="http://schemas.openxmlformats.org/drawingml/2006/main">
            <a:off x="6572250" y="33528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025" b="1">
                <a:solidFill>
                  <a:srgbClr val="28353A"/>
                </a:solidFill>
                <a:latin typeface="Arial"/>
                <a:ea typeface="Arial"/>
                <a:cs typeface="Arial"/>
              </a:defRPr>
            </a:pPr>
            <a:r>
              <a:rPr sz="2025" b="1">
                <a:solidFill>
                  <a:srgbClr val="28353A"/>
                </a:solidFill>
                <a:latin typeface="Arial"/>
                <a:ea typeface="Arial"/>
                <a:cs typeface="Arial"/>
              </a:rPr>
              <a:t>Sense</a:t>
            </a:r>
          </a:p>
        </p:txBody>
      </p:sp>
      <p:sp>
        <p:nvSpPr>
          <p:cNvPr id="15" name="">
            <a:extLst xmlns:a="http://schemas.openxmlformats.org/drawingml/2006/main">
              <a:ext uri="{FF2B5EF4-FFF2-40B4-BE49-F238E27FC236}">
                <a16:creationId xmlns:a16="http://schemas.microsoft.com/office/drawing/2014/main" id="{156275EB-F8ED-464A-8897-04BC4A429BF8}"/>
              </a:ext>
            </a:extLst>
          </p:cNvPr>
          <p:cNvSpPr>
            <a:spLocks xmlns:a="http://schemas.openxmlformats.org/drawingml/2006/main" noGrp="1"/>
          </p:cNvSpPr>
          <p:nvPr/>
        </p:nvSpPr>
        <p:spPr>
          <a:xfrm xmlns:a="http://schemas.openxmlformats.org/drawingml/2006/main">
            <a:off x="6457950" y="3857625"/>
            <a:ext cx="2324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0">
                <a:solidFill>
                  <a:srgbClr val="68787A"/>
                </a:solidFill>
                <a:latin typeface="Arial"/>
                <a:ea typeface="Arial"/>
                <a:cs typeface="Arial"/>
              </a:defRPr>
            </a:pPr>
            <a:r>
              <a:rPr sz="1650" b="0">
                <a:solidFill>
                  <a:srgbClr val="68787A"/>
                </a:solidFill>
                <a:latin typeface="Arial"/>
                <a:ea typeface="Arial"/>
                <a:cs typeface="Arial"/>
              </a:rPr>
              <a:t>Compare the package</a:t>
            </a:r>
          </a:p>
          <a:p xmlns:a="http://schemas.openxmlformats.org/drawingml/2006/main">
            <a:pPr algn="ctr">
              <a:buNone/>
              <a:defRPr sz="1650" b="0">
                <a:solidFill>
                  <a:srgbClr val="68787A"/>
                </a:solidFill>
                <a:latin typeface="Arial"/>
                <a:ea typeface="Arial"/>
                <a:cs typeface="Arial"/>
              </a:defRPr>
            </a:pPr>
            <a:r>
              <a:rPr sz="1650" b="0">
                <a:solidFill>
                  <a:srgbClr val="68787A"/>
                </a:solidFill>
                <a:latin typeface="Arial"/>
                <a:ea typeface="Arial"/>
                <a:cs typeface="Arial"/>
              </a:rPr>
              <a:t>or position state</a:t>
            </a:r>
          </a:p>
        </p:txBody>
      </p:sp>
      <p:sp>
        <p:nvSpPr>
          <p:cNvPr id="16" name="">
            <a:extLst xmlns:a="http://schemas.openxmlformats.org/drawingml/2006/main">
              <a:ext uri="{FF2B5EF4-FFF2-40B4-BE49-F238E27FC236}">
                <a16:creationId xmlns:a16="http://schemas.microsoft.com/office/drawing/2014/main" id="{05FC5BC5-6833-4258-8D96-3017FEB51779}"/>
              </a:ext>
            </a:extLst>
          </p:cNvPr>
          <p:cNvSpPr>
            <a:spLocks xmlns:a="http://schemas.openxmlformats.org/drawingml/2006/main" noGrp="1"/>
          </p:cNvSpPr>
          <p:nvPr/>
        </p:nvSpPr>
        <p:spPr>
          <a:xfrm xmlns:a="http://schemas.openxmlformats.org/drawingml/2006/main">
            <a:off x="10382250" y="2676525"/>
            <a:ext cx="361950" cy="361950"/>
          </a:xfrm>
          <a:prstGeom xmlns:a="http://schemas.openxmlformats.org/drawingml/2006/main" prst="ellipse">
            <a:avLst/>
          </a:prstGeom>
          <a:solidFill xmlns:a="http://schemas.openxmlformats.org/drawingml/2006/main">
            <a:srgbClr val="C8785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74D2701-1513-47E1-8EDD-4AD9ECE291DC}"/>
              </a:ext>
            </a:extLst>
          </p:cNvPr>
          <p:cNvSpPr>
            <a:spLocks xmlns:a="http://schemas.openxmlformats.org/drawingml/2006/main" noGrp="1"/>
          </p:cNvSpPr>
          <p:nvPr/>
        </p:nvSpPr>
        <p:spPr>
          <a:xfrm xmlns:a="http://schemas.openxmlformats.org/drawingml/2006/main">
            <a:off x="10401300" y="2667000"/>
            <a:ext cx="32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C578851B-54DD-4A6E-B334-31096040096F}"/>
              </a:ext>
            </a:extLst>
          </p:cNvPr>
          <p:cNvSpPr>
            <a:spLocks xmlns:a="http://schemas.openxmlformats.org/drawingml/2006/main" noGrp="1"/>
          </p:cNvSpPr>
          <p:nvPr/>
        </p:nvSpPr>
        <p:spPr>
          <a:xfrm xmlns:a="http://schemas.openxmlformats.org/drawingml/2006/main">
            <a:off x="9525000" y="33528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025" b="1">
                <a:solidFill>
                  <a:srgbClr val="28353A"/>
                </a:solidFill>
                <a:latin typeface="Arial"/>
                <a:ea typeface="Arial"/>
                <a:cs typeface="Arial"/>
              </a:defRPr>
            </a:pPr>
            <a:r>
              <a:rPr sz="2025" b="1">
                <a:solidFill>
                  <a:srgbClr val="28353A"/>
                </a:solidFill>
                <a:latin typeface="Arial"/>
                <a:ea typeface="Arial"/>
                <a:cs typeface="Arial"/>
              </a:rPr>
              <a:t>Record</a:t>
            </a:r>
          </a:p>
        </p:txBody>
      </p:sp>
      <p:sp>
        <p:nvSpPr>
          <p:cNvPr id="19" name="">
            <a:extLst xmlns:a="http://schemas.openxmlformats.org/drawingml/2006/main">
              <a:ext uri="{FF2B5EF4-FFF2-40B4-BE49-F238E27FC236}">
                <a16:creationId xmlns:a16="http://schemas.microsoft.com/office/drawing/2014/main" id="{EBC59657-8F85-4A53-AAFE-1D0017F0775B}"/>
              </a:ext>
            </a:extLst>
          </p:cNvPr>
          <p:cNvSpPr>
            <a:spLocks xmlns:a="http://schemas.openxmlformats.org/drawingml/2006/main" noGrp="1"/>
          </p:cNvSpPr>
          <p:nvPr/>
        </p:nvSpPr>
        <p:spPr>
          <a:xfrm xmlns:a="http://schemas.openxmlformats.org/drawingml/2006/main">
            <a:off x="9410700" y="3857625"/>
            <a:ext cx="2324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0">
                <a:solidFill>
                  <a:srgbClr val="68787A"/>
                </a:solidFill>
                <a:latin typeface="Arial"/>
                <a:ea typeface="Arial"/>
                <a:cs typeface="Arial"/>
              </a:defRPr>
            </a:pPr>
            <a:r>
              <a:rPr sz="1650" b="0">
                <a:solidFill>
                  <a:srgbClr val="68787A"/>
                </a:solidFill>
                <a:latin typeface="Arial"/>
                <a:ea typeface="Arial"/>
                <a:cs typeface="Arial"/>
              </a:rPr>
              <a:t>Mark the event or</a:t>
            </a:r>
          </a:p>
          <a:p xmlns:a="http://schemas.openxmlformats.org/drawingml/2006/main">
            <a:pPr algn="ctr">
              <a:buNone/>
              <a:defRPr sz="1650" b="0">
                <a:solidFill>
                  <a:srgbClr val="68787A"/>
                </a:solidFill>
                <a:latin typeface="Arial"/>
                <a:ea typeface="Arial"/>
                <a:cs typeface="Arial"/>
              </a:defRPr>
            </a:pPr>
            <a:r>
              <a:rPr sz="1650" b="0">
                <a:solidFill>
                  <a:srgbClr val="68787A"/>
                </a:solidFill>
                <a:latin typeface="Arial"/>
                <a:ea typeface="Arial"/>
                <a:cs typeface="Arial"/>
              </a:rPr>
              <a:t>leave it unresolved</a:t>
            </a:r>
          </a:p>
        </p:txBody>
      </p:sp>
      <p:sp>
        <p:nvSpPr>
          <p:cNvPr id="20" name="">
            <a:extLst xmlns:a="http://schemas.openxmlformats.org/drawingml/2006/main">
              <a:ext uri="{FF2B5EF4-FFF2-40B4-BE49-F238E27FC236}">
                <a16:creationId xmlns:a16="http://schemas.microsoft.com/office/drawing/2014/main" id="{57FE3F3E-5E76-41C3-AF6F-4E977A409510}"/>
              </a:ext>
            </a:extLst>
          </p:cNvPr>
          <p:cNvSpPr>
            <a:spLocks xmlns:a="http://schemas.openxmlformats.org/drawingml/2006/main" noGrp="1"/>
          </p:cNvSpPr>
          <p:nvPr/>
        </p:nvSpPr>
        <p:spPr>
          <a:xfrm xmlns:a="http://schemas.openxmlformats.org/drawingml/2006/main">
            <a:off x="1095375" y="553402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725" b="1">
                <a:solidFill>
                  <a:srgbClr val="C87854"/>
                </a:solidFill>
                <a:latin typeface="Arial"/>
                <a:ea typeface="Arial"/>
                <a:cs typeface="Arial"/>
              </a:defRPr>
            </a:pPr>
            <a:r>
              <a:rPr sz="1725" b="1">
                <a:solidFill>
                  <a:srgbClr val="C87854"/>
                </a:solidFill>
                <a:latin typeface="Arial"/>
                <a:ea typeface="Arial"/>
                <a:cs typeface="Arial"/>
              </a:rPr>
              <a:t>It records what the sensors can observe, not whether the person swallowed the medicine.</a:t>
            </a:r>
          </a:p>
        </p:txBody>
      </p:sp>
    </p:spTree>
    <p:extLst>
      <p:ext uri="{BB962C8B-B14F-4D97-AF65-F5344CB8AC3E}">
        <p14:creationId xmlns:p14="http://schemas.microsoft.com/office/powerpoint/2010/main" val="506009477"/>
      </p:ext>
    </p:extLst>
  </p:cSld>
</p:sld>
</file>

<file path=ppt/slides/slide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328668A-5B35-46A2-913D-04FEC74A679D}"/>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The sensor depends on the package</a:t>
            </a:r>
          </a:p>
        </p:txBody>
      </p:sp>
      <p:sp>
        <p:nvSpPr>
          <p:cNvPr id="2" name="">
            <a:extLst xmlns:a="http://schemas.openxmlformats.org/drawingml/2006/main">
              <a:ext uri="{FF2B5EF4-FFF2-40B4-BE49-F238E27FC236}">
                <a16:creationId xmlns:a16="http://schemas.microsoft.com/office/drawing/2014/main" id="{10191DF9-F07A-4FE4-AA65-23611C06E2B2}"/>
              </a:ext>
            </a:extLst>
          </p:cNvPr>
          <p:cNvSpPr>
            <a:spLocks xmlns:a="http://schemas.openxmlformats.org/drawingml/2006/main" noGrp="1"/>
          </p:cNvSpPr>
          <p:nvPr/>
        </p:nvSpPr>
        <p:spPr>
          <a:xfrm xmlns:a="http://schemas.openxmlformats.org/drawingml/2006/main">
            <a:off x="781050" y="1428750"/>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POSITION</a:t>
            </a:r>
          </a:p>
        </p:txBody>
      </p:sp>
      <p:sp>
        <p:nvSpPr>
          <p:cNvPr id="3" name="">
            <a:extLst xmlns:a="http://schemas.openxmlformats.org/drawingml/2006/main">
              <a:ext uri="{FF2B5EF4-FFF2-40B4-BE49-F238E27FC236}">
                <a16:creationId xmlns:a16="http://schemas.microsoft.com/office/drawing/2014/main" id="{7CFD07AD-8AB8-4CA8-96D2-07B2C4864CF2}"/>
              </a:ext>
            </a:extLst>
          </p:cNvPr>
          <p:cNvSpPr>
            <a:spLocks xmlns:a="http://schemas.openxmlformats.org/drawingml/2006/main" noGrp="1"/>
          </p:cNvSpPr>
          <p:nvPr/>
        </p:nvSpPr>
        <p:spPr>
          <a:xfrm xmlns:a="http://schemas.openxmlformats.org/drawingml/2006/main">
            <a:off x="3505200" y="142875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COUNT</a:t>
            </a:r>
          </a:p>
        </p:txBody>
      </p:sp>
      <p:sp>
        <p:nvSpPr>
          <p:cNvPr id="4" name="">
            <a:extLst xmlns:a="http://schemas.openxmlformats.org/drawingml/2006/main">
              <a:ext uri="{FF2B5EF4-FFF2-40B4-BE49-F238E27FC236}">
                <a16:creationId xmlns:a16="http://schemas.microsoft.com/office/drawing/2014/main" id="{D795EA1E-53F9-4316-88B0-F4A66C3881F7}"/>
              </a:ext>
            </a:extLst>
          </p:cNvPr>
          <p:cNvSpPr>
            <a:spLocks xmlns:a="http://schemas.openxmlformats.org/drawingml/2006/main" noGrp="1"/>
          </p:cNvSpPr>
          <p:nvPr/>
        </p:nvSpPr>
        <p:spPr>
          <a:xfrm xmlns:a="http://schemas.openxmlformats.org/drawingml/2006/main">
            <a:off x="5000625" y="142875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PROTOTYPE SENSING</a:t>
            </a:r>
          </a:p>
        </p:txBody>
      </p:sp>
      <p:sp>
        <p:nvSpPr>
          <p:cNvPr id="5" name="">
            <a:extLst xmlns:a="http://schemas.openxmlformats.org/drawingml/2006/main">
              <a:ext uri="{FF2B5EF4-FFF2-40B4-BE49-F238E27FC236}">
                <a16:creationId xmlns:a16="http://schemas.microsoft.com/office/drawing/2014/main" id="{52D8D874-E5AD-4130-9855-CF5A072BDD28}"/>
              </a:ext>
            </a:extLst>
          </p:cNvPr>
          <p:cNvSpPr>
            <a:spLocks xmlns:a="http://schemas.openxmlformats.org/drawingml/2006/main" noGrp="1"/>
          </p:cNvSpPr>
          <p:nvPr/>
        </p:nvSpPr>
        <p:spPr>
          <a:xfrm xmlns:a="http://schemas.openxmlformats.org/drawingml/2006/main">
            <a:off x="8191500" y="14287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WHAT TO WATCH FOR</a:t>
            </a:r>
          </a:p>
        </p:txBody>
      </p:sp>
      <p:sp>
        <p:nvSpPr>
          <p:cNvPr id="6" name="">
            <a:extLst xmlns:a="http://schemas.openxmlformats.org/drawingml/2006/main">
              <a:ext uri="{FF2B5EF4-FFF2-40B4-BE49-F238E27FC236}">
                <a16:creationId xmlns:a16="http://schemas.microsoft.com/office/drawing/2014/main" id="{A9533E45-A342-4774-848A-4C5D866111B5}"/>
              </a:ext>
            </a:extLst>
          </p:cNvPr>
          <p:cNvSpPr>
            <a:spLocks xmlns:a="http://schemas.openxmlformats.org/drawingml/2006/main" noGrp="1"/>
          </p:cNvSpPr>
          <p:nvPr/>
        </p:nvSpPr>
        <p:spPr>
          <a:xfrm xmlns:a="http://schemas.openxmlformats.org/drawingml/2006/main">
            <a:off x="781050" y="2047875"/>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00" b="1">
                <a:solidFill>
                  <a:srgbClr val="28353A"/>
                </a:solidFill>
                <a:latin typeface="Arial"/>
                <a:ea typeface="Arial"/>
                <a:cs typeface="Arial"/>
              </a:defRPr>
            </a:pPr>
            <a:r>
              <a:rPr sz="1800" b="1">
                <a:solidFill>
                  <a:srgbClr val="28353A"/>
                </a:solidFill>
                <a:latin typeface="Arial"/>
                <a:ea typeface="Arial"/>
                <a:cs typeface="Arial"/>
              </a:rPr>
              <a:t>Pill bottles / containers</a:t>
            </a:r>
          </a:p>
        </p:txBody>
      </p:sp>
      <p:sp>
        <p:nvSpPr>
          <p:cNvPr id="7" name="">
            <a:extLst xmlns:a="http://schemas.openxmlformats.org/drawingml/2006/main">
              <a:ext uri="{FF2B5EF4-FFF2-40B4-BE49-F238E27FC236}">
                <a16:creationId xmlns:a16="http://schemas.microsoft.com/office/drawing/2014/main" id="{8E0513E2-0CC1-4AA4-A526-20F942320FE8}"/>
              </a:ext>
            </a:extLst>
          </p:cNvPr>
          <p:cNvSpPr>
            <a:spLocks xmlns:a="http://schemas.openxmlformats.org/drawingml/2006/main" noGrp="1"/>
          </p:cNvSpPr>
          <p:nvPr/>
        </p:nvSpPr>
        <p:spPr>
          <a:xfrm xmlns:a="http://schemas.openxmlformats.org/drawingml/2006/main">
            <a:off x="3524250" y="2047875"/>
            <a:ext cx="904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025" b="0">
                <a:solidFill>
                  <a:srgbClr val="28353A"/>
                </a:solidFill>
                <a:latin typeface="Arial"/>
                <a:ea typeface="Arial"/>
                <a:cs typeface="Arial"/>
              </a:defRPr>
            </a:pPr>
            <a:r>
              <a:rPr sz="2025" b="0">
                <a:solidFill>
                  <a:srgbClr val="28353A"/>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C6902278-A687-49F3-8A79-9A92BC06332C}"/>
              </a:ext>
            </a:extLst>
          </p:cNvPr>
          <p:cNvSpPr>
            <a:spLocks xmlns:a="http://schemas.openxmlformats.org/drawingml/2006/main" noGrp="1"/>
          </p:cNvSpPr>
          <p:nvPr/>
        </p:nvSpPr>
        <p:spPr>
          <a:xfrm xmlns:a="http://schemas.openxmlformats.org/drawingml/2006/main">
            <a:off x="5000625" y="2047875"/>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00" b="0">
                <a:solidFill>
                  <a:srgbClr val="28353A"/>
                </a:solidFill>
                <a:latin typeface="Arial"/>
                <a:ea typeface="Arial"/>
                <a:cs typeface="Arial"/>
              </a:defRPr>
            </a:pPr>
            <a:r>
              <a:rPr sz="1800" b="0">
                <a:solidFill>
                  <a:srgbClr val="28353A"/>
                </a:solidFill>
                <a:latin typeface="Arial"/>
                <a:ea typeface="Arial"/>
                <a:cs typeface="Arial"/>
              </a:rPr>
              <a:t>Individual load cells</a:t>
            </a:r>
          </a:p>
        </p:txBody>
      </p:sp>
      <p:sp>
        <p:nvSpPr>
          <p:cNvPr id="9" name="">
            <a:extLst xmlns:a="http://schemas.openxmlformats.org/drawingml/2006/main">
              <a:ext uri="{FF2B5EF4-FFF2-40B4-BE49-F238E27FC236}">
                <a16:creationId xmlns:a16="http://schemas.microsoft.com/office/drawing/2014/main" id="{3F7D55DC-EB30-44EE-95D7-6AA6BF3E55A8}"/>
              </a:ext>
            </a:extLst>
          </p:cNvPr>
          <p:cNvSpPr>
            <a:spLocks xmlns:a="http://schemas.openxmlformats.org/drawingml/2006/main" noGrp="1"/>
          </p:cNvSpPr>
          <p:nvPr/>
        </p:nvSpPr>
        <p:spPr>
          <a:xfrm xmlns:a="http://schemas.openxmlformats.org/drawingml/2006/main">
            <a:off x="8191500" y="2047875"/>
            <a:ext cx="3257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68787A"/>
                </a:solidFill>
                <a:latin typeface="Arial"/>
                <a:ea typeface="Arial"/>
                <a:cs typeface="Arial"/>
              </a:defRPr>
            </a:pPr>
            <a:r>
              <a:rPr sz="1650" b="0">
                <a:solidFill>
                  <a:srgbClr val="68787A"/>
                </a:solidFill>
                <a:latin typeface="Arial"/>
                <a:ea typeface="Arial"/>
                <a:cs typeface="Arial"/>
              </a:rPr>
              <a:t>Movement, placement and weight changes</a:t>
            </a:r>
          </a:p>
        </p:txBody>
      </p:sp>
      <p:sp>
        <p:nvSpPr>
          <p:cNvPr id="10" name="">
            <a:extLst xmlns:a="http://schemas.openxmlformats.org/drawingml/2006/main">
              <a:ext uri="{FF2B5EF4-FFF2-40B4-BE49-F238E27FC236}">
                <a16:creationId xmlns:a16="http://schemas.microsoft.com/office/drawing/2014/main" id="{7296422C-AABC-461B-B599-73A4E27AD8DF}"/>
              </a:ext>
            </a:extLst>
          </p:cNvPr>
          <p:cNvSpPr>
            <a:spLocks xmlns:a="http://schemas.openxmlformats.org/drawingml/2006/main" noGrp="1"/>
          </p:cNvSpPr>
          <p:nvPr/>
        </p:nvSpPr>
        <p:spPr>
          <a:xfrm xmlns:a="http://schemas.openxmlformats.org/drawingml/2006/main">
            <a:off x="781050" y="2876550"/>
            <a:ext cx="106489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A855D36-4EA5-42B4-8DBB-B79136E304ED}"/>
              </a:ext>
            </a:extLst>
          </p:cNvPr>
          <p:cNvSpPr>
            <a:spLocks xmlns:a="http://schemas.openxmlformats.org/drawingml/2006/main" noGrp="1"/>
          </p:cNvSpPr>
          <p:nvPr/>
        </p:nvSpPr>
        <p:spPr>
          <a:xfrm xmlns:a="http://schemas.openxmlformats.org/drawingml/2006/main">
            <a:off x="781050" y="3305175"/>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00" b="1">
                <a:solidFill>
                  <a:srgbClr val="28353A"/>
                </a:solidFill>
                <a:latin typeface="Arial"/>
                <a:ea typeface="Arial"/>
                <a:cs typeface="Arial"/>
              </a:defRPr>
            </a:pPr>
            <a:r>
              <a:rPr sz="1800" b="1">
                <a:solidFill>
                  <a:srgbClr val="28353A"/>
                </a:solidFill>
                <a:latin typeface="Arial"/>
                <a:ea typeface="Arial"/>
                <a:cs typeface="Arial"/>
              </a:rPr>
              <a:t>Liquid medicine</a:t>
            </a:r>
          </a:p>
        </p:txBody>
      </p:sp>
      <p:sp>
        <p:nvSpPr>
          <p:cNvPr id="12" name="">
            <a:extLst xmlns:a="http://schemas.openxmlformats.org/drawingml/2006/main">
              <a:ext uri="{FF2B5EF4-FFF2-40B4-BE49-F238E27FC236}">
                <a16:creationId xmlns:a16="http://schemas.microsoft.com/office/drawing/2014/main" id="{BA0B211C-8D86-46DC-B388-E9F55AEA3D16}"/>
              </a:ext>
            </a:extLst>
          </p:cNvPr>
          <p:cNvSpPr>
            <a:spLocks xmlns:a="http://schemas.openxmlformats.org/drawingml/2006/main" noGrp="1"/>
          </p:cNvSpPr>
          <p:nvPr/>
        </p:nvSpPr>
        <p:spPr>
          <a:xfrm xmlns:a="http://schemas.openxmlformats.org/drawingml/2006/main">
            <a:off x="3524250" y="3305175"/>
            <a:ext cx="904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025" b="0">
                <a:solidFill>
                  <a:srgbClr val="28353A"/>
                </a:solidFill>
                <a:latin typeface="Arial"/>
                <a:ea typeface="Arial"/>
                <a:cs typeface="Arial"/>
              </a:defRPr>
            </a:pPr>
            <a:r>
              <a:rPr sz="2025" b="0">
                <a:solidFill>
                  <a:srgbClr val="28353A"/>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BAF7E859-6DAB-4DFB-A50C-80D05DB802DA}"/>
              </a:ext>
            </a:extLst>
          </p:cNvPr>
          <p:cNvSpPr>
            <a:spLocks xmlns:a="http://schemas.openxmlformats.org/drawingml/2006/main" noGrp="1"/>
          </p:cNvSpPr>
          <p:nvPr/>
        </p:nvSpPr>
        <p:spPr>
          <a:xfrm xmlns:a="http://schemas.openxmlformats.org/drawingml/2006/main">
            <a:off x="5000625" y="3305175"/>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00" b="0">
                <a:solidFill>
                  <a:srgbClr val="28353A"/>
                </a:solidFill>
                <a:latin typeface="Arial"/>
                <a:ea typeface="Arial"/>
                <a:cs typeface="Arial"/>
              </a:defRPr>
            </a:pPr>
            <a:r>
              <a:rPr sz="1800" b="0">
                <a:solidFill>
                  <a:srgbClr val="28353A"/>
                </a:solidFill>
                <a:latin typeface="Arial"/>
                <a:ea typeface="Arial"/>
                <a:cs typeface="Arial"/>
              </a:rPr>
              <a:t>Individual load cells</a:t>
            </a:r>
          </a:p>
        </p:txBody>
      </p:sp>
      <p:sp>
        <p:nvSpPr>
          <p:cNvPr id="14" name="">
            <a:extLst xmlns:a="http://schemas.openxmlformats.org/drawingml/2006/main">
              <a:ext uri="{FF2B5EF4-FFF2-40B4-BE49-F238E27FC236}">
                <a16:creationId xmlns:a16="http://schemas.microsoft.com/office/drawing/2014/main" id="{53D3B62D-D9AB-4BC9-AA00-0E4F37B1F332}"/>
              </a:ext>
            </a:extLst>
          </p:cNvPr>
          <p:cNvSpPr>
            <a:spLocks xmlns:a="http://schemas.openxmlformats.org/drawingml/2006/main" noGrp="1"/>
          </p:cNvSpPr>
          <p:nvPr/>
        </p:nvSpPr>
        <p:spPr>
          <a:xfrm xmlns:a="http://schemas.openxmlformats.org/drawingml/2006/main">
            <a:off x="8191500" y="3305175"/>
            <a:ext cx="3257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68787A"/>
                </a:solidFill>
                <a:latin typeface="Arial"/>
                <a:ea typeface="Arial"/>
                <a:cs typeface="Arial"/>
              </a:defRPr>
            </a:pPr>
            <a:r>
              <a:rPr sz="1650" b="0">
                <a:solidFill>
                  <a:srgbClr val="68787A"/>
                </a:solidFill>
                <a:latin typeface="Arial"/>
                <a:ea typeface="Arial"/>
                <a:cs typeface="Arial"/>
              </a:rPr>
              <a:t>Different bottle shapes and fill levels</a:t>
            </a:r>
          </a:p>
        </p:txBody>
      </p:sp>
      <p:sp>
        <p:nvSpPr>
          <p:cNvPr id="15" name="">
            <a:extLst xmlns:a="http://schemas.openxmlformats.org/drawingml/2006/main">
              <a:ext uri="{FF2B5EF4-FFF2-40B4-BE49-F238E27FC236}">
                <a16:creationId xmlns:a16="http://schemas.microsoft.com/office/drawing/2014/main" id="{D3AB82B8-3228-4C18-B51B-D0327351D548}"/>
              </a:ext>
            </a:extLst>
          </p:cNvPr>
          <p:cNvSpPr>
            <a:spLocks xmlns:a="http://schemas.openxmlformats.org/drawingml/2006/main" noGrp="1"/>
          </p:cNvSpPr>
          <p:nvPr/>
        </p:nvSpPr>
        <p:spPr>
          <a:xfrm xmlns:a="http://schemas.openxmlformats.org/drawingml/2006/main">
            <a:off x="781050" y="4133850"/>
            <a:ext cx="106489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09BBEB9-8F13-4EFC-A1DC-3A19C672F12F}"/>
              </a:ext>
            </a:extLst>
          </p:cNvPr>
          <p:cNvSpPr>
            <a:spLocks xmlns:a="http://schemas.openxmlformats.org/drawingml/2006/main" noGrp="1"/>
          </p:cNvSpPr>
          <p:nvPr/>
        </p:nvSpPr>
        <p:spPr>
          <a:xfrm xmlns:a="http://schemas.openxmlformats.org/drawingml/2006/main">
            <a:off x="781050" y="4562475"/>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00" b="1">
                <a:solidFill>
                  <a:srgbClr val="28353A"/>
                </a:solidFill>
                <a:latin typeface="Arial"/>
                <a:ea typeface="Arial"/>
                <a:cs typeface="Arial"/>
              </a:defRPr>
            </a:pPr>
            <a:r>
              <a:rPr sz="1800" b="1">
                <a:solidFill>
                  <a:srgbClr val="28353A"/>
                </a:solidFill>
                <a:latin typeface="Arial"/>
                <a:ea typeface="Arial"/>
                <a:cs typeface="Arial"/>
              </a:rPr>
              <a:t>Blister packs</a:t>
            </a:r>
          </a:p>
        </p:txBody>
      </p:sp>
      <p:sp>
        <p:nvSpPr>
          <p:cNvPr id="17" name="">
            <a:extLst xmlns:a="http://schemas.openxmlformats.org/drawingml/2006/main">
              <a:ext uri="{FF2B5EF4-FFF2-40B4-BE49-F238E27FC236}">
                <a16:creationId xmlns:a16="http://schemas.microsoft.com/office/drawing/2014/main" id="{9761C06E-E710-42D0-880A-00CB339BB484}"/>
              </a:ext>
            </a:extLst>
          </p:cNvPr>
          <p:cNvSpPr>
            <a:spLocks xmlns:a="http://schemas.openxmlformats.org/drawingml/2006/main" noGrp="1"/>
          </p:cNvSpPr>
          <p:nvPr/>
        </p:nvSpPr>
        <p:spPr>
          <a:xfrm xmlns:a="http://schemas.openxmlformats.org/drawingml/2006/main">
            <a:off x="3524250" y="4562475"/>
            <a:ext cx="904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025" b="0">
                <a:solidFill>
                  <a:srgbClr val="28353A"/>
                </a:solidFill>
                <a:latin typeface="Arial"/>
                <a:ea typeface="Arial"/>
                <a:cs typeface="Arial"/>
              </a:defRPr>
            </a:pPr>
            <a:r>
              <a:rPr sz="2025" b="0">
                <a:solidFill>
                  <a:srgbClr val="28353A"/>
                </a:solidFill>
                <a:latin typeface="Arial"/>
                <a:ea typeface="Arial"/>
                <a:cs typeface="Arial"/>
              </a:rPr>
              <a:t>6</a:t>
            </a:r>
          </a:p>
        </p:txBody>
      </p:sp>
      <p:sp>
        <p:nvSpPr>
          <p:cNvPr id="18" name="">
            <a:extLst xmlns:a="http://schemas.openxmlformats.org/drawingml/2006/main">
              <a:ext uri="{FF2B5EF4-FFF2-40B4-BE49-F238E27FC236}">
                <a16:creationId xmlns:a16="http://schemas.microsoft.com/office/drawing/2014/main" id="{A8DA635D-777F-44F9-B6AE-A279F0D8F0C6}"/>
              </a:ext>
            </a:extLst>
          </p:cNvPr>
          <p:cNvSpPr>
            <a:spLocks xmlns:a="http://schemas.openxmlformats.org/drawingml/2006/main" noGrp="1"/>
          </p:cNvSpPr>
          <p:nvPr/>
        </p:nvSpPr>
        <p:spPr>
          <a:xfrm xmlns:a="http://schemas.openxmlformats.org/drawingml/2006/main">
            <a:off x="5000625" y="4562475"/>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00" b="0">
                <a:solidFill>
                  <a:srgbClr val="28353A"/>
                </a:solidFill>
                <a:latin typeface="Arial"/>
                <a:ea typeface="Arial"/>
                <a:cs typeface="Arial"/>
              </a:defRPr>
            </a:pPr>
            <a:r>
              <a:rPr sz="1800" b="0">
                <a:solidFill>
                  <a:srgbClr val="28353A"/>
                </a:solidFill>
                <a:latin typeface="Arial"/>
                <a:ea typeface="Arial"/>
                <a:cs typeface="Arial"/>
              </a:rPr>
              <a:t>IR sensing</a:t>
            </a:r>
          </a:p>
        </p:txBody>
      </p:sp>
      <p:sp>
        <p:nvSpPr>
          <p:cNvPr id="19" name="">
            <a:extLst xmlns:a="http://schemas.openxmlformats.org/drawingml/2006/main">
              <a:ext uri="{FF2B5EF4-FFF2-40B4-BE49-F238E27FC236}">
                <a16:creationId xmlns:a16="http://schemas.microsoft.com/office/drawing/2014/main" id="{EA609927-8484-4D0C-B2F7-DC98B0CB07EA}"/>
              </a:ext>
            </a:extLst>
          </p:cNvPr>
          <p:cNvSpPr>
            <a:spLocks xmlns:a="http://schemas.openxmlformats.org/drawingml/2006/main" noGrp="1"/>
          </p:cNvSpPr>
          <p:nvPr/>
        </p:nvSpPr>
        <p:spPr>
          <a:xfrm xmlns:a="http://schemas.openxmlformats.org/drawingml/2006/main">
            <a:off x="8191500" y="4562475"/>
            <a:ext cx="3257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68787A"/>
                </a:solidFill>
                <a:latin typeface="Arial"/>
                <a:ea typeface="Arial"/>
                <a:cs typeface="Arial"/>
              </a:defRPr>
            </a:pPr>
            <a:r>
              <a:rPr sz="1650" b="0">
                <a:solidFill>
                  <a:srgbClr val="68787A"/>
                </a:solidFill>
                <a:latin typeface="Arial"/>
                <a:ea typeface="Arial"/>
                <a:cs typeface="Arial"/>
              </a:rPr>
              <a:t>Material, foil, spacing and sensor alignment</a:t>
            </a:r>
          </a:p>
        </p:txBody>
      </p:sp>
      <p:sp>
        <p:nvSpPr>
          <p:cNvPr id="20" name="">
            <a:extLst xmlns:a="http://schemas.openxmlformats.org/drawingml/2006/main">
              <a:ext uri="{FF2B5EF4-FFF2-40B4-BE49-F238E27FC236}">
                <a16:creationId xmlns:a16="http://schemas.microsoft.com/office/drawing/2014/main" id="{83E9B44F-619F-4EAD-A879-61BAA90F41AD}"/>
              </a:ext>
            </a:extLst>
          </p:cNvPr>
          <p:cNvSpPr>
            <a:spLocks xmlns:a="http://schemas.openxmlformats.org/drawingml/2006/main" noGrp="1"/>
          </p:cNvSpPr>
          <p:nvPr/>
        </p:nvSpPr>
        <p:spPr>
          <a:xfrm xmlns:a="http://schemas.openxmlformats.org/drawingml/2006/main">
            <a:off x="781050" y="5391150"/>
            <a:ext cx="106489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571C31F-632C-4FD1-945E-334484CA3329}"/>
              </a:ext>
            </a:extLst>
          </p:cNvPr>
          <p:cNvSpPr>
            <a:spLocks xmlns:a="http://schemas.openxmlformats.org/drawingml/2006/main" noGrp="1"/>
          </p:cNvSpPr>
          <p:nvPr/>
        </p:nvSpPr>
        <p:spPr>
          <a:xfrm xmlns:a="http://schemas.openxmlformats.org/drawingml/2006/main">
            <a:off x="781050" y="5524500"/>
            <a:ext cx="1059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68787A"/>
                </a:solidFill>
                <a:latin typeface="Arial"/>
                <a:ea typeface="Arial"/>
                <a:cs typeface="Arial"/>
              </a:defRPr>
            </a:pPr>
            <a:r>
              <a:rPr sz="1350" b="0">
                <a:solidFill>
                  <a:srgbClr val="68787A"/>
                </a:solidFill>
                <a:latin typeface="Arial"/>
                <a:ea typeface="Arial"/>
                <a:cs typeface="Arial"/>
              </a:rPr>
              <a:t>Desk unit: ESP32, OLED and touch controls, buzzer, Wi-Fi/app link, backup power and one LED per position.</a:t>
            </a:r>
          </a:p>
        </p:txBody>
      </p:sp>
      <p:sp>
        <p:nvSpPr>
          <p:cNvPr id="22" name="">
            <a:extLst xmlns:a="http://schemas.openxmlformats.org/drawingml/2006/main">
              <a:ext uri="{FF2B5EF4-FFF2-40B4-BE49-F238E27FC236}">
                <a16:creationId xmlns:a16="http://schemas.microsoft.com/office/drawing/2014/main" id="{73D511B8-7693-4754-B4E4-6C25E60730DF}"/>
              </a:ext>
            </a:extLst>
          </p:cNvPr>
          <p:cNvSpPr>
            <a:spLocks xmlns:a="http://schemas.openxmlformats.org/drawingml/2006/main" noGrp="1"/>
          </p:cNvSpPr>
          <p:nvPr/>
        </p:nvSpPr>
        <p:spPr>
          <a:xfrm xmlns:a="http://schemas.openxmlformats.org/drawingml/2006/main">
            <a:off x="781050" y="5943600"/>
            <a:ext cx="1059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00" b="1">
                <a:solidFill>
                  <a:srgbClr val="C87854"/>
                </a:solidFill>
                <a:latin typeface="Arial"/>
                <a:ea typeface="Arial"/>
                <a:cs typeface="Arial"/>
              </a:defRPr>
            </a:pPr>
            <a:r>
              <a:rPr sz="1500" b="1">
                <a:solidFill>
                  <a:srgbClr val="C87854"/>
                </a:solidFill>
                <a:latin typeface="Arial"/>
                <a:ea typeface="Arial"/>
                <a:cs typeface="Arial"/>
              </a:rPr>
              <a:t>IR stays in the prototype, with its packaging limits made clear.</a:t>
            </a:r>
          </a:p>
        </p:txBody>
      </p:sp>
    </p:spTree>
    <p:extLst>
      <p:ext uri="{BB962C8B-B14F-4D97-AF65-F5344CB8AC3E}">
        <p14:creationId xmlns:p14="http://schemas.microsoft.com/office/powerpoint/2010/main" val="453492500"/>
      </p:ext>
    </p:extLst>
  </p:cSld>
</p:sld>
</file>

<file path=ppt/slides/slide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864F9F7-5F98-4545-9580-BB57B702D70F}"/>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Reminder and follow-up timing</a:t>
            </a:r>
          </a:p>
        </p:txBody>
      </p:sp>
      <p:sp>
        <p:nvSpPr>
          <p:cNvPr id="2" name="">
            <a:extLst xmlns:a="http://schemas.openxmlformats.org/drawingml/2006/main">
              <a:ext uri="{FF2B5EF4-FFF2-40B4-BE49-F238E27FC236}">
                <a16:creationId xmlns:a16="http://schemas.microsoft.com/office/drawing/2014/main" id="{CF7D677B-B8E1-45B3-89D4-73A3B2CEAD2E}"/>
              </a:ext>
            </a:extLst>
          </p:cNvPr>
          <p:cNvSpPr>
            <a:spLocks xmlns:a="http://schemas.openxmlformats.org/drawingml/2006/main" noGrp="1"/>
          </p:cNvSpPr>
          <p:nvPr/>
        </p:nvSpPr>
        <p:spPr>
          <a:xfrm xmlns:a="http://schemas.openxmlformats.org/drawingml/2006/main">
            <a:off x="762000" y="13335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0">
                <a:solidFill>
                  <a:srgbClr val="68787A"/>
                </a:solidFill>
                <a:latin typeface="Arial"/>
                <a:ea typeface="Arial"/>
                <a:cs typeface="Arial"/>
              </a:defRPr>
            </a:pPr>
            <a:r>
              <a:rPr sz="1875" b="0">
                <a:solidFill>
                  <a:srgbClr val="68787A"/>
                </a:solidFill>
                <a:latin typeface="Arial"/>
                <a:ea typeface="Arial"/>
                <a:cs typeface="Arial"/>
              </a:rPr>
              <a:t>If the event is still unresolved, the local reminder gets stronger, then stops.</a:t>
            </a:r>
          </a:p>
        </p:txBody>
      </p:sp>
      <p:sp>
        <p:nvSpPr>
          <p:cNvPr id="3" name="">
            <a:extLst xmlns:a="http://schemas.openxmlformats.org/drawingml/2006/main">
              <a:ext uri="{FF2B5EF4-FFF2-40B4-BE49-F238E27FC236}">
                <a16:creationId xmlns:a16="http://schemas.microsoft.com/office/drawing/2014/main" id="{4D512883-B9AD-4744-9F87-03D7AAC2AE46}"/>
              </a:ext>
            </a:extLst>
          </p:cNvPr>
          <p:cNvSpPr>
            <a:spLocks xmlns:a="http://schemas.openxmlformats.org/drawingml/2006/main" noGrp="1"/>
          </p:cNvSpPr>
          <p:nvPr/>
        </p:nvSpPr>
        <p:spPr>
          <a:xfrm xmlns:a="http://schemas.openxmlformats.org/drawingml/2006/main">
            <a:off x="1200150" y="2847975"/>
            <a:ext cx="9525000" cy="3810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79C093-4EE9-467A-822C-65FEC62685AA}"/>
              </a:ext>
            </a:extLst>
          </p:cNvPr>
          <p:cNvSpPr>
            <a:spLocks xmlns:a="http://schemas.openxmlformats.org/drawingml/2006/main" noGrp="1"/>
          </p:cNvSpPr>
          <p:nvPr/>
        </p:nvSpPr>
        <p:spPr>
          <a:xfrm xmlns:a="http://schemas.openxmlformats.org/drawingml/2006/main">
            <a:off x="1076325" y="2733675"/>
            <a:ext cx="247650" cy="247650"/>
          </a:xfrm>
          <a:prstGeom xmlns:a="http://schemas.openxmlformats.org/drawingml/2006/main" prst="ellipse">
            <a:avLst/>
          </a:prstGeom>
          <a:solidFill xmlns:a="http://schemas.openxmlformats.org/drawingml/2006/main">
            <a:srgbClr val="4D858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EB25530-211F-4CAF-94A6-984BBE63133A}"/>
              </a:ext>
            </a:extLst>
          </p:cNvPr>
          <p:cNvSpPr>
            <a:spLocks xmlns:a="http://schemas.openxmlformats.org/drawingml/2006/main" noGrp="1"/>
          </p:cNvSpPr>
          <p:nvPr/>
        </p:nvSpPr>
        <p:spPr>
          <a:xfrm xmlns:a="http://schemas.openxmlformats.org/drawingml/2006/main">
            <a:off x="190500" y="2047875"/>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28353A"/>
                </a:solidFill>
                <a:latin typeface="Arial"/>
                <a:ea typeface="Arial"/>
                <a:cs typeface="Arial"/>
              </a:defRPr>
            </a:pPr>
            <a:r>
              <a:rPr sz="1575" b="1">
                <a:solidFill>
                  <a:srgbClr val="28353A"/>
                </a:solidFill>
                <a:latin typeface="Arial"/>
                <a:ea typeface="Arial"/>
                <a:cs typeface="Arial"/>
              </a:rPr>
              <a:t>5 min before</a:t>
            </a:r>
          </a:p>
        </p:txBody>
      </p:sp>
      <p:sp>
        <p:nvSpPr>
          <p:cNvPr id="6" name="">
            <a:extLst xmlns:a="http://schemas.openxmlformats.org/drawingml/2006/main">
              <a:ext uri="{FF2B5EF4-FFF2-40B4-BE49-F238E27FC236}">
                <a16:creationId xmlns:a16="http://schemas.microsoft.com/office/drawing/2014/main" id="{70626BC6-B434-4939-9E8A-1A2957E97BA2}"/>
              </a:ext>
            </a:extLst>
          </p:cNvPr>
          <p:cNvSpPr>
            <a:spLocks xmlns:a="http://schemas.openxmlformats.org/drawingml/2006/main" noGrp="1"/>
          </p:cNvSpPr>
          <p:nvPr/>
        </p:nvSpPr>
        <p:spPr>
          <a:xfrm xmlns:a="http://schemas.openxmlformats.org/drawingml/2006/main">
            <a:off x="142875" y="3276600"/>
            <a:ext cx="209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0">
                <a:solidFill>
                  <a:srgbClr val="28353A"/>
                </a:solidFill>
                <a:latin typeface="Arial"/>
                <a:ea typeface="Arial"/>
                <a:cs typeface="Arial"/>
              </a:defRPr>
            </a:pPr>
            <a:r>
              <a:rPr sz="1650" b="0">
                <a:solidFill>
                  <a:srgbClr val="28353A"/>
                </a:solidFill>
                <a:latin typeface="Arial"/>
                <a:ea typeface="Arial"/>
                <a:cs typeface="Arial"/>
              </a:rPr>
              <a:t>LED turns on</a:t>
            </a:r>
          </a:p>
        </p:txBody>
      </p:sp>
      <p:sp>
        <p:nvSpPr>
          <p:cNvPr id="7" name="">
            <a:extLst xmlns:a="http://schemas.openxmlformats.org/drawingml/2006/main">
              <a:ext uri="{FF2B5EF4-FFF2-40B4-BE49-F238E27FC236}">
                <a16:creationId xmlns:a16="http://schemas.microsoft.com/office/drawing/2014/main" id="{C767F348-A836-447D-87AC-56CCAF8AA56B}"/>
              </a:ext>
            </a:extLst>
          </p:cNvPr>
          <p:cNvSpPr>
            <a:spLocks xmlns:a="http://schemas.openxmlformats.org/drawingml/2006/main" noGrp="1"/>
          </p:cNvSpPr>
          <p:nvPr/>
        </p:nvSpPr>
        <p:spPr>
          <a:xfrm xmlns:a="http://schemas.openxmlformats.org/drawingml/2006/main">
            <a:off x="3457575" y="2733675"/>
            <a:ext cx="247650" cy="247650"/>
          </a:xfrm>
          <a:prstGeom xmlns:a="http://schemas.openxmlformats.org/drawingml/2006/main" prst="ellipse">
            <a:avLst/>
          </a:prstGeom>
          <a:solidFill xmlns:a="http://schemas.openxmlformats.org/drawingml/2006/main">
            <a:srgbClr val="4D858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835BF54-1AA3-4274-97DA-93DFA712F521}"/>
              </a:ext>
            </a:extLst>
          </p:cNvPr>
          <p:cNvSpPr>
            <a:spLocks xmlns:a="http://schemas.openxmlformats.org/drawingml/2006/main" noGrp="1"/>
          </p:cNvSpPr>
          <p:nvPr/>
        </p:nvSpPr>
        <p:spPr>
          <a:xfrm xmlns:a="http://schemas.openxmlformats.org/drawingml/2006/main">
            <a:off x="2571750" y="2047875"/>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28353A"/>
                </a:solidFill>
                <a:latin typeface="Arial"/>
                <a:ea typeface="Arial"/>
                <a:cs typeface="Arial"/>
              </a:defRPr>
            </a:pPr>
            <a:r>
              <a:rPr sz="1575" b="1">
                <a:solidFill>
                  <a:srgbClr val="28353A"/>
                </a:solidFill>
                <a:latin typeface="Arial"/>
                <a:ea typeface="Arial"/>
                <a:cs typeface="Arial"/>
              </a:rPr>
              <a:t>Scheduled time</a:t>
            </a:r>
          </a:p>
        </p:txBody>
      </p:sp>
      <p:sp>
        <p:nvSpPr>
          <p:cNvPr id="9" name="">
            <a:extLst xmlns:a="http://schemas.openxmlformats.org/drawingml/2006/main">
              <a:ext uri="{FF2B5EF4-FFF2-40B4-BE49-F238E27FC236}">
                <a16:creationId xmlns:a16="http://schemas.microsoft.com/office/drawing/2014/main" id="{1CA016DD-440D-448A-920E-97BE4740C56F}"/>
              </a:ext>
            </a:extLst>
          </p:cNvPr>
          <p:cNvSpPr>
            <a:spLocks xmlns:a="http://schemas.openxmlformats.org/drawingml/2006/main" noGrp="1"/>
          </p:cNvSpPr>
          <p:nvPr/>
        </p:nvSpPr>
        <p:spPr>
          <a:xfrm xmlns:a="http://schemas.openxmlformats.org/drawingml/2006/main">
            <a:off x="2524125" y="3276600"/>
            <a:ext cx="209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0">
                <a:solidFill>
                  <a:srgbClr val="28353A"/>
                </a:solidFill>
                <a:latin typeface="Arial"/>
                <a:ea typeface="Arial"/>
                <a:cs typeface="Arial"/>
              </a:defRPr>
            </a:pPr>
            <a:r>
              <a:rPr sz="1650" b="0">
                <a:solidFill>
                  <a:srgbClr val="28353A"/>
                </a:solidFill>
                <a:latin typeface="Arial"/>
                <a:ea typeface="Arial"/>
                <a:cs typeface="Arial"/>
              </a:rPr>
              <a:t>3 beeps once</a:t>
            </a:r>
          </a:p>
        </p:txBody>
      </p:sp>
      <p:sp>
        <p:nvSpPr>
          <p:cNvPr id="10" name="">
            <a:extLst xmlns:a="http://schemas.openxmlformats.org/drawingml/2006/main">
              <a:ext uri="{FF2B5EF4-FFF2-40B4-BE49-F238E27FC236}">
                <a16:creationId xmlns:a16="http://schemas.microsoft.com/office/drawing/2014/main" id="{85C9DCF3-F8CB-49FB-B987-D692B141D1AF}"/>
              </a:ext>
            </a:extLst>
          </p:cNvPr>
          <p:cNvSpPr>
            <a:spLocks xmlns:a="http://schemas.openxmlformats.org/drawingml/2006/main" noGrp="1"/>
          </p:cNvSpPr>
          <p:nvPr/>
        </p:nvSpPr>
        <p:spPr>
          <a:xfrm xmlns:a="http://schemas.openxmlformats.org/drawingml/2006/main">
            <a:off x="5838825" y="2733675"/>
            <a:ext cx="247650" cy="247650"/>
          </a:xfrm>
          <a:prstGeom xmlns:a="http://schemas.openxmlformats.org/drawingml/2006/main" prst="ellipse">
            <a:avLst/>
          </a:prstGeom>
          <a:solidFill xmlns:a="http://schemas.openxmlformats.org/drawingml/2006/main">
            <a:srgbClr val="4D858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2E2C507-7BEF-4710-B6C5-1DFC52FF1B1D}"/>
              </a:ext>
            </a:extLst>
          </p:cNvPr>
          <p:cNvSpPr>
            <a:spLocks xmlns:a="http://schemas.openxmlformats.org/drawingml/2006/main" noGrp="1"/>
          </p:cNvSpPr>
          <p:nvPr/>
        </p:nvSpPr>
        <p:spPr>
          <a:xfrm xmlns:a="http://schemas.openxmlformats.org/drawingml/2006/main">
            <a:off x="4953000" y="2047875"/>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28353A"/>
                </a:solidFill>
                <a:latin typeface="Arial"/>
                <a:ea typeface="Arial"/>
                <a:cs typeface="Arial"/>
              </a:defRPr>
            </a:pPr>
            <a:r>
              <a:rPr sz="1575" b="1">
                <a:solidFill>
                  <a:srgbClr val="28353A"/>
                </a:solidFill>
                <a:latin typeface="Arial"/>
                <a:ea typeface="Arial"/>
                <a:cs typeface="Arial"/>
              </a:rPr>
              <a:t>+5 min</a:t>
            </a:r>
          </a:p>
        </p:txBody>
      </p:sp>
      <p:sp>
        <p:nvSpPr>
          <p:cNvPr id="12" name="">
            <a:extLst xmlns:a="http://schemas.openxmlformats.org/drawingml/2006/main">
              <a:ext uri="{FF2B5EF4-FFF2-40B4-BE49-F238E27FC236}">
                <a16:creationId xmlns:a16="http://schemas.microsoft.com/office/drawing/2014/main" id="{546445EF-396E-4D77-A182-9D17641DF2DD}"/>
              </a:ext>
            </a:extLst>
          </p:cNvPr>
          <p:cNvSpPr>
            <a:spLocks xmlns:a="http://schemas.openxmlformats.org/drawingml/2006/main" noGrp="1"/>
          </p:cNvSpPr>
          <p:nvPr/>
        </p:nvSpPr>
        <p:spPr>
          <a:xfrm xmlns:a="http://schemas.openxmlformats.org/drawingml/2006/main">
            <a:off x="4905375" y="3276600"/>
            <a:ext cx="209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0">
                <a:solidFill>
                  <a:srgbClr val="28353A"/>
                </a:solidFill>
                <a:latin typeface="Arial"/>
                <a:ea typeface="Arial"/>
                <a:cs typeface="Arial"/>
              </a:defRPr>
            </a:pPr>
            <a:r>
              <a:rPr sz="1650" b="0">
                <a:solidFill>
                  <a:srgbClr val="28353A"/>
                </a:solidFill>
                <a:latin typeface="Arial"/>
                <a:ea typeface="Arial"/>
                <a:cs typeface="Arial"/>
              </a:rPr>
              <a:t>3 beeps twice</a:t>
            </a:r>
          </a:p>
        </p:txBody>
      </p:sp>
      <p:sp>
        <p:nvSpPr>
          <p:cNvPr id="13" name="">
            <a:extLst xmlns:a="http://schemas.openxmlformats.org/drawingml/2006/main">
              <a:ext uri="{FF2B5EF4-FFF2-40B4-BE49-F238E27FC236}">
                <a16:creationId xmlns:a16="http://schemas.microsoft.com/office/drawing/2014/main" id="{AC77FCA3-31A3-4510-A63D-A3BA898C61E9}"/>
              </a:ext>
            </a:extLst>
          </p:cNvPr>
          <p:cNvSpPr>
            <a:spLocks xmlns:a="http://schemas.openxmlformats.org/drawingml/2006/main" noGrp="1"/>
          </p:cNvSpPr>
          <p:nvPr/>
        </p:nvSpPr>
        <p:spPr>
          <a:xfrm xmlns:a="http://schemas.openxmlformats.org/drawingml/2006/main">
            <a:off x="8220075" y="2733675"/>
            <a:ext cx="247650" cy="247650"/>
          </a:xfrm>
          <a:prstGeom xmlns:a="http://schemas.openxmlformats.org/drawingml/2006/main" prst="ellipse">
            <a:avLst/>
          </a:prstGeom>
          <a:solidFill xmlns:a="http://schemas.openxmlformats.org/drawingml/2006/main">
            <a:srgbClr val="4D858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D6B87FF-62E7-40DD-BB90-B9ECA093F934}"/>
              </a:ext>
            </a:extLst>
          </p:cNvPr>
          <p:cNvSpPr>
            <a:spLocks xmlns:a="http://schemas.openxmlformats.org/drawingml/2006/main" noGrp="1"/>
          </p:cNvSpPr>
          <p:nvPr/>
        </p:nvSpPr>
        <p:spPr>
          <a:xfrm xmlns:a="http://schemas.openxmlformats.org/drawingml/2006/main">
            <a:off x="7334250" y="2047875"/>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28353A"/>
                </a:solidFill>
                <a:latin typeface="Arial"/>
                <a:ea typeface="Arial"/>
                <a:cs typeface="Arial"/>
              </a:defRPr>
            </a:pPr>
            <a:r>
              <a:rPr sz="1575" b="1">
                <a:solidFill>
                  <a:srgbClr val="28353A"/>
                </a:solidFill>
                <a:latin typeface="Arial"/>
                <a:ea typeface="Arial"/>
                <a:cs typeface="Arial"/>
              </a:rPr>
              <a:t>+10 min</a:t>
            </a:r>
          </a:p>
        </p:txBody>
      </p:sp>
      <p:sp>
        <p:nvSpPr>
          <p:cNvPr id="15" name="">
            <a:extLst xmlns:a="http://schemas.openxmlformats.org/drawingml/2006/main">
              <a:ext uri="{FF2B5EF4-FFF2-40B4-BE49-F238E27FC236}">
                <a16:creationId xmlns:a16="http://schemas.microsoft.com/office/drawing/2014/main" id="{F00623F9-913A-4E0A-9BCA-57C501E1F70B}"/>
              </a:ext>
            </a:extLst>
          </p:cNvPr>
          <p:cNvSpPr>
            <a:spLocks xmlns:a="http://schemas.openxmlformats.org/drawingml/2006/main" noGrp="1"/>
          </p:cNvSpPr>
          <p:nvPr/>
        </p:nvSpPr>
        <p:spPr>
          <a:xfrm xmlns:a="http://schemas.openxmlformats.org/drawingml/2006/main">
            <a:off x="7286625" y="3276600"/>
            <a:ext cx="209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0">
                <a:solidFill>
                  <a:srgbClr val="28353A"/>
                </a:solidFill>
                <a:latin typeface="Arial"/>
                <a:ea typeface="Arial"/>
                <a:cs typeface="Arial"/>
              </a:defRPr>
            </a:pPr>
            <a:r>
              <a:rPr sz="1650" b="0">
                <a:solidFill>
                  <a:srgbClr val="28353A"/>
                </a:solidFill>
                <a:latin typeface="Arial"/>
                <a:ea typeface="Arial"/>
                <a:cs typeface="Arial"/>
              </a:rPr>
              <a:t>3 beeps three times</a:t>
            </a:r>
          </a:p>
        </p:txBody>
      </p:sp>
      <p:sp>
        <p:nvSpPr>
          <p:cNvPr id="16" name="">
            <a:extLst xmlns:a="http://schemas.openxmlformats.org/drawingml/2006/main">
              <a:ext uri="{FF2B5EF4-FFF2-40B4-BE49-F238E27FC236}">
                <a16:creationId xmlns:a16="http://schemas.microsoft.com/office/drawing/2014/main" id="{90C396EC-AA21-4C10-9676-0278F3F7588E}"/>
              </a:ext>
            </a:extLst>
          </p:cNvPr>
          <p:cNvSpPr>
            <a:spLocks xmlns:a="http://schemas.openxmlformats.org/drawingml/2006/main" noGrp="1"/>
          </p:cNvSpPr>
          <p:nvPr/>
        </p:nvSpPr>
        <p:spPr>
          <a:xfrm xmlns:a="http://schemas.openxmlformats.org/drawingml/2006/main">
            <a:off x="10601325" y="2733675"/>
            <a:ext cx="247650" cy="247650"/>
          </a:xfrm>
          <a:prstGeom xmlns:a="http://schemas.openxmlformats.org/drawingml/2006/main" prst="ellipse">
            <a:avLst/>
          </a:prstGeom>
          <a:solidFill xmlns:a="http://schemas.openxmlformats.org/drawingml/2006/main">
            <a:srgbClr val="C8785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365F2CB-0424-44F5-A9A2-5E2AC831DDC3}"/>
              </a:ext>
            </a:extLst>
          </p:cNvPr>
          <p:cNvSpPr>
            <a:spLocks xmlns:a="http://schemas.openxmlformats.org/drawingml/2006/main" noGrp="1"/>
          </p:cNvSpPr>
          <p:nvPr/>
        </p:nvSpPr>
        <p:spPr>
          <a:xfrm xmlns:a="http://schemas.openxmlformats.org/drawingml/2006/main">
            <a:off x="9715500" y="2047875"/>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28353A"/>
                </a:solidFill>
                <a:latin typeface="Arial"/>
                <a:ea typeface="Arial"/>
                <a:cs typeface="Arial"/>
              </a:defRPr>
            </a:pPr>
            <a:r>
              <a:rPr sz="1575" b="1">
                <a:solidFill>
                  <a:srgbClr val="28353A"/>
                </a:solidFill>
                <a:latin typeface="Arial"/>
                <a:ea typeface="Arial"/>
                <a:cs typeface="Arial"/>
              </a:rPr>
              <a:t>After the last alert</a:t>
            </a:r>
          </a:p>
        </p:txBody>
      </p:sp>
      <p:sp>
        <p:nvSpPr>
          <p:cNvPr id="18" name="">
            <a:extLst xmlns:a="http://schemas.openxmlformats.org/drawingml/2006/main">
              <a:ext uri="{FF2B5EF4-FFF2-40B4-BE49-F238E27FC236}">
                <a16:creationId xmlns:a16="http://schemas.microsoft.com/office/drawing/2014/main" id="{118B15B0-49A5-42D2-A2E0-2DBA37914395}"/>
              </a:ext>
            </a:extLst>
          </p:cNvPr>
          <p:cNvSpPr>
            <a:spLocks xmlns:a="http://schemas.openxmlformats.org/drawingml/2006/main" noGrp="1"/>
          </p:cNvSpPr>
          <p:nvPr/>
        </p:nvSpPr>
        <p:spPr>
          <a:xfrm xmlns:a="http://schemas.openxmlformats.org/drawingml/2006/main">
            <a:off x="9667875" y="3276600"/>
            <a:ext cx="209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0">
                <a:solidFill>
                  <a:srgbClr val="C87854"/>
                </a:solidFill>
                <a:latin typeface="Arial"/>
                <a:ea typeface="Arial"/>
                <a:cs typeface="Arial"/>
              </a:defRPr>
            </a:pPr>
            <a:r>
              <a:rPr sz="1650" b="0">
                <a:solidFill>
                  <a:srgbClr val="C87854"/>
                </a:solidFill>
                <a:latin typeface="Arial"/>
                <a:ea typeface="Arial"/>
                <a:cs typeface="Arial"/>
              </a:rPr>
              <a:t>Local buzzer stops;</a:t>
            </a:r>
          </a:p>
          <a:p xmlns:a="http://schemas.openxmlformats.org/drawingml/2006/main">
            <a:pPr algn="ctr">
              <a:buNone/>
              <a:defRPr sz="1650" b="0">
                <a:solidFill>
                  <a:srgbClr val="C87854"/>
                </a:solidFill>
                <a:latin typeface="Arial"/>
                <a:ea typeface="Arial"/>
                <a:cs typeface="Arial"/>
              </a:defRPr>
            </a:pPr>
            <a:r>
              <a:rPr sz="1650" b="0">
                <a:solidFill>
                  <a:srgbClr val="C87854"/>
                </a:solidFill>
                <a:latin typeface="Arial"/>
                <a:ea typeface="Arial"/>
                <a:cs typeface="Arial"/>
              </a:rPr>
              <a:t>digital escalation can follow</a:t>
            </a:r>
          </a:p>
        </p:txBody>
      </p:sp>
      <p:sp>
        <p:nvSpPr>
          <p:cNvPr id="19" name="">
            <a:extLst xmlns:a="http://schemas.openxmlformats.org/drawingml/2006/main">
              <a:ext uri="{FF2B5EF4-FFF2-40B4-BE49-F238E27FC236}">
                <a16:creationId xmlns:a16="http://schemas.microsoft.com/office/drawing/2014/main" id="{EFD3B153-3B7F-474F-9F47-B46B919ACC21}"/>
              </a:ext>
            </a:extLst>
          </p:cNvPr>
          <p:cNvSpPr>
            <a:spLocks xmlns:a="http://schemas.openxmlformats.org/drawingml/2006/main" noGrp="1"/>
          </p:cNvSpPr>
          <p:nvPr/>
        </p:nvSpPr>
        <p:spPr>
          <a:xfrm xmlns:a="http://schemas.openxmlformats.org/drawingml/2006/main">
            <a:off x="2762250" y="481012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0">
                <a:solidFill>
                  <a:srgbClr val="68787A"/>
                </a:solidFill>
                <a:latin typeface="Arial"/>
                <a:ea typeface="Arial"/>
                <a:cs typeface="Arial"/>
              </a:defRPr>
            </a:pPr>
            <a:r>
              <a:rPr sz="1650" b="0">
                <a:solidFill>
                  <a:srgbClr val="68787A"/>
                </a:solidFill>
                <a:latin typeface="Arial"/>
                <a:ea typeface="Arial"/>
                <a:cs typeface="Arial"/>
              </a:rPr>
              <a:t>Each alarm stage uses groups of three beeps.</a:t>
            </a:r>
          </a:p>
        </p:txBody>
      </p:sp>
    </p:spTree>
    <p:extLst>
      <p:ext uri="{BB962C8B-B14F-4D97-AF65-F5344CB8AC3E}">
        <p14:creationId xmlns:p14="http://schemas.microsoft.com/office/powerpoint/2010/main" val="1967900127"/>
      </p:ext>
    </p:extLst>
  </p:cSld>
</p:sld>
</file>

<file path=ppt/slides/slide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FFB76F-AF41-400A-8FA9-94E89E116682}"/>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Adaptive learning for desk / home</a:t>
            </a:r>
          </a:p>
        </p:txBody>
      </p:sp>
      <p:sp>
        <p:nvSpPr>
          <p:cNvPr id="2" name="">
            <a:extLst xmlns:a="http://schemas.openxmlformats.org/drawingml/2006/main">
              <a:ext uri="{FF2B5EF4-FFF2-40B4-BE49-F238E27FC236}">
                <a16:creationId xmlns:a16="http://schemas.microsoft.com/office/drawing/2014/main" id="{391004B2-9147-45A5-8005-4F1AA84018D7}"/>
              </a:ext>
            </a:extLst>
          </p:cNvPr>
          <p:cNvSpPr>
            <a:spLocks xmlns:a="http://schemas.openxmlformats.org/drawingml/2006/main" noGrp="1"/>
          </p:cNvSpPr>
          <p:nvPr/>
        </p:nvSpPr>
        <p:spPr>
          <a:xfrm xmlns:a="http://schemas.openxmlformats.org/drawingml/2006/main">
            <a:off x="800100" y="14287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LOCAL ML: LOGISTIC REGRESSION</a:t>
            </a:r>
          </a:p>
        </p:txBody>
      </p:sp>
      <p:sp>
        <p:nvSpPr>
          <p:cNvPr id="3" name="">
            <a:extLst xmlns:a="http://schemas.openxmlformats.org/drawingml/2006/main">
              <a:ext uri="{FF2B5EF4-FFF2-40B4-BE49-F238E27FC236}">
                <a16:creationId xmlns:a16="http://schemas.microsoft.com/office/drawing/2014/main" id="{06F9F4FC-A131-4665-9205-858D938504F6}"/>
              </a:ext>
            </a:extLst>
          </p:cNvPr>
          <p:cNvSpPr>
            <a:spLocks xmlns:a="http://schemas.openxmlformats.org/drawingml/2006/main" noGrp="1"/>
          </p:cNvSpPr>
          <p:nvPr/>
        </p:nvSpPr>
        <p:spPr>
          <a:xfrm xmlns:a="http://schemas.openxmlformats.org/drawingml/2006/main">
            <a:off x="800100" y="1866900"/>
            <a:ext cx="46672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025" b="1">
                <a:solidFill>
                  <a:srgbClr val="28353A"/>
                </a:solidFill>
                <a:latin typeface="Arial"/>
                <a:ea typeface="Arial"/>
                <a:cs typeface="Arial"/>
              </a:defRPr>
            </a:pPr>
            <a:r>
              <a:rPr sz="2025" b="1">
                <a:solidFill>
                  <a:srgbClr val="28353A"/>
                </a:solidFill>
                <a:latin typeface="Arial"/>
                <a:ea typeface="Arial"/>
                <a:cs typeface="Arial"/>
              </a:rPr>
              <a:t>Uses schedule and medication data</a:t>
            </a:r>
          </a:p>
          <a:p xmlns:a="http://schemas.openxmlformats.org/drawingml/2006/main">
            <a:pPr algn="l">
              <a:buNone/>
              <a:defRPr sz="2025" b="1">
                <a:solidFill>
                  <a:srgbClr val="28353A"/>
                </a:solidFill>
                <a:latin typeface="Arial"/>
                <a:ea typeface="Arial"/>
                <a:cs typeface="Arial"/>
              </a:defRPr>
            </a:pPr>
            <a:r>
              <a:rPr sz="2025" b="1">
                <a:solidFill>
                  <a:srgbClr val="28353A"/>
                </a:solidFill>
                <a:latin typeface="Arial"/>
                <a:ea typeface="Arial"/>
                <a:cs typeface="Arial"/>
              </a:rPr>
              <a:t>Learns from reminder history</a:t>
            </a:r>
          </a:p>
          <a:p xmlns:a="http://schemas.openxmlformats.org/drawingml/2006/main">
            <a:pPr algn="l">
              <a:buNone/>
              <a:defRPr sz="2025" b="1">
                <a:solidFill>
                  <a:srgbClr val="28353A"/>
                </a:solidFill>
                <a:latin typeface="Arial"/>
                <a:ea typeface="Arial"/>
                <a:cs typeface="Arial"/>
              </a:defRPr>
            </a:pPr>
            <a:r>
              <a:rPr sz="2025" b="1">
                <a:solidFill>
                  <a:srgbClr val="28353A"/>
                </a:solidFill>
                <a:latin typeface="Arial"/>
                <a:ea typeface="Arial"/>
                <a:cs typeface="Arial"/>
              </a:rPr>
              <a:t>Tracks repeated late or missed doses</a:t>
            </a:r>
          </a:p>
          <a:p xmlns:a="http://schemas.openxmlformats.org/drawingml/2006/main">
            <a:pPr algn="l">
              <a:buNone/>
              <a:defRPr sz="2025" b="1">
                <a:solidFill>
                  <a:srgbClr val="28353A"/>
                </a:solidFill>
                <a:latin typeface="Arial"/>
                <a:ea typeface="Arial"/>
                <a:cs typeface="Arial"/>
              </a:defRPr>
            </a:pPr>
            <a:r>
              <a:rPr sz="2025" b="1">
                <a:solidFill>
                  <a:srgbClr val="28353A"/>
                </a:solidFill>
                <a:latin typeface="Arial"/>
                <a:ea typeface="Arial"/>
                <a:cs typeface="Arial"/>
              </a:rPr>
              <a:t>Finds patterns by medicine and time</a:t>
            </a:r>
          </a:p>
        </p:txBody>
      </p:sp>
      <p:sp>
        <p:nvSpPr>
          <p:cNvPr id="4" name="">
            <a:extLst xmlns:a="http://schemas.openxmlformats.org/drawingml/2006/main">
              <a:ext uri="{FF2B5EF4-FFF2-40B4-BE49-F238E27FC236}">
                <a16:creationId xmlns:a16="http://schemas.microsoft.com/office/drawing/2014/main" id="{67120BC3-6C74-4066-94A9-062FFC2EA521}"/>
              </a:ext>
            </a:extLst>
          </p:cNvPr>
          <p:cNvSpPr>
            <a:spLocks xmlns:a="http://schemas.openxmlformats.org/drawingml/2006/main" noGrp="1"/>
          </p:cNvSpPr>
          <p:nvPr/>
        </p:nvSpPr>
        <p:spPr>
          <a:xfrm xmlns:a="http://schemas.openxmlformats.org/drawingml/2006/main">
            <a:off x="800100" y="3619500"/>
            <a:ext cx="4667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68787A"/>
                </a:solidFill>
                <a:latin typeface="Arial"/>
                <a:ea typeface="Arial"/>
                <a:cs typeface="Arial"/>
              </a:defRPr>
            </a:pPr>
            <a:r>
              <a:rPr sz="1650" b="0">
                <a:solidFill>
                  <a:srgbClr val="68787A"/>
                </a:solidFill>
                <a:latin typeface="Arial"/>
                <a:ea typeface="Arial"/>
                <a:cs typeface="Arial"/>
              </a:rPr>
              <a:t>The local profile stores adherence patterns, reminder preferences, medical context and emergency history. It updates as events are recorded.</a:t>
            </a:r>
          </a:p>
        </p:txBody>
      </p:sp>
      <p:sp>
        <p:nvSpPr>
          <p:cNvPr id="5" name="">
            <a:extLst xmlns:a="http://schemas.openxmlformats.org/drawingml/2006/main">
              <a:ext uri="{FF2B5EF4-FFF2-40B4-BE49-F238E27FC236}">
                <a16:creationId xmlns:a16="http://schemas.microsoft.com/office/drawing/2014/main" id="{4E11C5EA-F9A2-4644-A083-64E0C2FFD57E}"/>
              </a:ext>
            </a:extLst>
          </p:cNvPr>
          <p:cNvSpPr>
            <a:spLocks xmlns:a="http://schemas.openxmlformats.org/drawingml/2006/main" noGrp="1"/>
          </p:cNvSpPr>
          <p:nvPr/>
        </p:nvSpPr>
        <p:spPr>
          <a:xfrm xmlns:a="http://schemas.openxmlformats.org/drawingml/2006/main">
            <a:off x="6076950" y="1428750"/>
            <a:ext cx="19050" cy="381000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3165E05-099B-47F6-BBF1-232906B97F25}"/>
              </a:ext>
            </a:extLst>
          </p:cNvPr>
          <p:cNvSpPr>
            <a:spLocks xmlns:a="http://schemas.openxmlformats.org/drawingml/2006/main" noGrp="1"/>
          </p:cNvSpPr>
          <p:nvPr/>
        </p:nvSpPr>
        <p:spPr>
          <a:xfrm xmlns:a="http://schemas.openxmlformats.org/drawingml/2006/main">
            <a:off x="6610350" y="14287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GEMMA 4 E2B / E4B</a:t>
            </a:r>
          </a:p>
        </p:txBody>
      </p:sp>
      <p:sp>
        <p:nvSpPr>
          <p:cNvPr id="7" name="">
            <a:extLst xmlns:a="http://schemas.openxmlformats.org/drawingml/2006/main">
              <a:ext uri="{FF2B5EF4-FFF2-40B4-BE49-F238E27FC236}">
                <a16:creationId xmlns:a16="http://schemas.microsoft.com/office/drawing/2014/main" id="{5B2D107E-B8BF-4572-A676-446917ACE909}"/>
              </a:ext>
            </a:extLst>
          </p:cNvPr>
          <p:cNvSpPr>
            <a:spLocks xmlns:a="http://schemas.openxmlformats.org/drawingml/2006/main" noGrp="1"/>
          </p:cNvSpPr>
          <p:nvPr/>
        </p:nvSpPr>
        <p:spPr>
          <a:xfrm xmlns:a="http://schemas.openxmlformats.org/drawingml/2006/main">
            <a:off x="6610350" y="1866900"/>
            <a:ext cx="4762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725" b="0">
                <a:solidFill>
                  <a:srgbClr val="28353A"/>
                </a:solidFill>
                <a:latin typeface="Arial"/>
                <a:ea typeface="Arial"/>
                <a:cs typeface="Arial"/>
              </a:defRPr>
            </a:pPr>
            <a:r>
              <a:rPr sz="1725" b="0">
                <a:solidFill>
                  <a:srgbClr val="28353A"/>
                </a:solidFill>
                <a:latin typeface="Arial"/>
                <a:ea typeface="Arial"/>
                <a:cs typeface="Arial"/>
              </a:rPr>
              <a:t>The local Gemma model explains a flagged medicine/time pattern and drafts an earlier reminder. The user reviews and approves before the schedule changes.</a:t>
            </a:r>
          </a:p>
        </p:txBody>
      </p:sp>
      <p:sp>
        <p:nvSpPr>
          <p:cNvPr id="8" name="">
            <a:extLst xmlns:a="http://schemas.openxmlformats.org/drawingml/2006/main">
              <a:ext uri="{FF2B5EF4-FFF2-40B4-BE49-F238E27FC236}">
                <a16:creationId xmlns:a16="http://schemas.microsoft.com/office/drawing/2014/main" id="{C698B322-BF17-4D6A-B195-5FC3F8497BDB}"/>
              </a:ext>
            </a:extLst>
          </p:cNvPr>
          <p:cNvSpPr>
            <a:spLocks xmlns:a="http://schemas.openxmlformats.org/drawingml/2006/main" noGrp="1"/>
          </p:cNvSpPr>
          <p:nvPr/>
        </p:nvSpPr>
        <p:spPr>
          <a:xfrm xmlns:a="http://schemas.openxmlformats.org/drawingml/2006/main">
            <a:off x="800100" y="55530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1">
                <a:solidFill>
                  <a:srgbClr val="C87854"/>
                </a:solidFill>
                <a:latin typeface="Arial"/>
                <a:ea typeface="Arial"/>
                <a:cs typeface="Arial"/>
              </a:defRPr>
            </a:pPr>
            <a:r>
              <a:rPr sz="1650" b="1">
                <a:solidFill>
                  <a:srgbClr val="C87854"/>
                </a:solidFill>
                <a:latin typeface="Arial"/>
                <a:ea typeface="Arial"/>
                <a:cs typeface="Arial"/>
              </a:rPr>
              <a:t>Personal learning stays local. Sharing anonymized patterns to improve the general model is optional.</a:t>
            </a:r>
          </a:p>
        </p:txBody>
      </p:sp>
    </p:spTree>
    <p:extLst>
      <p:ext uri="{BB962C8B-B14F-4D97-AF65-F5344CB8AC3E}">
        <p14:creationId xmlns:p14="http://schemas.microsoft.com/office/powerpoint/2010/main" val="161296176"/>
      </p:ext>
    </p:extLst>
  </p:cSld>
</p:sld>
</file>

<file path=ppt/slides/slide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8DD389-BAF7-4A86-A656-6484AC28AC2F}"/>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Local and online AI</a:t>
            </a:r>
          </a:p>
        </p:txBody>
      </p:sp>
      <p:sp>
        <p:nvSpPr>
          <p:cNvPr id="2" name="">
            <a:extLst xmlns:a="http://schemas.openxmlformats.org/drawingml/2006/main">
              <a:ext uri="{FF2B5EF4-FFF2-40B4-BE49-F238E27FC236}">
                <a16:creationId xmlns:a16="http://schemas.microsoft.com/office/drawing/2014/main" id="{69456EE3-90CD-43F5-90B3-FAD1E9D7872F}"/>
              </a:ext>
            </a:extLst>
          </p:cNvPr>
          <p:cNvSpPr>
            <a:spLocks xmlns:a="http://schemas.openxmlformats.org/drawingml/2006/main" noGrp="1"/>
          </p:cNvSpPr>
          <p:nvPr/>
        </p:nvSpPr>
        <p:spPr>
          <a:xfrm xmlns:a="http://schemas.openxmlformats.org/drawingml/2006/main">
            <a:off x="800100" y="1447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OFFLINE MODEL: GEMMA 4 E2B / E4B</a:t>
            </a:r>
          </a:p>
        </p:txBody>
      </p:sp>
      <p:sp>
        <p:nvSpPr>
          <p:cNvPr id="3" name="">
            <a:extLst xmlns:a="http://schemas.openxmlformats.org/drawingml/2006/main">
              <a:ext uri="{FF2B5EF4-FFF2-40B4-BE49-F238E27FC236}">
                <a16:creationId xmlns:a16="http://schemas.microsoft.com/office/drawing/2014/main" id="{8D0D6CDE-099A-47D1-820D-A556B82FD02E}"/>
              </a:ext>
            </a:extLst>
          </p:cNvPr>
          <p:cNvSpPr>
            <a:spLocks xmlns:a="http://schemas.openxmlformats.org/drawingml/2006/main" noGrp="1"/>
          </p:cNvSpPr>
          <p:nvPr/>
        </p:nvSpPr>
        <p:spPr>
          <a:xfrm xmlns:a="http://schemas.openxmlformats.org/drawingml/2006/main">
            <a:off x="800100" y="1876425"/>
            <a:ext cx="476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50" b="0">
                <a:solidFill>
                  <a:srgbClr val="28353A"/>
                </a:solidFill>
                <a:latin typeface="Arial"/>
                <a:ea typeface="Arial"/>
                <a:cs typeface="Arial"/>
              </a:defRPr>
            </a:pPr>
            <a:r>
              <a:rPr sz="1950" b="0">
                <a:solidFill>
                  <a:srgbClr val="28353A"/>
                </a:solidFill>
                <a:latin typeface="Arial"/>
                <a:ea typeface="Arial"/>
                <a:cs typeface="Arial"/>
              </a:rPr>
              <a:t>Quantized Gemma 4 E2B/E4B runs on the phone. MediSync picks a size that fits available memory. It uses approved medical references and the stored profile; the ESP32 handles sensing and reminders.</a:t>
            </a:r>
          </a:p>
        </p:txBody>
      </p:sp>
      <p:sp>
        <p:nvSpPr>
          <p:cNvPr id="4" name="">
            <a:extLst xmlns:a="http://schemas.openxmlformats.org/drawingml/2006/main">
              <a:ext uri="{FF2B5EF4-FFF2-40B4-BE49-F238E27FC236}">
                <a16:creationId xmlns:a16="http://schemas.microsoft.com/office/drawing/2014/main" id="{091677F2-96AE-4738-AC33-6A766E234DF3}"/>
              </a:ext>
            </a:extLst>
          </p:cNvPr>
          <p:cNvSpPr>
            <a:spLocks xmlns:a="http://schemas.openxmlformats.org/drawingml/2006/main" noGrp="1"/>
          </p:cNvSpPr>
          <p:nvPr/>
        </p:nvSpPr>
        <p:spPr>
          <a:xfrm xmlns:a="http://schemas.openxmlformats.org/drawingml/2006/main">
            <a:off x="800100" y="38100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LOCAL HELP</a:t>
            </a:r>
          </a:p>
        </p:txBody>
      </p:sp>
      <p:sp>
        <p:nvSpPr>
          <p:cNvPr id="5" name="">
            <a:extLst xmlns:a="http://schemas.openxmlformats.org/drawingml/2006/main">
              <a:ext uri="{FF2B5EF4-FFF2-40B4-BE49-F238E27FC236}">
                <a16:creationId xmlns:a16="http://schemas.microsoft.com/office/drawing/2014/main" id="{767FA6CE-3834-4F90-A8E8-2A419E879610}"/>
              </a:ext>
            </a:extLst>
          </p:cNvPr>
          <p:cNvSpPr>
            <a:spLocks xmlns:a="http://schemas.openxmlformats.org/drawingml/2006/main" noGrp="1"/>
          </p:cNvSpPr>
          <p:nvPr/>
        </p:nvSpPr>
        <p:spPr>
          <a:xfrm xmlns:a="http://schemas.openxmlformats.org/drawingml/2006/main">
            <a:off x="800100" y="4219575"/>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68787A"/>
                </a:solidFill>
                <a:latin typeface="Arial"/>
                <a:ea typeface="Arial"/>
                <a:cs typeface="Arial"/>
              </a:defRPr>
            </a:pPr>
            <a:r>
              <a:rPr sz="1650" b="0">
                <a:solidFill>
                  <a:srgbClr val="68787A"/>
                </a:solidFill>
                <a:latin typeface="Arial"/>
                <a:ea typeface="Arial"/>
                <a:cs typeface="Arial"/>
              </a:rPr>
              <a:t>Uses approved medical references and the local profile for medicine/schedule questions, interactions, first aid and basic emergency triage.</a:t>
            </a:r>
          </a:p>
        </p:txBody>
      </p:sp>
      <p:sp>
        <p:nvSpPr>
          <p:cNvPr id="6" name="">
            <a:extLst xmlns:a="http://schemas.openxmlformats.org/drawingml/2006/main">
              <a:ext uri="{FF2B5EF4-FFF2-40B4-BE49-F238E27FC236}">
                <a16:creationId xmlns:a16="http://schemas.microsoft.com/office/drawing/2014/main" id="{DC92823A-8765-48F7-80AD-ADF7A03C426D}"/>
              </a:ext>
            </a:extLst>
          </p:cNvPr>
          <p:cNvSpPr>
            <a:spLocks xmlns:a="http://schemas.openxmlformats.org/drawingml/2006/main" noGrp="1"/>
          </p:cNvSpPr>
          <p:nvPr/>
        </p:nvSpPr>
        <p:spPr>
          <a:xfrm xmlns:a="http://schemas.openxmlformats.org/drawingml/2006/main">
            <a:off x="6076950" y="1447800"/>
            <a:ext cx="19050" cy="395287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070B311-2B9C-4358-9AED-3BFF6E875696}"/>
              </a:ext>
            </a:extLst>
          </p:cNvPr>
          <p:cNvSpPr>
            <a:spLocks xmlns:a="http://schemas.openxmlformats.org/drawingml/2006/main" noGrp="1"/>
          </p:cNvSpPr>
          <p:nvPr/>
        </p:nvSpPr>
        <p:spPr>
          <a:xfrm xmlns:a="http://schemas.openxmlformats.org/drawingml/2006/main">
            <a:off x="6610350" y="144780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CLOUD MODEL: GEMINI 3.8 FLASH</a:t>
            </a:r>
          </a:p>
        </p:txBody>
      </p:sp>
      <p:sp>
        <p:nvSpPr>
          <p:cNvPr id="8" name="">
            <a:extLst xmlns:a="http://schemas.openxmlformats.org/drawingml/2006/main">
              <a:ext uri="{FF2B5EF4-FFF2-40B4-BE49-F238E27FC236}">
                <a16:creationId xmlns:a16="http://schemas.microsoft.com/office/drawing/2014/main" id="{BC25180F-CEEB-4C68-84B7-C09F3ED414BA}"/>
              </a:ext>
            </a:extLst>
          </p:cNvPr>
          <p:cNvSpPr>
            <a:spLocks xmlns:a="http://schemas.openxmlformats.org/drawingml/2006/main" noGrp="1"/>
          </p:cNvSpPr>
          <p:nvPr/>
        </p:nvSpPr>
        <p:spPr>
          <a:xfrm xmlns:a="http://schemas.openxmlformats.org/drawingml/2006/main">
            <a:off x="6610350" y="1885950"/>
            <a:ext cx="4572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0">
                <a:solidFill>
                  <a:srgbClr val="28353A"/>
                </a:solidFill>
                <a:latin typeface="Arial"/>
                <a:ea typeface="Arial"/>
                <a:cs typeface="Arial"/>
              </a:defRPr>
            </a:pPr>
            <a:r>
              <a:rPr sz="1875" b="0">
                <a:solidFill>
                  <a:srgbClr val="28353A"/>
                </a:solidFill>
                <a:latin typeface="Arial"/>
                <a:ea typeface="Arial"/>
                <a:cs typeface="Arial"/>
              </a:rPr>
              <a:t>With consent, Gemini 3.8 Flash handles deeper analysis and reports. It can use Google Search grounding for current public sources. Detailed explanations appear only when asked.</a:t>
            </a:r>
          </a:p>
        </p:txBody>
      </p:sp>
      <p:sp>
        <p:nvSpPr>
          <p:cNvPr id="9" name="">
            <a:extLst xmlns:a="http://schemas.openxmlformats.org/drawingml/2006/main">
              <a:ext uri="{FF2B5EF4-FFF2-40B4-BE49-F238E27FC236}">
                <a16:creationId xmlns:a16="http://schemas.microsoft.com/office/drawing/2014/main" id="{4A1C62DA-85DD-4FEF-82A4-F270ECDB0A9B}"/>
              </a:ext>
            </a:extLst>
          </p:cNvPr>
          <p:cNvSpPr>
            <a:spLocks xmlns:a="http://schemas.openxmlformats.org/drawingml/2006/main" noGrp="1"/>
          </p:cNvSpPr>
          <p:nvPr/>
        </p:nvSpPr>
        <p:spPr>
          <a:xfrm xmlns:a="http://schemas.openxmlformats.org/drawingml/2006/main">
            <a:off x="6610350" y="327660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PRIVACY AND UNCERTAINTY</a:t>
            </a:r>
          </a:p>
        </p:txBody>
      </p:sp>
      <p:sp>
        <p:nvSpPr>
          <p:cNvPr id="10" name="">
            <a:extLst xmlns:a="http://schemas.openxmlformats.org/drawingml/2006/main">
              <a:ext uri="{FF2B5EF4-FFF2-40B4-BE49-F238E27FC236}">
                <a16:creationId xmlns:a16="http://schemas.microsoft.com/office/drawing/2014/main" id="{C2B5F459-9714-4644-B69C-BD38F90FE70B}"/>
              </a:ext>
            </a:extLst>
          </p:cNvPr>
          <p:cNvSpPr>
            <a:spLocks xmlns:a="http://schemas.openxmlformats.org/drawingml/2006/main" noGrp="1"/>
          </p:cNvSpPr>
          <p:nvPr/>
        </p:nvSpPr>
        <p:spPr>
          <a:xfrm xmlns:a="http://schemas.openxmlformats.org/drawingml/2006/main">
            <a:off x="6610350" y="3714750"/>
            <a:ext cx="4572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00" b="0">
                <a:solidFill>
                  <a:srgbClr val="28353A"/>
                </a:solidFill>
                <a:latin typeface="Arial"/>
                <a:ea typeface="Arial"/>
                <a:cs typeface="Arial"/>
              </a:defRPr>
            </a:pPr>
            <a:r>
              <a:rPr sz="1800" b="0">
                <a:solidFill>
                  <a:srgbClr val="28353A"/>
                </a:solidFill>
                <a:latin typeface="Arial"/>
                <a:ea typeface="Arial"/>
                <a:cs typeface="Arial"/>
              </a:rPr>
              <a:t>Health data stays local. Ask before cloud use. If unsure, say so; with consent, use cloud help or guide the user to a professional or authorized caregiver.</a:t>
            </a:r>
          </a:p>
        </p:txBody>
      </p:sp>
      <p:sp>
        <p:nvSpPr>
          <p:cNvPr id="11" name="">
            <a:extLst xmlns:a="http://schemas.openxmlformats.org/drawingml/2006/main">
              <a:ext uri="{FF2B5EF4-FFF2-40B4-BE49-F238E27FC236}">
                <a16:creationId xmlns:a16="http://schemas.microsoft.com/office/drawing/2014/main" id="{8965691E-A262-4F8D-959D-39F4C0E1C18A}"/>
              </a:ext>
            </a:extLst>
          </p:cNvPr>
          <p:cNvSpPr>
            <a:spLocks xmlns:a="http://schemas.openxmlformats.org/drawingml/2006/main" noGrp="1"/>
          </p:cNvSpPr>
          <p:nvPr/>
        </p:nvSpPr>
        <p:spPr>
          <a:xfrm xmlns:a="http://schemas.openxmlformats.org/drawingml/2006/main">
            <a:off x="6610350" y="50482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00" b="1">
                <a:solidFill>
                  <a:srgbClr val="C87854"/>
                </a:solidFill>
                <a:latin typeface="Arial"/>
                <a:ea typeface="Arial"/>
                <a:cs typeface="Arial"/>
              </a:defRPr>
            </a:pPr>
            <a:r>
              <a:rPr sz="1500" b="1">
                <a:solidFill>
                  <a:srgbClr val="C87854"/>
                </a:solidFill>
                <a:latin typeface="Arial"/>
                <a:ea typeface="Arial"/>
                <a:cs typeface="Arial"/>
              </a:rPr>
              <a:t>Emergency AI does not diagnose, prescribe or change treatment.</a:t>
            </a:r>
          </a:p>
        </p:txBody>
      </p:sp>
    </p:spTree>
    <p:extLst>
      <p:ext uri="{BB962C8B-B14F-4D97-AF65-F5344CB8AC3E}">
        <p14:creationId xmlns:p14="http://schemas.microsoft.com/office/powerpoint/2010/main" val="1649823001"/>
      </p:ext>
    </p:extLst>
  </p:cSld>
</p:sld>
</file>

<file path=ppt/slides/slide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180E00-3CED-40FB-BB5C-1142230452DE}"/>
              </a:ext>
            </a:extLst>
          </p:cNvPr>
          <p:cNvSpPr>
            <a:spLocks xmlns:a="http://schemas.openxmlformats.org/drawingml/2006/main" noGrp="1"/>
          </p:cNvSpPr>
          <p:nvPr/>
        </p:nvSpPr>
        <p:spPr>
          <a:xfrm xmlns:a="http://schemas.openxmlformats.org/drawingml/2006/main">
            <a:off x="723900" y="3333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PROTOTYPE RENDERS</a:t>
            </a:r>
          </a:p>
        </p:txBody>
      </p:sp>
      <p:sp>
        <p:nvSpPr>
          <p:cNvPr id="2" name="">
            <a:extLst xmlns:a="http://schemas.openxmlformats.org/drawingml/2006/main">
              <a:ext uri="{FF2B5EF4-FFF2-40B4-BE49-F238E27FC236}">
                <a16:creationId xmlns:a16="http://schemas.microsoft.com/office/drawing/2014/main" id="{E71DA31B-ED27-45DC-9668-88748EA0B659}"/>
              </a:ext>
            </a:extLst>
          </p:cNvPr>
          <p:cNvSpPr>
            <a:spLocks xmlns:a="http://schemas.openxmlformats.org/drawingml/2006/main" noGrp="1"/>
          </p:cNvSpPr>
          <p:nvPr/>
        </p:nvSpPr>
        <p:spPr>
          <a:xfrm xmlns:a="http://schemas.openxmlformats.org/drawingml/2006/main">
            <a:off x="723900" y="62865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Home / desk design views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7295e634a474bcf"/>
          <a:stretch xmlns:a="http://schemas.openxmlformats.org/drawingml/2006/main"/>
        </p:blipFill>
        <p:spPr>
          <a:xfrm xmlns:a="http://schemas.openxmlformats.org/drawingml/2006/main">
            <a:off x="723900" y="1753791"/>
            <a:ext cx="5143500" cy="2893219"/>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f2c300c9d7c4fe2"/>
          <a:stretch xmlns:a="http://schemas.openxmlformats.org/drawingml/2006/main"/>
        </p:blipFill>
        <p:spPr>
          <a:xfrm xmlns:a="http://schemas.openxmlformats.org/drawingml/2006/main">
            <a:off x="6305550" y="1753791"/>
            <a:ext cx="5143500" cy="289321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F4D31DE-7B81-4C42-80A0-A7D9B726BEE3}"/>
              </a:ext>
            </a:extLst>
          </p:cNvPr>
          <p:cNvSpPr>
            <a:spLocks xmlns:a="http://schemas.openxmlformats.org/drawingml/2006/main" noGrp="1"/>
          </p:cNvSpPr>
          <p:nvPr/>
        </p:nvSpPr>
        <p:spPr>
          <a:xfrm xmlns:a="http://schemas.openxmlformats.org/drawingml/2006/main">
            <a:off x="781050" y="525780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75" b="0">
                <a:solidFill>
                  <a:srgbClr val="68787A"/>
                </a:solidFill>
                <a:latin typeface="Arial"/>
                <a:ea typeface="Arial"/>
                <a:cs typeface="Arial"/>
              </a:defRPr>
            </a:pPr>
            <a:r>
              <a:rPr sz="1575" b="0">
                <a:solidFill>
                  <a:srgbClr val="68787A"/>
                </a:solidFill>
                <a:latin typeface="Arial"/>
                <a:ea typeface="Arial"/>
                <a:cs typeface="Arial"/>
              </a:rPr>
              <a:t>Angled view: bottle spaces at the front, blister shelves to the side.</a:t>
            </a:r>
          </a:p>
        </p:txBody>
      </p:sp>
      <p:sp>
        <p:nvSpPr>
          <p:cNvPr id="6" name="">
            <a:extLst xmlns:a="http://schemas.openxmlformats.org/drawingml/2006/main">
              <a:ext uri="{FF2B5EF4-FFF2-40B4-BE49-F238E27FC236}">
                <a16:creationId xmlns:a16="http://schemas.microsoft.com/office/drawing/2014/main" id="{CB96D3AA-78EF-45D7-81FE-A874D67B86E1}"/>
              </a:ext>
            </a:extLst>
          </p:cNvPr>
          <p:cNvSpPr>
            <a:spLocks xmlns:a="http://schemas.openxmlformats.org/drawingml/2006/main" noGrp="1"/>
          </p:cNvSpPr>
          <p:nvPr/>
        </p:nvSpPr>
        <p:spPr>
          <a:xfrm xmlns:a="http://schemas.openxmlformats.org/drawingml/2006/main">
            <a:off x="6362700" y="525780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75" b="0">
                <a:solidFill>
                  <a:srgbClr val="68787A"/>
                </a:solidFill>
                <a:latin typeface="Arial"/>
                <a:ea typeface="Arial"/>
                <a:cs typeface="Arial"/>
              </a:defRPr>
            </a:pPr>
            <a:r>
              <a:rPr sz="1575" b="0">
                <a:solidFill>
                  <a:srgbClr val="68787A"/>
                </a:solidFill>
                <a:latin typeface="Arial"/>
                <a:ea typeface="Arial"/>
                <a:cs typeface="Arial"/>
              </a:rPr>
              <a:t>Top view: the tray and adjacent storage are easier to see.</a:t>
            </a:r>
          </a:p>
        </p:txBody>
      </p:sp>
    </p:spTree>
    <p:extLst>
      <p:ext uri="{BB962C8B-B14F-4D97-AF65-F5344CB8AC3E}">
        <p14:creationId xmlns:p14="http://schemas.microsoft.com/office/powerpoint/2010/main" val="1887083579"/>
      </p:ext>
    </p:extLst>
  </p:cSld>
</p:sld>
</file>

<file path=ppt/slides/slide1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72C32C1-3B9D-4BA7-9E53-8DE506F95309}"/>
              </a:ext>
            </a:extLst>
          </p:cNvPr>
          <p:cNvSpPr>
            <a:spLocks xmlns:a="http://schemas.openxmlformats.org/drawingml/2006/main" noGrp="1"/>
          </p:cNvSpPr>
          <p:nvPr/>
        </p:nvSpPr>
        <p:spPr>
          <a:xfrm xmlns:a="http://schemas.openxmlformats.org/drawingml/2006/main">
            <a:off x="723900" y="3333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PROTOTYPE RENDERS</a:t>
            </a:r>
          </a:p>
        </p:txBody>
      </p:sp>
      <p:sp>
        <p:nvSpPr>
          <p:cNvPr id="2" name="">
            <a:extLst xmlns:a="http://schemas.openxmlformats.org/drawingml/2006/main">
              <a:ext uri="{FF2B5EF4-FFF2-40B4-BE49-F238E27FC236}">
                <a16:creationId xmlns:a16="http://schemas.microsoft.com/office/drawing/2014/main" id="{497885C5-2A3D-4A2B-A451-80F183E3CA82}"/>
              </a:ext>
            </a:extLst>
          </p:cNvPr>
          <p:cNvSpPr>
            <a:spLocks xmlns:a="http://schemas.openxmlformats.org/drawingml/2006/main" noGrp="1"/>
          </p:cNvSpPr>
          <p:nvPr/>
        </p:nvSpPr>
        <p:spPr>
          <a:xfrm xmlns:a="http://schemas.openxmlformats.org/drawingml/2006/main">
            <a:off x="723900" y="62865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Portable case design views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ed50df6c6634a1b"/>
          <a:stretch xmlns:a="http://schemas.openxmlformats.org/drawingml/2006/main"/>
        </p:blipFill>
        <p:spPr>
          <a:xfrm xmlns:a="http://schemas.openxmlformats.org/drawingml/2006/main">
            <a:off x="905508" y="1362075"/>
            <a:ext cx="2703835" cy="409575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cb161916ef448de"/>
          <a:stretch xmlns:a="http://schemas.openxmlformats.org/drawingml/2006/main"/>
        </p:blipFill>
        <p:spPr>
          <a:xfrm xmlns:a="http://schemas.openxmlformats.org/drawingml/2006/main">
            <a:off x="4744083" y="1362075"/>
            <a:ext cx="2703835" cy="409575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158c159ebe04d4d"/>
          <a:stretch xmlns:a="http://schemas.openxmlformats.org/drawingml/2006/main"/>
        </p:blipFill>
        <p:spPr>
          <a:xfrm xmlns:a="http://schemas.openxmlformats.org/drawingml/2006/main">
            <a:off x="8582658" y="1362075"/>
            <a:ext cx="270383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DD022F4-A660-44D0-9A2E-7FFB0EC6AB78}"/>
              </a:ext>
            </a:extLst>
          </p:cNvPr>
          <p:cNvSpPr>
            <a:spLocks xmlns:a="http://schemas.openxmlformats.org/drawingml/2006/main" noGrp="1"/>
          </p:cNvSpPr>
          <p:nvPr/>
        </p:nvSpPr>
        <p:spPr>
          <a:xfrm xmlns:a="http://schemas.openxmlformats.org/drawingml/2006/main">
            <a:off x="781050" y="55626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28353A"/>
                </a:solidFill>
                <a:latin typeface="Arial"/>
                <a:ea typeface="Arial"/>
                <a:cs typeface="Arial"/>
              </a:defRPr>
            </a:pPr>
            <a:r>
              <a:rPr sz="1575" b="1">
                <a:solidFill>
                  <a:srgbClr val="28353A"/>
                </a:solidFill>
                <a:latin typeface="Arial"/>
                <a:ea typeface="Arial"/>
                <a:cs typeface="Arial"/>
              </a:rPr>
              <a:t>Lid and base</a:t>
            </a:r>
          </a:p>
        </p:txBody>
      </p:sp>
      <p:sp>
        <p:nvSpPr>
          <p:cNvPr id="7" name="">
            <a:extLst xmlns:a="http://schemas.openxmlformats.org/drawingml/2006/main">
              <a:ext uri="{FF2B5EF4-FFF2-40B4-BE49-F238E27FC236}">
                <a16:creationId xmlns:a16="http://schemas.microsoft.com/office/drawing/2014/main" id="{B6A267FF-9EBC-40F2-A56B-94D2F71F28F0}"/>
              </a:ext>
            </a:extLst>
          </p:cNvPr>
          <p:cNvSpPr>
            <a:spLocks xmlns:a="http://schemas.openxmlformats.org/drawingml/2006/main" noGrp="1"/>
          </p:cNvSpPr>
          <p:nvPr/>
        </p:nvSpPr>
        <p:spPr>
          <a:xfrm xmlns:a="http://schemas.openxmlformats.org/drawingml/2006/main">
            <a:off x="4619625" y="55626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28353A"/>
                </a:solidFill>
                <a:latin typeface="Arial"/>
                <a:ea typeface="Arial"/>
                <a:cs typeface="Arial"/>
              </a:defRPr>
            </a:pPr>
            <a:r>
              <a:rPr sz="1575" b="1">
                <a:solidFill>
                  <a:srgbClr val="28353A"/>
                </a:solidFill>
                <a:latin typeface="Arial"/>
                <a:ea typeface="Arial"/>
                <a:cs typeface="Arial"/>
              </a:rPr>
              <a:t>Six-section tray</a:t>
            </a:r>
          </a:p>
        </p:txBody>
      </p:sp>
      <p:sp>
        <p:nvSpPr>
          <p:cNvPr id="8" name="">
            <a:extLst xmlns:a="http://schemas.openxmlformats.org/drawingml/2006/main">
              <a:ext uri="{FF2B5EF4-FFF2-40B4-BE49-F238E27FC236}">
                <a16:creationId xmlns:a16="http://schemas.microsoft.com/office/drawing/2014/main" id="{8D719DC7-17B4-494C-AED7-7D1274304E17}"/>
              </a:ext>
            </a:extLst>
          </p:cNvPr>
          <p:cNvSpPr>
            <a:spLocks xmlns:a="http://schemas.openxmlformats.org/drawingml/2006/main" noGrp="1"/>
          </p:cNvSpPr>
          <p:nvPr/>
        </p:nvSpPr>
        <p:spPr>
          <a:xfrm xmlns:a="http://schemas.openxmlformats.org/drawingml/2006/main">
            <a:off x="8458200" y="55626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28353A"/>
                </a:solidFill>
                <a:latin typeface="Arial"/>
                <a:ea typeface="Arial"/>
                <a:cs typeface="Arial"/>
              </a:defRPr>
            </a:pPr>
            <a:r>
              <a:rPr sz="1575" b="1">
                <a:solidFill>
                  <a:srgbClr val="28353A"/>
                </a:solidFill>
                <a:latin typeface="Arial"/>
                <a:ea typeface="Arial"/>
                <a:cs typeface="Arial"/>
              </a:rPr>
              <a:t>Open case angle</a:t>
            </a:r>
          </a:p>
        </p:txBody>
      </p:sp>
      <p:sp>
        <p:nvSpPr>
          <p:cNvPr id="9" name="">
            <a:extLst xmlns:a="http://schemas.openxmlformats.org/drawingml/2006/main">
              <a:ext uri="{FF2B5EF4-FFF2-40B4-BE49-F238E27FC236}">
                <a16:creationId xmlns:a16="http://schemas.microsoft.com/office/drawing/2014/main" id="{8C3071C6-E437-4482-BC1B-83FDEFC96C4D}"/>
              </a:ext>
            </a:extLst>
          </p:cNvPr>
          <p:cNvSpPr>
            <a:spLocks xmlns:a="http://schemas.openxmlformats.org/drawingml/2006/main" noGrp="1"/>
          </p:cNvSpPr>
          <p:nvPr/>
        </p:nvSpPr>
        <p:spPr>
          <a:xfrm xmlns:a="http://schemas.openxmlformats.org/drawingml/2006/main">
            <a:off x="1428750" y="6134100"/>
            <a:ext cx="933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350" b="0">
                <a:solidFill>
                  <a:srgbClr val="68787A"/>
                </a:solidFill>
                <a:latin typeface="Arial"/>
                <a:ea typeface="Arial"/>
                <a:cs typeface="Arial"/>
              </a:defRPr>
            </a:pPr>
            <a:r>
              <a:rPr sz="1350" b="0">
                <a:solidFill>
                  <a:srgbClr val="68787A"/>
                </a:solidFill>
                <a:latin typeface="Arial"/>
                <a:ea typeface="Arial"/>
                <a:cs typeface="Arial"/>
              </a:rPr>
              <a:t>These renders show the container concept; the electronics are planned separately.</a:t>
            </a:r>
          </a:p>
        </p:txBody>
      </p:sp>
    </p:spTree>
    <p:extLst>
      <p:ext uri="{BB962C8B-B14F-4D97-AF65-F5344CB8AC3E}">
        <p14:creationId xmlns:p14="http://schemas.microsoft.com/office/powerpoint/2010/main" val="1638564040"/>
      </p:ext>
    </p:extLst>
  </p:cSld>
</p:sld>
</file>

<file path=ppt/slides/slide1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FFB76F-AF41-400A-8FA9-94E89E116682}"/>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Desk / home version hardware plan</a:t>
            </a:r>
          </a:p>
        </p:txBody>
      </p:sp>
      <p:sp>
        <p:nvSpPr>
          <p:cNvPr id="2" name="">
            <a:extLst xmlns:a="http://schemas.openxmlformats.org/drawingml/2006/main">
              <a:ext uri="{FF2B5EF4-FFF2-40B4-BE49-F238E27FC236}">
                <a16:creationId xmlns:a16="http://schemas.microsoft.com/office/drawing/2014/main" id="{391004B2-9147-45A5-8005-4F1AA84018D7}"/>
              </a:ext>
            </a:extLst>
          </p:cNvPr>
          <p:cNvSpPr>
            <a:spLocks xmlns:a="http://schemas.openxmlformats.org/drawingml/2006/main" noGrp="1"/>
          </p:cNvSpPr>
          <p:nvPr/>
        </p:nvSpPr>
        <p:spPr>
          <a:xfrm xmlns:a="http://schemas.openxmlformats.org/drawingml/2006/main">
            <a:off x="800100" y="14287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MEDICATION POSITIONS</a:t>
            </a:r>
          </a:p>
        </p:txBody>
      </p:sp>
      <p:sp>
        <p:nvSpPr>
          <p:cNvPr id="3" name="">
            <a:extLst xmlns:a="http://schemas.openxmlformats.org/drawingml/2006/main">
              <a:ext uri="{FF2B5EF4-FFF2-40B4-BE49-F238E27FC236}">
                <a16:creationId xmlns:a16="http://schemas.microsoft.com/office/drawing/2014/main" id="{06F9F4FC-A131-4665-9205-858D938504F6}"/>
              </a:ext>
            </a:extLst>
          </p:cNvPr>
          <p:cNvSpPr>
            <a:spLocks xmlns:a="http://schemas.openxmlformats.org/drawingml/2006/main" noGrp="1"/>
          </p:cNvSpPr>
          <p:nvPr/>
        </p:nvSpPr>
        <p:spPr>
          <a:xfrm xmlns:a="http://schemas.openxmlformats.org/drawingml/2006/main">
            <a:off x="800100" y="1866900"/>
            <a:ext cx="46672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025" b="1">
                <a:solidFill>
                  <a:srgbClr val="28353A"/>
                </a:solidFill>
                <a:latin typeface="Arial"/>
                <a:ea typeface="Arial"/>
                <a:cs typeface="Arial"/>
              </a:defRPr>
            </a:pPr>
            <a:r>
              <a:rPr sz="2025" b="1">
                <a:solidFill>
                  <a:srgbClr val="28353A"/>
                </a:solidFill>
                <a:latin typeface="Arial"/>
                <a:ea typeface="Arial"/>
                <a:cs typeface="Arial"/>
              </a:rPr>
              <a:t>3 pill or container positions</a:t>
            </a:r>
          </a:p>
          <a:p xmlns:a="http://schemas.openxmlformats.org/drawingml/2006/main">
            <a:pPr algn="l">
              <a:buNone/>
              <a:defRPr sz="2025" b="1">
                <a:solidFill>
                  <a:srgbClr val="28353A"/>
                </a:solidFill>
                <a:latin typeface="Arial"/>
                <a:ea typeface="Arial"/>
                <a:cs typeface="Arial"/>
              </a:defRPr>
            </a:pPr>
            <a:r>
              <a:rPr sz="2025" b="1">
                <a:solidFill>
                  <a:srgbClr val="28353A"/>
                </a:solidFill>
                <a:latin typeface="Arial"/>
                <a:ea typeface="Arial"/>
                <a:cs typeface="Arial"/>
              </a:rPr>
              <a:t>3 liquid positions</a:t>
            </a:r>
          </a:p>
          <a:p xmlns:a="http://schemas.openxmlformats.org/drawingml/2006/main">
            <a:pPr algn="l">
              <a:buNone/>
              <a:defRPr sz="2025" b="1">
                <a:solidFill>
                  <a:srgbClr val="28353A"/>
                </a:solidFill>
                <a:latin typeface="Arial"/>
                <a:ea typeface="Arial"/>
                <a:cs typeface="Arial"/>
              </a:defRPr>
            </a:pPr>
            <a:r>
              <a:rPr sz="2025" b="1">
                <a:solidFill>
                  <a:srgbClr val="28353A"/>
                </a:solidFill>
                <a:latin typeface="Arial"/>
                <a:ea typeface="Arial"/>
                <a:cs typeface="Arial"/>
              </a:rPr>
              <a:t>6 blister positions</a:t>
            </a:r>
          </a:p>
        </p:txBody>
      </p:sp>
      <p:sp>
        <p:nvSpPr>
          <p:cNvPr id="4" name="">
            <a:extLst xmlns:a="http://schemas.openxmlformats.org/drawingml/2006/main">
              <a:ext uri="{FF2B5EF4-FFF2-40B4-BE49-F238E27FC236}">
                <a16:creationId xmlns:a16="http://schemas.microsoft.com/office/drawing/2014/main" id="{67120BC3-6C74-4066-94A9-062FFC2EA521}"/>
              </a:ext>
            </a:extLst>
          </p:cNvPr>
          <p:cNvSpPr>
            <a:spLocks xmlns:a="http://schemas.openxmlformats.org/drawingml/2006/main" noGrp="1"/>
          </p:cNvSpPr>
          <p:nvPr/>
        </p:nvSpPr>
        <p:spPr>
          <a:xfrm xmlns:a="http://schemas.openxmlformats.org/drawingml/2006/main">
            <a:off x="800100" y="3619500"/>
            <a:ext cx="4667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68787A"/>
                </a:solidFill>
                <a:latin typeface="Arial"/>
                <a:ea typeface="Arial"/>
                <a:cs typeface="Arial"/>
              </a:defRPr>
            </a:pPr>
            <a:r>
              <a:rPr sz="1650" b="0">
                <a:solidFill>
                  <a:srgbClr val="68787A"/>
                </a:solidFill>
                <a:latin typeface="Arial"/>
                <a:ea typeface="Arial"/>
                <a:cs typeface="Arial"/>
              </a:rPr>
              <a:t>Individual load cells for the 6 bottle / liquid positions; IR sensing for the 6 blister positions.</a:t>
            </a:r>
          </a:p>
        </p:txBody>
      </p:sp>
      <p:sp>
        <p:nvSpPr>
          <p:cNvPr id="5" name="">
            <a:extLst xmlns:a="http://schemas.openxmlformats.org/drawingml/2006/main">
              <a:ext uri="{FF2B5EF4-FFF2-40B4-BE49-F238E27FC236}">
                <a16:creationId xmlns:a16="http://schemas.microsoft.com/office/drawing/2014/main" id="{4E11C5EA-F9A2-4644-A083-64E0C2FFD57E}"/>
              </a:ext>
            </a:extLst>
          </p:cNvPr>
          <p:cNvSpPr>
            <a:spLocks xmlns:a="http://schemas.openxmlformats.org/drawingml/2006/main" noGrp="1"/>
          </p:cNvSpPr>
          <p:nvPr/>
        </p:nvSpPr>
        <p:spPr>
          <a:xfrm xmlns:a="http://schemas.openxmlformats.org/drawingml/2006/main">
            <a:off x="6076950" y="1428750"/>
            <a:ext cx="19050" cy="381000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3165E05-099B-47F6-BBF1-232906B97F25}"/>
              </a:ext>
            </a:extLst>
          </p:cNvPr>
          <p:cNvSpPr>
            <a:spLocks xmlns:a="http://schemas.openxmlformats.org/drawingml/2006/main" noGrp="1"/>
          </p:cNvSpPr>
          <p:nvPr/>
        </p:nvSpPr>
        <p:spPr>
          <a:xfrm xmlns:a="http://schemas.openxmlformats.org/drawingml/2006/main">
            <a:off x="6610350" y="14287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CONTROLS, ALERTS AND POWER</a:t>
            </a:r>
          </a:p>
        </p:txBody>
      </p:sp>
      <p:sp>
        <p:nvSpPr>
          <p:cNvPr id="7" name="">
            <a:extLst xmlns:a="http://schemas.openxmlformats.org/drawingml/2006/main">
              <a:ext uri="{FF2B5EF4-FFF2-40B4-BE49-F238E27FC236}">
                <a16:creationId xmlns:a16="http://schemas.microsoft.com/office/drawing/2014/main" id="{5B2D107E-B8BF-4572-A676-446917ACE909}"/>
              </a:ext>
            </a:extLst>
          </p:cNvPr>
          <p:cNvSpPr>
            <a:spLocks xmlns:a="http://schemas.openxmlformats.org/drawingml/2006/main" noGrp="1"/>
          </p:cNvSpPr>
          <p:nvPr/>
        </p:nvSpPr>
        <p:spPr>
          <a:xfrm xmlns:a="http://schemas.openxmlformats.org/drawingml/2006/main">
            <a:off x="6610350" y="1866900"/>
            <a:ext cx="4762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725" b="0">
                <a:solidFill>
                  <a:srgbClr val="28353A"/>
                </a:solidFill>
                <a:latin typeface="Arial"/>
                <a:ea typeface="Arial"/>
                <a:cs typeface="Arial"/>
              </a:defRPr>
            </a:pPr>
            <a:r>
              <a:rPr sz="1725" b="0">
                <a:solidFill>
                  <a:srgbClr val="28353A"/>
                </a:solidFill>
                <a:latin typeface="Arial"/>
                <a:ea typeface="Arial"/>
                <a:cs typeface="Arial"/>
              </a:rPr>
              <a:t>ESP32 with 2.4 GHz Wi-Fi</a:t>
            </a:r>
          </a:p>
          <a:p xmlns:a="http://schemas.openxmlformats.org/drawingml/2006/main">
            <a:pPr algn="l">
              <a:buNone/>
              <a:defRPr sz="1725" b="0">
                <a:solidFill>
                  <a:srgbClr val="28353A"/>
                </a:solidFill>
                <a:latin typeface="Arial"/>
                <a:ea typeface="Arial"/>
                <a:cs typeface="Arial"/>
              </a:defRPr>
            </a:pPr>
            <a:r>
              <a:rPr sz="1725" b="0">
                <a:solidFill>
                  <a:srgbClr val="28353A"/>
                </a:solidFill>
                <a:latin typeface="Arial"/>
                <a:ea typeface="Arial"/>
                <a:cs typeface="Arial"/>
              </a:rPr>
              <a:t>0.91-inch OLED and 4 touch switches</a:t>
            </a:r>
          </a:p>
          <a:p xmlns:a="http://schemas.openxmlformats.org/drawingml/2006/main">
            <a:pPr algn="l">
              <a:buNone/>
              <a:defRPr sz="1725" b="0">
                <a:solidFill>
                  <a:srgbClr val="28353A"/>
                </a:solidFill>
                <a:latin typeface="Arial"/>
                <a:ea typeface="Arial"/>
                <a:cs typeface="Arial"/>
              </a:defRPr>
            </a:pPr>
            <a:r>
              <a:rPr sz="1725" b="0">
                <a:solidFill>
                  <a:srgbClr val="28353A"/>
                </a:solidFill>
                <a:latin typeface="Arial"/>
                <a:ea typeface="Arial"/>
                <a:cs typeface="Arial"/>
              </a:rPr>
              <a:t>Buzzer and 12 position LEDs</a:t>
            </a:r>
          </a:p>
          <a:p xmlns:a="http://schemas.openxmlformats.org/drawingml/2006/main">
            <a:pPr algn="l">
              <a:buNone/>
              <a:defRPr sz="1725" b="0">
                <a:solidFill>
                  <a:srgbClr val="28353A"/>
                </a:solidFill>
                <a:latin typeface="Arial"/>
                <a:ea typeface="Arial"/>
                <a:cs typeface="Arial"/>
              </a:defRPr>
            </a:pPr>
            <a:r>
              <a:rPr sz="1725" b="0">
                <a:solidFill>
                  <a:srgbClr val="28353A"/>
                </a:solidFill>
                <a:latin typeface="Arial"/>
                <a:ea typeface="Arial"/>
                <a:cs typeface="Arial"/>
              </a:rPr>
              <a:t>1200 mAh, 3.7 V backup battery</a:t>
            </a:r>
          </a:p>
          <a:p xmlns:a="http://schemas.openxmlformats.org/drawingml/2006/main">
            <a:pPr algn="l">
              <a:buNone/>
              <a:defRPr sz="1725" b="0">
                <a:solidFill>
                  <a:srgbClr val="28353A"/>
                </a:solidFill>
                <a:latin typeface="Arial"/>
                <a:ea typeface="Arial"/>
                <a:cs typeface="Arial"/>
              </a:defRPr>
            </a:pPr>
            <a:r>
              <a:rPr sz="1725" b="0">
                <a:solidFill>
                  <a:srgbClr val="28353A"/>
                </a:solidFill>
                <a:latin typeface="Arial"/>
                <a:ea typeface="Arial"/>
                <a:cs typeface="Arial"/>
              </a:rPr>
              <a:t>USB charging module and antenna</a:t>
            </a:r>
          </a:p>
        </p:txBody>
      </p:sp>
      <p:sp>
        <p:nvSpPr>
          <p:cNvPr id="8" name="">
            <a:extLst xmlns:a="http://schemas.openxmlformats.org/drawingml/2006/main">
              <a:ext uri="{FF2B5EF4-FFF2-40B4-BE49-F238E27FC236}">
                <a16:creationId xmlns:a16="http://schemas.microsoft.com/office/drawing/2014/main" id="{C698B322-BF17-4D6A-B195-5FC3F8497BDB}"/>
              </a:ext>
            </a:extLst>
          </p:cNvPr>
          <p:cNvSpPr>
            <a:spLocks xmlns:a="http://schemas.openxmlformats.org/drawingml/2006/main" noGrp="1"/>
          </p:cNvSpPr>
          <p:nvPr/>
        </p:nvSpPr>
        <p:spPr>
          <a:xfrm xmlns:a="http://schemas.openxmlformats.org/drawingml/2006/main">
            <a:off x="800100" y="55530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1">
                <a:solidFill>
                  <a:srgbClr val="C87854"/>
                </a:solidFill>
                <a:latin typeface="Arial"/>
                <a:ea typeface="Arial"/>
                <a:cs typeface="Arial"/>
              </a:defRPr>
            </a:pPr>
            <a:r>
              <a:rPr sz="1650" b="1">
                <a:solidFill>
                  <a:srgbClr val="C87854"/>
                </a:solidFill>
                <a:latin typeface="Arial"/>
                <a:ea typeface="Arial"/>
                <a:cs typeface="Arial"/>
              </a:rPr>
              <a:t>The current concept uses one indicator LED for each medication position.</a:t>
            </a:r>
          </a:p>
        </p:txBody>
      </p:sp>
    </p:spTree>
    <p:extLst>
      <p:ext uri="{BB962C8B-B14F-4D97-AF65-F5344CB8AC3E}">
        <p14:creationId xmlns:p14="http://schemas.microsoft.com/office/powerpoint/2010/main" val="161296176"/>
      </p:ext>
    </p:extLst>
  </p:cSld>
</p:sld>
</file>

<file path=ppt/slides/slide1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501AF90-6A28-4E8C-A7E0-389E7336F843}"/>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Portable version hardware plan</a:t>
            </a:r>
          </a:p>
        </p:txBody>
      </p:sp>
      <p:sp>
        <p:nvSpPr>
          <p:cNvPr id="2" name="">
            <a:extLst xmlns:a="http://schemas.openxmlformats.org/drawingml/2006/main">
              <a:ext uri="{FF2B5EF4-FFF2-40B4-BE49-F238E27FC236}">
                <a16:creationId xmlns:a16="http://schemas.microsoft.com/office/drawing/2014/main" id="{679520A9-0970-4E10-AFA4-2F759E9DA592}"/>
              </a:ext>
            </a:extLst>
          </p:cNvPr>
          <p:cNvSpPr>
            <a:spLocks xmlns:a="http://schemas.openxmlformats.org/drawingml/2006/main" noGrp="1"/>
          </p:cNvSpPr>
          <p:nvPr/>
        </p:nvSpPr>
        <p:spPr>
          <a:xfrm xmlns:a="http://schemas.openxmlformats.org/drawingml/2006/main">
            <a:off x="800100" y="15430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CONTROL</a:t>
            </a:r>
          </a:p>
        </p:txBody>
      </p:sp>
      <p:sp>
        <p:nvSpPr>
          <p:cNvPr id="3" name="">
            <a:extLst xmlns:a="http://schemas.openxmlformats.org/drawingml/2006/main">
              <a:ext uri="{FF2B5EF4-FFF2-40B4-BE49-F238E27FC236}">
                <a16:creationId xmlns:a16="http://schemas.microsoft.com/office/drawing/2014/main" id="{A60E70D5-AEF5-46EC-A700-7523908AFBC8}"/>
              </a:ext>
            </a:extLst>
          </p:cNvPr>
          <p:cNvSpPr>
            <a:spLocks xmlns:a="http://schemas.openxmlformats.org/drawingml/2006/main" noGrp="1"/>
          </p:cNvSpPr>
          <p:nvPr/>
        </p:nvSpPr>
        <p:spPr>
          <a:xfrm xmlns:a="http://schemas.openxmlformats.org/drawingml/2006/main">
            <a:off x="800100" y="200025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700" b="1">
                <a:solidFill>
                  <a:srgbClr val="28353A"/>
                </a:solidFill>
                <a:latin typeface="Arial"/>
                <a:ea typeface="Arial"/>
                <a:cs typeface="Arial"/>
              </a:defRPr>
            </a:pPr>
            <a:r>
              <a:rPr sz="2700" b="1">
                <a:solidFill>
                  <a:srgbClr val="28353A"/>
                </a:solidFill>
                <a:latin typeface="Arial"/>
                <a:ea typeface="Arial"/>
                <a:cs typeface="Arial"/>
              </a:rPr>
              <a:t>ESP32-C3</a:t>
            </a:r>
          </a:p>
        </p:txBody>
      </p:sp>
      <p:sp>
        <p:nvSpPr>
          <p:cNvPr id="4" name="">
            <a:extLst xmlns:a="http://schemas.openxmlformats.org/drawingml/2006/main">
              <a:ext uri="{FF2B5EF4-FFF2-40B4-BE49-F238E27FC236}">
                <a16:creationId xmlns:a16="http://schemas.microsoft.com/office/drawing/2014/main" id="{1E1C4583-14A1-4AFD-917E-740645DF2F91}"/>
              </a:ext>
            </a:extLst>
          </p:cNvPr>
          <p:cNvSpPr>
            <a:spLocks xmlns:a="http://schemas.openxmlformats.org/drawingml/2006/main" noGrp="1"/>
          </p:cNvSpPr>
          <p:nvPr/>
        </p:nvSpPr>
        <p:spPr>
          <a:xfrm xmlns:a="http://schemas.openxmlformats.org/drawingml/2006/main">
            <a:off x="800100" y="300990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SENSING</a:t>
            </a:r>
          </a:p>
        </p:txBody>
      </p:sp>
      <p:sp>
        <p:nvSpPr>
          <p:cNvPr id="5" name="">
            <a:extLst xmlns:a="http://schemas.openxmlformats.org/drawingml/2006/main">
              <a:ext uri="{FF2B5EF4-FFF2-40B4-BE49-F238E27FC236}">
                <a16:creationId xmlns:a16="http://schemas.microsoft.com/office/drawing/2014/main" id="{DBE57A17-2939-4F6F-81B6-4F7E2C921B22}"/>
              </a:ext>
            </a:extLst>
          </p:cNvPr>
          <p:cNvSpPr>
            <a:spLocks xmlns:a="http://schemas.openxmlformats.org/drawingml/2006/main" noGrp="1"/>
          </p:cNvSpPr>
          <p:nvPr/>
        </p:nvSpPr>
        <p:spPr>
          <a:xfrm xmlns:a="http://schemas.openxmlformats.org/drawingml/2006/main">
            <a:off x="800100" y="3409950"/>
            <a:ext cx="4524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100" b="0">
                <a:solidFill>
                  <a:srgbClr val="28353A"/>
                </a:solidFill>
                <a:latin typeface="Arial"/>
                <a:ea typeface="Arial"/>
                <a:cs typeface="Arial"/>
              </a:defRPr>
            </a:pPr>
            <a:r>
              <a:rPr sz="2100" b="0">
                <a:solidFill>
                  <a:srgbClr val="28353A"/>
                </a:solidFill>
                <a:latin typeface="Arial"/>
                <a:ea typeface="Arial"/>
                <a:cs typeface="Arial"/>
              </a:rPr>
              <a:t>One shared load cell</a:t>
            </a:r>
          </a:p>
          <a:p xmlns:a="http://schemas.openxmlformats.org/drawingml/2006/main">
            <a:pPr algn="l">
              <a:buNone/>
              <a:defRPr sz="2100" b="0">
                <a:solidFill>
                  <a:srgbClr val="28353A"/>
                </a:solidFill>
                <a:latin typeface="Arial"/>
                <a:ea typeface="Arial"/>
                <a:cs typeface="Arial"/>
              </a:defRPr>
            </a:pPr>
            <a:r>
              <a:rPr sz="2100" b="0">
                <a:solidFill>
                  <a:srgbClr val="28353A"/>
                </a:solidFill>
                <a:latin typeface="Arial"/>
                <a:ea typeface="Arial"/>
                <a:cs typeface="Arial"/>
              </a:rPr>
              <a:t>with an HX711 amplifier</a:t>
            </a:r>
          </a:p>
        </p:txBody>
      </p:sp>
      <p:sp>
        <p:nvSpPr>
          <p:cNvPr id="6" name="">
            <a:extLst xmlns:a="http://schemas.openxmlformats.org/drawingml/2006/main">
              <a:ext uri="{FF2B5EF4-FFF2-40B4-BE49-F238E27FC236}">
                <a16:creationId xmlns:a16="http://schemas.microsoft.com/office/drawing/2014/main" id="{9FADE19B-404D-4142-8A9E-6EE97CDD42F0}"/>
              </a:ext>
            </a:extLst>
          </p:cNvPr>
          <p:cNvSpPr>
            <a:spLocks xmlns:a="http://schemas.openxmlformats.org/drawingml/2006/main" noGrp="1"/>
          </p:cNvSpPr>
          <p:nvPr/>
        </p:nvSpPr>
        <p:spPr>
          <a:xfrm xmlns:a="http://schemas.openxmlformats.org/drawingml/2006/main">
            <a:off x="6076950" y="1552575"/>
            <a:ext cx="19050" cy="39433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0DB49D3-33C9-40F4-94EA-F2CCFCE4D7B8}"/>
              </a:ext>
            </a:extLst>
          </p:cNvPr>
          <p:cNvSpPr>
            <a:spLocks xmlns:a="http://schemas.openxmlformats.org/drawingml/2006/main" noGrp="1"/>
          </p:cNvSpPr>
          <p:nvPr/>
        </p:nvSpPr>
        <p:spPr>
          <a:xfrm xmlns:a="http://schemas.openxmlformats.org/drawingml/2006/main">
            <a:off x="6610350" y="15430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ON THE DEVICE</a:t>
            </a:r>
          </a:p>
        </p:txBody>
      </p:sp>
      <p:sp>
        <p:nvSpPr>
          <p:cNvPr id="8" name="">
            <a:extLst xmlns:a="http://schemas.openxmlformats.org/drawingml/2006/main">
              <a:ext uri="{FF2B5EF4-FFF2-40B4-BE49-F238E27FC236}">
                <a16:creationId xmlns:a16="http://schemas.microsoft.com/office/drawing/2014/main" id="{B9042116-5B6B-4551-9E25-BEE80DCCBC4A}"/>
              </a:ext>
            </a:extLst>
          </p:cNvPr>
          <p:cNvSpPr>
            <a:spLocks xmlns:a="http://schemas.openxmlformats.org/drawingml/2006/main" noGrp="1"/>
          </p:cNvSpPr>
          <p:nvPr/>
        </p:nvSpPr>
        <p:spPr>
          <a:xfrm xmlns:a="http://schemas.openxmlformats.org/drawingml/2006/main">
            <a:off x="6610350" y="2038350"/>
            <a:ext cx="45243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025" b="0">
                <a:solidFill>
                  <a:srgbClr val="28353A"/>
                </a:solidFill>
                <a:latin typeface="Arial"/>
                <a:ea typeface="Arial"/>
                <a:cs typeface="Arial"/>
              </a:defRPr>
            </a:pPr>
            <a:r>
              <a:rPr sz="2025" b="0">
                <a:solidFill>
                  <a:srgbClr val="28353A"/>
                </a:solidFill>
                <a:latin typeface="Arial"/>
                <a:ea typeface="Arial"/>
                <a:cs typeface="Arial"/>
              </a:rPr>
              <a:t>OLED display</a:t>
            </a:r>
          </a:p>
          <a:p xmlns:a="http://schemas.openxmlformats.org/drawingml/2006/main">
            <a:pPr algn="l">
              <a:buNone/>
              <a:defRPr sz="2025" b="0">
                <a:solidFill>
                  <a:srgbClr val="28353A"/>
                </a:solidFill>
                <a:latin typeface="Arial"/>
                <a:ea typeface="Arial"/>
                <a:cs typeface="Arial"/>
              </a:defRPr>
            </a:pPr>
            <a:r>
              <a:rPr sz="2025" b="0">
                <a:solidFill>
                  <a:srgbClr val="28353A"/>
                </a:solidFill>
                <a:latin typeface="Arial"/>
                <a:ea typeface="Arial"/>
                <a:cs typeface="Arial"/>
              </a:rPr>
              <a:t>3 touch sensors</a:t>
            </a:r>
          </a:p>
          <a:p xmlns:a="http://schemas.openxmlformats.org/drawingml/2006/main">
            <a:pPr algn="l">
              <a:buNone/>
              <a:defRPr sz="2025" b="0">
                <a:solidFill>
                  <a:srgbClr val="28353A"/>
                </a:solidFill>
                <a:latin typeface="Arial"/>
                <a:ea typeface="Arial"/>
                <a:cs typeface="Arial"/>
              </a:defRPr>
            </a:pPr>
            <a:r>
              <a:rPr sz="2025" b="0">
                <a:solidFill>
                  <a:srgbClr val="28353A"/>
                </a:solidFill>
                <a:latin typeface="Arial"/>
                <a:ea typeface="Arial"/>
                <a:cs typeface="Arial"/>
              </a:rPr>
              <a:t>6 compartment LEDs</a:t>
            </a:r>
          </a:p>
          <a:p xmlns:a="http://schemas.openxmlformats.org/drawingml/2006/main">
            <a:pPr algn="l">
              <a:buNone/>
              <a:defRPr sz="2025" b="0">
                <a:solidFill>
                  <a:srgbClr val="28353A"/>
                </a:solidFill>
                <a:latin typeface="Arial"/>
                <a:ea typeface="Arial"/>
                <a:cs typeface="Arial"/>
              </a:defRPr>
            </a:pPr>
            <a:r>
              <a:rPr sz="2025" b="0">
                <a:solidFill>
                  <a:srgbClr val="28353A"/>
                </a:solidFill>
                <a:latin typeface="Arial"/>
                <a:ea typeface="Arial"/>
                <a:cs typeface="Arial"/>
              </a:rPr>
              <a:t>Buzzer</a:t>
            </a:r>
          </a:p>
        </p:txBody>
      </p:sp>
      <p:sp>
        <p:nvSpPr>
          <p:cNvPr id="9" name="">
            <a:extLst xmlns:a="http://schemas.openxmlformats.org/drawingml/2006/main">
              <a:ext uri="{FF2B5EF4-FFF2-40B4-BE49-F238E27FC236}">
                <a16:creationId xmlns:a16="http://schemas.microsoft.com/office/drawing/2014/main" id="{7376972C-B15F-4286-A633-5D807AFDF7BF}"/>
              </a:ext>
            </a:extLst>
          </p:cNvPr>
          <p:cNvSpPr>
            <a:spLocks xmlns:a="http://schemas.openxmlformats.org/drawingml/2006/main" noGrp="1"/>
          </p:cNvSpPr>
          <p:nvPr/>
        </p:nvSpPr>
        <p:spPr>
          <a:xfrm xmlns:a="http://schemas.openxmlformats.org/drawingml/2006/main">
            <a:off x="6610350" y="438150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POWER</a:t>
            </a:r>
          </a:p>
        </p:txBody>
      </p:sp>
      <p:sp>
        <p:nvSpPr>
          <p:cNvPr id="10" name="">
            <a:extLst xmlns:a="http://schemas.openxmlformats.org/drawingml/2006/main">
              <a:ext uri="{FF2B5EF4-FFF2-40B4-BE49-F238E27FC236}">
                <a16:creationId xmlns:a16="http://schemas.microsoft.com/office/drawing/2014/main" id="{8B2F2DD6-8F68-491A-9427-B9F8B35C959B}"/>
              </a:ext>
            </a:extLst>
          </p:cNvPr>
          <p:cNvSpPr>
            <a:spLocks xmlns:a="http://schemas.openxmlformats.org/drawingml/2006/main" noGrp="1"/>
          </p:cNvSpPr>
          <p:nvPr/>
        </p:nvSpPr>
        <p:spPr>
          <a:xfrm xmlns:a="http://schemas.openxmlformats.org/drawingml/2006/main">
            <a:off x="6610350" y="47720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0">
                <a:solidFill>
                  <a:srgbClr val="28353A"/>
                </a:solidFill>
                <a:latin typeface="Arial"/>
                <a:ea typeface="Arial"/>
                <a:cs typeface="Arial"/>
              </a:defRPr>
            </a:pPr>
            <a:r>
              <a:rPr sz="1875" b="0">
                <a:solidFill>
                  <a:srgbClr val="28353A"/>
                </a:solidFill>
                <a:latin typeface="Arial"/>
                <a:ea typeface="Arial"/>
                <a:cs typeface="Arial"/>
              </a:rPr>
              <a:t>Rechargeable battery · USB-C</a:t>
            </a:r>
          </a:p>
        </p:txBody>
      </p:sp>
      <p:sp>
        <p:nvSpPr>
          <p:cNvPr id="11" name="">
            <a:extLst xmlns:a="http://schemas.openxmlformats.org/drawingml/2006/main">
              <a:ext uri="{FF2B5EF4-FFF2-40B4-BE49-F238E27FC236}">
                <a16:creationId xmlns:a16="http://schemas.microsoft.com/office/drawing/2014/main" id="{E0C9C29B-E5B0-42EB-A769-66F4BA775D6E}"/>
              </a:ext>
            </a:extLst>
          </p:cNvPr>
          <p:cNvSpPr>
            <a:spLocks xmlns:a="http://schemas.openxmlformats.org/drawingml/2006/main" noGrp="1"/>
          </p:cNvSpPr>
          <p:nvPr/>
        </p:nvSpPr>
        <p:spPr>
          <a:xfrm xmlns:a="http://schemas.openxmlformats.org/drawingml/2006/main">
            <a:off x="800100" y="58197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68787A"/>
                </a:solidFill>
                <a:latin typeface="Arial"/>
                <a:ea typeface="Arial"/>
                <a:cs typeface="Arial"/>
              </a:defRPr>
            </a:pPr>
            <a:r>
              <a:rPr sz="1650" b="0">
                <a:solidFill>
                  <a:srgbClr val="68787A"/>
                </a:solidFill>
                <a:latin typeface="Arial"/>
                <a:ea typeface="Arial"/>
                <a:cs typeface="Arial"/>
              </a:rPr>
              <a:t>Users can enter basic settings directly on the device or through the planned app.</a:t>
            </a:r>
          </a:p>
        </p:txBody>
      </p:sp>
    </p:spTree>
    <p:extLst>
      <p:ext uri="{BB962C8B-B14F-4D97-AF65-F5344CB8AC3E}">
        <p14:creationId xmlns:p14="http://schemas.microsoft.com/office/powerpoint/2010/main" val="965953186"/>
      </p:ext>
    </p:extLst>
  </p:cSld>
</p:sld>
</file>

<file path=ppt/slides/slide1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52B113D3-BA59-4398-B88B-92CA5BA18C94}"/>
              </a:ext>
            </a:extLst>
          </p:cNvPr>
          <p:cNvSpPr>
            <a:spLocks xmlns:a="http://schemas.openxmlformats.org/drawingml/2006/main" noGrp="1"/>
          </p:cNvSpPr>
          <p:nvPr/>
        </p:nvSpPr>
        <p:spPr>
          <a:xfrm xmlns:a="http://schemas.openxmlformats.org/drawingml/2006/main">
            <a:off x="723900" y="3333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HANDWRITTEN COMPONENT LIST</a:t>
            </a:r>
          </a:p>
        </p:txBody>
      </p:sp>
      <p:sp>
        <p:nvSpPr>
          <p:cNvPr id="2" name="">
            <a:extLst xmlns:a="http://schemas.openxmlformats.org/drawingml/2006/main">
              <a:ext uri="{FF2B5EF4-FFF2-40B4-BE49-F238E27FC236}">
                <a16:creationId xmlns:a16="http://schemas.microsoft.com/office/drawing/2014/main" id="{8E9B49F2-C691-4F5E-A12C-9AD21845019A}"/>
              </a:ext>
            </a:extLst>
          </p:cNvPr>
          <p:cNvSpPr>
            <a:spLocks xmlns:a="http://schemas.openxmlformats.org/drawingml/2006/main" noGrp="1"/>
          </p:cNvSpPr>
          <p:nvPr/>
        </p:nvSpPr>
        <p:spPr>
          <a:xfrm xmlns:a="http://schemas.openxmlformats.org/drawingml/2006/main">
            <a:off x="723900" y="62865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Desk version parts estimate</a:t>
            </a:r>
          </a:p>
        </p:txBody>
      </p:sp>
      <p:sp>
        <p:nvSpPr>
          <p:cNvPr id="3" name="">
            <a:extLst xmlns:a="http://schemas.openxmlformats.org/drawingml/2006/main">
              <a:ext uri="{FF2B5EF4-FFF2-40B4-BE49-F238E27FC236}">
                <a16:creationId xmlns:a16="http://schemas.microsoft.com/office/drawing/2014/main" id="{8D4B1A3F-4304-4233-BBC0-9FD2BF22656F}"/>
              </a:ext>
            </a:extLst>
          </p:cNvPr>
          <p:cNvSpPr>
            <a:spLocks xmlns:a="http://schemas.openxmlformats.org/drawingml/2006/main" noGrp="1"/>
          </p:cNvSpPr>
          <p:nvPr/>
        </p:nvSpPr>
        <p:spPr>
          <a:xfrm xmlns:a="http://schemas.openxmlformats.org/drawingml/2006/main">
            <a:off x="800100" y="13430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PARTS AND QUANTITIES</a:t>
            </a:r>
          </a:p>
        </p:txBody>
      </p:sp>
      <p:sp>
        <p:nvSpPr>
          <p:cNvPr id="4" name="">
            <a:extLst xmlns:a="http://schemas.openxmlformats.org/drawingml/2006/main">
              <a:ext uri="{FF2B5EF4-FFF2-40B4-BE49-F238E27FC236}">
                <a16:creationId xmlns:a16="http://schemas.microsoft.com/office/drawing/2014/main" id="{52505653-8BB7-4548-A99C-BA4D3BEBA5DC}"/>
              </a:ext>
            </a:extLst>
          </p:cNvPr>
          <p:cNvSpPr>
            <a:spLocks xmlns:a="http://schemas.openxmlformats.org/drawingml/2006/main" noGrp="1"/>
          </p:cNvSpPr>
          <p:nvPr/>
        </p:nvSpPr>
        <p:spPr>
          <a:xfrm xmlns:a="http://schemas.openxmlformats.org/drawingml/2006/main">
            <a:off x="4819650" y="13430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275" b="1">
                <a:solidFill>
                  <a:srgbClr val="4D858A"/>
                </a:solidFill>
                <a:latin typeface="Arial"/>
                <a:ea typeface="Arial"/>
                <a:cs typeface="Arial"/>
              </a:defRPr>
            </a:pPr>
            <a:r>
              <a:rPr sz="1275" b="1">
                <a:solidFill>
                  <a:srgbClr val="4D858A"/>
                </a:solidFill>
                <a:latin typeface="Arial"/>
                <a:ea typeface="Arial"/>
                <a:cs typeface="Arial"/>
              </a:rPr>
              <a:t>AMOUNT</a:t>
            </a:r>
          </a:p>
        </p:txBody>
      </p:sp>
      <p:sp>
        <p:nvSpPr>
          <p:cNvPr id="5" name="">
            <a:extLst xmlns:a="http://schemas.openxmlformats.org/drawingml/2006/main">
              <a:ext uri="{FF2B5EF4-FFF2-40B4-BE49-F238E27FC236}">
                <a16:creationId xmlns:a16="http://schemas.microsoft.com/office/drawing/2014/main" id="{8259ED45-17B0-4921-8FE2-BBCA840B3327}"/>
              </a:ext>
            </a:extLst>
          </p:cNvPr>
          <p:cNvSpPr>
            <a:spLocks xmlns:a="http://schemas.openxmlformats.org/drawingml/2006/main" noGrp="1"/>
          </p:cNvSpPr>
          <p:nvPr/>
        </p:nvSpPr>
        <p:spPr>
          <a:xfrm xmlns:a="http://schemas.openxmlformats.org/drawingml/2006/main">
            <a:off x="6324600" y="13430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PARTS AND QUANTITIES</a:t>
            </a:r>
          </a:p>
        </p:txBody>
      </p:sp>
      <p:sp>
        <p:nvSpPr>
          <p:cNvPr id="6" name="">
            <a:extLst xmlns:a="http://schemas.openxmlformats.org/drawingml/2006/main">
              <a:ext uri="{FF2B5EF4-FFF2-40B4-BE49-F238E27FC236}">
                <a16:creationId xmlns:a16="http://schemas.microsoft.com/office/drawing/2014/main" id="{68D819CE-3BB6-4931-A8FE-C31C569B2457}"/>
              </a:ext>
            </a:extLst>
          </p:cNvPr>
          <p:cNvSpPr>
            <a:spLocks xmlns:a="http://schemas.openxmlformats.org/drawingml/2006/main" noGrp="1"/>
          </p:cNvSpPr>
          <p:nvPr/>
        </p:nvSpPr>
        <p:spPr>
          <a:xfrm xmlns:a="http://schemas.openxmlformats.org/drawingml/2006/main">
            <a:off x="10325100" y="13430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275" b="1">
                <a:solidFill>
                  <a:srgbClr val="4D858A"/>
                </a:solidFill>
                <a:latin typeface="Arial"/>
                <a:ea typeface="Arial"/>
                <a:cs typeface="Arial"/>
              </a:defRPr>
            </a:pPr>
            <a:r>
              <a:rPr sz="1275" b="1">
                <a:solidFill>
                  <a:srgbClr val="4D858A"/>
                </a:solidFill>
                <a:latin typeface="Arial"/>
                <a:ea typeface="Arial"/>
                <a:cs typeface="Arial"/>
              </a:rPr>
              <a:t>AMOUNT</a:t>
            </a:r>
          </a:p>
        </p:txBody>
      </p:sp>
      <p:sp>
        <p:nvSpPr>
          <p:cNvPr id="7" name="">
            <a:extLst xmlns:a="http://schemas.openxmlformats.org/drawingml/2006/main">
              <a:ext uri="{FF2B5EF4-FFF2-40B4-BE49-F238E27FC236}">
                <a16:creationId xmlns:a16="http://schemas.microsoft.com/office/drawing/2014/main" id="{12579812-D3EF-4A04-ABB6-28D5A875D860}"/>
              </a:ext>
            </a:extLst>
          </p:cNvPr>
          <p:cNvSpPr>
            <a:spLocks xmlns:a="http://schemas.openxmlformats.org/drawingml/2006/main" noGrp="1"/>
          </p:cNvSpPr>
          <p:nvPr/>
        </p:nvSpPr>
        <p:spPr>
          <a:xfrm xmlns:a="http://schemas.openxmlformats.org/drawingml/2006/main">
            <a:off x="800100" y="176212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425" b="0">
                <a:solidFill>
                  <a:srgbClr val="28353A"/>
                </a:solidFill>
                <a:latin typeface="Arial"/>
                <a:ea typeface="Arial"/>
                <a:cs typeface="Arial"/>
              </a:defRPr>
            </a:pPr>
            <a:r>
              <a:rPr sz="1425" b="0">
                <a:solidFill>
                  <a:srgbClr val="28353A"/>
                </a:solidFill>
                <a:latin typeface="Arial"/>
                <a:ea typeface="Arial"/>
                <a:cs typeface="Arial"/>
              </a:rPr>
              <a:t>ESP32 · 1</a:t>
            </a:r>
          </a:p>
        </p:txBody>
      </p:sp>
      <p:sp>
        <p:nvSpPr>
          <p:cNvPr id="8" name="">
            <a:extLst xmlns:a="http://schemas.openxmlformats.org/drawingml/2006/main">
              <a:ext uri="{FF2B5EF4-FFF2-40B4-BE49-F238E27FC236}">
                <a16:creationId xmlns:a16="http://schemas.microsoft.com/office/drawing/2014/main" id="{899F079C-55D4-490F-8661-4B0291227E57}"/>
              </a:ext>
            </a:extLst>
          </p:cNvPr>
          <p:cNvSpPr>
            <a:spLocks xmlns:a="http://schemas.openxmlformats.org/drawingml/2006/main" noGrp="1"/>
          </p:cNvSpPr>
          <p:nvPr/>
        </p:nvSpPr>
        <p:spPr>
          <a:xfrm xmlns:a="http://schemas.openxmlformats.org/drawingml/2006/main">
            <a:off x="4762500" y="1762125"/>
            <a:ext cx="110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425" b="0">
                <a:solidFill>
                  <a:srgbClr val="28353A"/>
                </a:solidFill>
                <a:latin typeface="Arial"/>
                <a:ea typeface="Arial"/>
                <a:cs typeface="Arial"/>
              </a:defRPr>
            </a:pPr>
            <a:r>
              <a:rPr sz="1425" b="0">
                <a:solidFill>
                  <a:srgbClr val="28353A"/>
                </a:solidFill>
                <a:latin typeface="Arial"/>
                <a:ea typeface="Arial"/>
                <a:cs typeface="Arial"/>
              </a:rPr>
              <a:t>425</a:t>
            </a:r>
          </a:p>
        </p:txBody>
      </p:sp>
      <p:sp>
        <p:nvSpPr>
          <p:cNvPr id="9" name="">
            <a:extLst xmlns:a="http://schemas.openxmlformats.org/drawingml/2006/main">
              <a:ext uri="{FF2B5EF4-FFF2-40B4-BE49-F238E27FC236}">
                <a16:creationId xmlns:a16="http://schemas.microsoft.com/office/drawing/2014/main" id="{9C9C44D0-0F5B-4C19-AB3A-CEDC6967D725}"/>
              </a:ext>
            </a:extLst>
          </p:cNvPr>
          <p:cNvSpPr>
            <a:spLocks xmlns:a="http://schemas.openxmlformats.org/drawingml/2006/main" noGrp="1"/>
          </p:cNvSpPr>
          <p:nvPr/>
        </p:nvSpPr>
        <p:spPr>
          <a:xfrm xmlns:a="http://schemas.openxmlformats.org/drawingml/2006/main">
            <a:off x="800100" y="2171700"/>
            <a:ext cx="506730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22D18D0-CE90-47F9-8BC4-D58AA052A731}"/>
              </a:ext>
            </a:extLst>
          </p:cNvPr>
          <p:cNvSpPr>
            <a:spLocks xmlns:a="http://schemas.openxmlformats.org/drawingml/2006/main" noGrp="1"/>
          </p:cNvSpPr>
          <p:nvPr/>
        </p:nvSpPr>
        <p:spPr>
          <a:xfrm xmlns:a="http://schemas.openxmlformats.org/drawingml/2006/main">
            <a:off x="800100" y="22288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425" b="0">
                <a:solidFill>
                  <a:srgbClr val="28353A"/>
                </a:solidFill>
                <a:latin typeface="Arial"/>
                <a:ea typeface="Arial"/>
                <a:cs typeface="Arial"/>
              </a:defRPr>
            </a:pPr>
            <a:r>
              <a:rPr sz="1425" b="0">
                <a:solidFill>
                  <a:srgbClr val="28353A"/>
                </a:solidFill>
                <a:latin typeface="Arial"/>
                <a:ea typeface="Arial"/>
                <a:cs typeface="Arial"/>
              </a:rPr>
              <a:t>1 kg full-bridge load cell · 2</a:t>
            </a:r>
          </a:p>
        </p:txBody>
      </p:sp>
      <p:sp>
        <p:nvSpPr>
          <p:cNvPr id="11" name="">
            <a:extLst xmlns:a="http://schemas.openxmlformats.org/drawingml/2006/main">
              <a:ext uri="{FF2B5EF4-FFF2-40B4-BE49-F238E27FC236}">
                <a16:creationId xmlns:a16="http://schemas.microsoft.com/office/drawing/2014/main" id="{17CD5129-419E-4EA3-BD08-AEFCF839F5AB}"/>
              </a:ext>
            </a:extLst>
          </p:cNvPr>
          <p:cNvSpPr>
            <a:spLocks xmlns:a="http://schemas.openxmlformats.org/drawingml/2006/main" noGrp="1"/>
          </p:cNvSpPr>
          <p:nvPr/>
        </p:nvSpPr>
        <p:spPr>
          <a:xfrm xmlns:a="http://schemas.openxmlformats.org/drawingml/2006/main">
            <a:off x="4762500" y="2228850"/>
            <a:ext cx="110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425" b="0">
                <a:solidFill>
                  <a:srgbClr val="28353A"/>
                </a:solidFill>
                <a:latin typeface="Arial"/>
                <a:ea typeface="Arial"/>
                <a:cs typeface="Arial"/>
              </a:defRPr>
            </a:pPr>
            <a:r>
              <a:rPr sz="1425" b="0">
                <a:solidFill>
                  <a:srgbClr val="28353A"/>
                </a:solidFill>
                <a:latin typeface="Arial"/>
                <a:ea typeface="Arial"/>
                <a:cs typeface="Arial"/>
              </a:rPr>
              <a:t>119 each</a:t>
            </a:r>
          </a:p>
        </p:txBody>
      </p:sp>
      <p:sp>
        <p:nvSpPr>
          <p:cNvPr id="12" name="">
            <a:extLst xmlns:a="http://schemas.openxmlformats.org/drawingml/2006/main">
              <a:ext uri="{FF2B5EF4-FFF2-40B4-BE49-F238E27FC236}">
                <a16:creationId xmlns:a16="http://schemas.microsoft.com/office/drawing/2014/main" id="{FA35FE3B-E001-4CE8-82AC-1C985B4F59FC}"/>
              </a:ext>
            </a:extLst>
          </p:cNvPr>
          <p:cNvSpPr>
            <a:spLocks xmlns:a="http://schemas.openxmlformats.org/drawingml/2006/main" noGrp="1"/>
          </p:cNvSpPr>
          <p:nvPr/>
        </p:nvSpPr>
        <p:spPr>
          <a:xfrm xmlns:a="http://schemas.openxmlformats.org/drawingml/2006/main">
            <a:off x="800100" y="2638425"/>
            <a:ext cx="506730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37AE03E-AD60-44CA-8B71-5F63E18B933B}"/>
              </a:ext>
            </a:extLst>
          </p:cNvPr>
          <p:cNvSpPr>
            <a:spLocks xmlns:a="http://schemas.openxmlformats.org/drawingml/2006/main" noGrp="1"/>
          </p:cNvSpPr>
          <p:nvPr/>
        </p:nvSpPr>
        <p:spPr>
          <a:xfrm xmlns:a="http://schemas.openxmlformats.org/drawingml/2006/main">
            <a:off x="800100" y="269557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425" b="0">
                <a:solidFill>
                  <a:srgbClr val="28353A"/>
                </a:solidFill>
                <a:latin typeface="Arial"/>
                <a:ea typeface="Arial"/>
                <a:cs typeface="Arial"/>
              </a:defRPr>
            </a:pPr>
            <a:r>
              <a:rPr sz="1425" b="0">
                <a:solidFill>
                  <a:srgbClr val="28353A"/>
                </a:solidFill>
                <a:latin typeface="Arial"/>
                <a:ea typeface="Arial"/>
                <a:cs typeface="Arial"/>
              </a:rPr>
              <a:t>50 kg slim half-bridge load cell · 2</a:t>
            </a:r>
          </a:p>
        </p:txBody>
      </p:sp>
      <p:sp>
        <p:nvSpPr>
          <p:cNvPr id="14" name="">
            <a:extLst xmlns:a="http://schemas.openxmlformats.org/drawingml/2006/main">
              <a:ext uri="{FF2B5EF4-FFF2-40B4-BE49-F238E27FC236}">
                <a16:creationId xmlns:a16="http://schemas.microsoft.com/office/drawing/2014/main" id="{9A6F34F2-E180-4E2C-BE5B-EABDBF82C11A}"/>
              </a:ext>
            </a:extLst>
          </p:cNvPr>
          <p:cNvSpPr>
            <a:spLocks xmlns:a="http://schemas.openxmlformats.org/drawingml/2006/main" noGrp="1"/>
          </p:cNvSpPr>
          <p:nvPr/>
        </p:nvSpPr>
        <p:spPr>
          <a:xfrm xmlns:a="http://schemas.openxmlformats.org/drawingml/2006/main">
            <a:off x="4762500" y="2695575"/>
            <a:ext cx="110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425" b="0">
                <a:solidFill>
                  <a:srgbClr val="28353A"/>
                </a:solidFill>
                <a:latin typeface="Arial"/>
                <a:ea typeface="Arial"/>
                <a:cs typeface="Arial"/>
              </a:defRPr>
            </a:pPr>
            <a:r>
              <a:rPr sz="1425" b="0">
                <a:solidFill>
                  <a:srgbClr val="28353A"/>
                </a:solidFill>
                <a:latin typeface="Arial"/>
                <a:ea typeface="Arial"/>
                <a:cs typeface="Arial"/>
              </a:rPr>
              <a:t>55 each</a:t>
            </a:r>
          </a:p>
        </p:txBody>
      </p:sp>
      <p:sp>
        <p:nvSpPr>
          <p:cNvPr id="15" name="">
            <a:extLst xmlns:a="http://schemas.openxmlformats.org/drawingml/2006/main">
              <a:ext uri="{FF2B5EF4-FFF2-40B4-BE49-F238E27FC236}">
                <a16:creationId xmlns:a16="http://schemas.microsoft.com/office/drawing/2014/main" id="{E861935A-830D-4D77-8944-218A42423588}"/>
              </a:ext>
            </a:extLst>
          </p:cNvPr>
          <p:cNvSpPr>
            <a:spLocks xmlns:a="http://schemas.openxmlformats.org/drawingml/2006/main" noGrp="1"/>
          </p:cNvSpPr>
          <p:nvPr/>
        </p:nvSpPr>
        <p:spPr>
          <a:xfrm xmlns:a="http://schemas.openxmlformats.org/drawingml/2006/main">
            <a:off x="800100" y="3105150"/>
            <a:ext cx="506730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212D5A5-C40D-4746-92A2-4FC102DD30DE}"/>
              </a:ext>
            </a:extLst>
          </p:cNvPr>
          <p:cNvSpPr>
            <a:spLocks xmlns:a="http://schemas.openxmlformats.org/drawingml/2006/main" noGrp="1"/>
          </p:cNvSpPr>
          <p:nvPr/>
        </p:nvSpPr>
        <p:spPr>
          <a:xfrm xmlns:a="http://schemas.openxmlformats.org/drawingml/2006/main">
            <a:off x="800100" y="31623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425" b="0">
                <a:solidFill>
                  <a:srgbClr val="28353A"/>
                </a:solidFill>
                <a:latin typeface="Arial"/>
                <a:ea typeface="Arial"/>
                <a:cs typeface="Arial"/>
              </a:defRPr>
            </a:pPr>
            <a:r>
              <a:rPr sz="1425" b="0">
                <a:solidFill>
                  <a:srgbClr val="28353A"/>
                </a:solidFill>
                <a:latin typeface="Arial"/>
                <a:ea typeface="Arial"/>
                <a:cs typeface="Arial"/>
              </a:rPr>
              <a:t>HX711 amplifier · 4</a:t>
            </a:r>
          </a:p>
        </p:txBody>
      </p:sp>
      <p:sp>
        <p:nvSpPr>
          <p:cNvPr id="17" name="">
            <a:extLst xmlns:a="http://schemas.openxmlformats.org/drawingml/2006/main">
              <a:ext uri="{FF2B5EF4-FFF2-40B4-BE49-F238E27FC236}">
                <a16:creationId xmlns:a16="http://schemas.microsoft.com/office/drawing/2014/main" id="{E5AA8410-F618-414B-B26C-00FBF4C83195}"/>
              </a:ext>
            </a:extLst>
          </p:cNvPr>
          <p:cNvSpPr>
            <a:spLocks xmlns:a="http://schemas.openxmlformats.org/drawingml/2006/main" noGrp="1"/>
          </p:cNvSpPr>
          <p:nvPr/>
        </p:nvSpPr>
        <p:spPr>
          <a:xfrm xmlns:a="http://schemas.openxmlformats.org/drawingml/2006/main">
            <a:off x="4762500" y="3162300"/>
            <a:ext cx="110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425" b="0">
                <a:solidFill>
                  <a:srgbClr val="28353A"/>
                </a:solidFill>
                <a:latin typeface="Arial"/>
                <a:ea typeface="Arial"/>
                <a:cs typeface="Arial"/>
              </a:defRPr>
            </a:pPr>
            <a:r>
              <a:rPr sz="1425" b="0">
                <a:solidFill>
                  <a:srgbClr val="28353A"/>
                </a:solidFill>
                <a:latin typeface="Arial"/>
                <a:ea typeface="Arial"/>
                <a:cs typeface="Arial"/>
              </a:rPr>
              <a:t>129 each</a:t>
            </a:r>
          </a:p>
        </p:txBody>
      </p:sp>
      <p:sp>
        <p:nvSpPr>
          <p:cNvPr id="18" name="">
            <a:extLst xmlns:a="http://schemas.openxmlformats.org/drawingml/2006/main">
              <a:ext uri="{FF2B5EF4-FFF2-40B4-BE49-F238E27FC236}">
                <a16:creationId xmlns:a16="http://schemas.microsoft.com/office/drawing/2014/main" id="{E6C07B45-55AF-466D-90C6-F76E7757E7B6}"/>
              </a:ext>
            </a:extLst>
          </p:cNvPr>
          <p:cNvSpPr>
            <a:spLocks xmlns:a="http://schemas.openxmlformats.org/drawingml/2006/main" noGrp="1"/>
          </p:cNvSpPr>
          <p:nvPr/>
        </p:nvSpPr>
        <p:spPr>
          <a:xfrm xmlns:a="http://schemas.openxmlformats.org/drawingml/2006/main">
            <a:off x="800100" y="3571875"/>
            <a:ext cx="506730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802F553-75CB-49D7-8A64-5FB213BD7463}"/>
              </a:ext>
            </a:extLst>
          </p:cNvPr>
          <p:cNvSpPr>
            <a:spLocks xmlns:a="http://schemas.openxmlformats.org/drawingml/2006/main" noGrp="1"/>
          </p:cNvSpPr>
          <p:nvPr/>
        </p:nvSpPr>
        <p:spPr>
          <a:xfrm xmlns:a="http://schemas.openxmlformats.org/drawingml/2006/main">
            <a:off x="800100" y="362902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425" b="0">
                <a:solidFill>
                  <a:srgbClr val="28353A"/>
                </a:solidFill>
                <a:latin typeface="Arial"/>
                <a:ea typeface="Arial"/>
                <a:cs typeface="Arial"/>
              </a:defRPr>
            </a:pPr>
            <a:r>
              <a:rPr sz="1425" b="0">
                <a:solidFill>
                  <a:srgbClr val="28353A"/>
                </a:solidFill>
                <a:latin typeface="Arial"/>
                <a:ea typeface="Arial"/>
                <a:cs typeface="Arial"/>
              </a:rPr>
              <a:t>IR / optical sensor · 2</a:t>
            </a:r>
          </a:p>
        </p:txBody>
      </p:sp>
      <p:sp>
        <p:nvSpPr>
          <p:cNvPr id="20" name="">
            <a:extLst xmlns:a="http://schemas.openxmlformats.org/drawingml/2006/main">
              <a:ext uri="{FF2B5EF4-FFF2-40B4-BE49-F238E27FC236}">
                <a16:creationId xmlns:a16="http://schemas.microsoft.com/office/drawing/2014/main" id="{5B0F640A-3B84-4585-A303-C0F1915A2CF6}"/>
              </a:ext>
            </a:extLst>
          </p:cNvPr>
          <p:cNvSpPr>
            <a:spLocks xmlns:a="http://schemas.openxmlformats.org/drawingml/2006/main" noGrp="1"/>
          </p:cNvSpPr>
          <p:nvPr/>
        </p:nvSpPr>
        <p:spPr>
          <a:xfrm xmlns:a="http://schemas.openxmlformats.org/drawingml/2006/main">
            <a:off x="4762500" y="3629025"/>
            <a:ext cx="110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425" b="0">
                <a:solidFill>
                  <a:srgbClr val="28353A"/>
                </a:solidFill>
                <a:latin typeface="Arial"/>
                <a:ea typeface="Arial"/>
                <a:cs typeface="Arial"/>
              </a:defRPr>
            </a:pPr>
            <a:r>
              <a:rPr sz="1425" b="0">
                <a:solidFill>
                  <a:srgbClr val="28353A"/>
                </a:solidFill>
                <a:latin typeface="Arial"/>
                <a:ea typeface="Arial"/>
                <a:cs typeface="Arial"/>
              </a:rPr>
              <a:t>48 each</a:t>
            </a:r>
          </a:p>
        </p:txBody>
      </p:sp>
      <p:sp>
        <p:nvSpPr>
          <p:cNvPr id="21" name="">
            <a:extLst xmlns:a="http://schemas.openxmlformats.org/drawingml/2006/main">
              <a:ext uri="{FF2B5EF4-FFF2-40B4-BE49-F238E27FC236}">
                <a16:creationId xmlns:a16="http://schemas.microsoft.com/office/drawing/2014/main" id="{C9012675-5250-4370-9033-10D6400916B8}"/>
              </a:ext>
            </a:extLst>
          </p:cNvPr>
          <p:cNvSpPr>
            <a:spLocks xmlns:a="http://schemas.openxmlformats.org/drawingml/2006/main" noGrp="1"/>
          </p:cNvSpPr>
          <p:nvPr/>
        </p:nvSpPr>
        <p:spPr>
          <a:xfrm xmlns:a="http://schemas.openxmlformats.org/drawingml/2006/main">
            <a:off x="800100" y="4038600"/>
            <a:ext cx="506730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8BB8FFB-ED5E-4742-AF7B-63C763B1FC0C}"/>
              </a:ext>
            </a:extLst>
          </p:cNvPr>
          <p:cNvSpPr>
            <a:spLocks xmlns:a="http://schemas.openxmlformats.org/drawingml/2006/main" noGrp="1"/>
          </p:cNvSpPr>
          <p:nvPr/>
        </p:nvSpPr>
        <p:spPr>
          <a:xfrm xmlns:a="http://schemas.openxmlformats.org/drawingml/2006/main">
            <a:off x="800100" y="40957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425" b="0">
                <a:solidFill>
                  <a:srgbClr val="28353A"/>
                </a:solidFill>
                <a:latin typeface="Arial"/>
                <a:ea typeface="Arial"/>
                <a:cs typeface="Arial"/>
              </a:defRPr>
            </a:pPr>
            <a:r>
              <a:rPr sz="1425" b="0">
                <a:solidFill>
                  <a:srgbClr val="28353A"/>
                </a:solidFill>
                <a:latin typeface="Arial"/>
                <a:ea typeface="Arial"/>
                <a:cs typeface="Arial"/>
              </a:rPr>
              <a:t>Addressable LEDs · 8+ (10-piece pack)</a:t>
            </a:r>
          </a:p>
        </p:txBody>
      </p:sp>
      <p:sp>
        <p:nvSpPr>
          <p:cNvPr id="23" name="">
            <a:extLst xmlns:a="http://schemas.openxmlformats.org/drawingml/2006/main">
              <a:ext uri="{FF2B5EF4-FFF2-40B4-BE49-F238E27FC236}">
                <a16:creationId xmlns:a16="http://schemas.microsoft.com/office/drawing/2014/main" id="{B50F4830-4DA7-453F-83B4-68596F03F315}"/>
              </a:ext>
            </a:extLst>
          </p:cNvPr>
          <p:cNvSpPr>
            <a:spLocks xmlns:a="http://schemas.openxmlformats.org/drawingml/2006/main" noGrp="1"/>
          </p:cNvSpPr>
          <p:nvPr/>
        </p:nvSpPr>
        <p:spPr>
          <a:xfrm xmlns:a="http://schemas.openxmlformats.org/drawingml/2006/main">
            <a:off x="4762500" y="4095750"/>
            <a:ext cx="110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425" b="0">
                <a:solidFill>
                  <a:srgbClr val="28353A"/>
                </a:solidFill>
                <a:latin typeface="Arial"/>
                <a:ea typeface="Arial"/>
                <a:cs typeface="Arial"/>
              </a:defRPr>
            </a:pPr>
            <a:r>
              <a:rPr sz="1425" b="0">
                <a:solidFill>
                  <a:srgbClr val="28353A"/>
                </a:solidFill>
                <a:latin typeface="Arial"/>
                <a:ea typeface="Arial"/>
                <a:cs typeface="Arial"/>
              </a:rPr>
              <a:t>50 / pack</a:t>
            </a:r>
          </a:p>
        </p:txBody>
      </p:sp>
      <p:sp>
        <p:nvSpPr>
          <p:cNvPr id="24" name="">
            <a:extLst xmlns:a="http://schemas.openxmlformats.org/drawingml/2006/main">
              <a:ext uri="{FF2B5EF4-FFF2-40B4-BE49-F238E27FC236}">
                <a16:creationId xmlns:a16="http://schemas.microsoft.com/office/drawing/2014/main" id="{A3DA911B-F040-4F69-9B49-67689573B6A5}"/>
              </a:ext>
            </a:extLst>
          </p:cNvPr>
          <p:cNvSpPr>
            <a:spLocks xmlns:a="http://schemas.openxmlformats.org/drawingml/2006/main" noGrp="1"/>
          </p:cNvSpPr>
          <p:nvPr/>
        </p:nvSpPr>
        <p:spPr>
          <a:xfrm xmlns:a="http://schemas.openxmlformats.org/drawingml/2006/main">
            <a:off x="800100" y="4505325"/>
            <a:ext cx="506730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14EB331-8EBB-41E4-9BBC-EB531D236D04}"/>
              </a:ext>
            </a:extLst>
          </p:cNvPr>
          <p:cNvSpPr>
            <a:spLocks xmlns:a="http://schemas.openxmlformats.org/drawingml/2006/main" noGrp="1"/>
          </p:cNvSpPr>
          <p:nvPr/>
        </p:nvSpPr>
        <p:spPr>
          <a:xfrm xmlns:a="http://schemas.openxmlformats.org/drawingml/2006/main">
            <a:off x="800100" y="456247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425" b="0">
                <a:solidFill>
                  <a:srgbClr val="28353A"/>
                </a:solidFill>
                <a:latin typeface="Arial"/>
                <a:ea typeface="Arial"/>
                <a:cs typeface="Arial"/>
              </a:defRPr>
            </a:pPr>
            <a:r>
              <a:rPr sz="1425" b="0">
                <a:solidFill>
                  <a:srgbClr val="28353A"/>
                </a:solidFill>
                <a:latin typeface="Arial"/>
                <a:ea typeface="Arial"/>
                <a:cs typeface="Arial"/>
              </a:rPr>
              <a:t>Buzzer · 1</a:t>
            </a:r>
          </a:p>
        </p:txBody>
      </p:sp>
      <p:sp>
        <p:nvSpPr>
          <p:cNvPr id="26" name="">
            <a:extLst xmlns:a="http://schemas.openxmlformats.org/drawingml/2006/main">
              <a:ext uri="{FF2B5EF4-FFF2-40B4-BE49-F238E27FC236}">
                <a16:creationId xmlns:a16="http://schemas.microsoft.com/office/drawing/2014/main" id="{60B39D52-BA52-44A0-A40D-7242CED8E0A0}"/>
              </a:ext>
            </a:extLst>
          </p:cNvPr>
          <p:cNvSpPr>
            <a:spLocks xmlns:a="http://schemas.openxmlformats.org/drawingml/2006/main" noGrp="1"/>
          </p:cNvSpPr>
          <p:nvPr/>
        </p:nvSpPr>
        <p:spPr>
          <a:xfrm xmlns:a="http://schemas.openxmlformats.org/drawingml/2006/main">
            <a:off x="4762500" y="4562475"/>
            <a:ext cx="110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425" b="0">
                <a:solidFill>
                  <a:srgbClr val="28353A"/>
                </a:solidFill>
                <a:latin typeface="Arial"/>
                <a:ea typeface="Arial"/>
                <a:cs typeface="Arial"/>
              </a:defRPr>
            </a:pPr>
            <a:r>
              <a:rPr sz="1425" b="0">
                <a:solidFill>
                  <a:srgbClr val="28353A"/>
                </a:solidFill>
                <a:latin typeface="Arial"/>
                <a:ea typeface="Arial"/>
                <a:cs typeface="Arial"/>
              </a:rPr>
              <a:t>14</a:t>
            </a:r>
          </a:p>
        </p:txBody>
      </p:sp>
      <p:sp>
        <p:nvSpPr>
          <p:cNvPr id="27" name="">
            <a:extLst xmlns:a="http://schemas.openxmlformats.org/drawingml/2006/main">
              <a:ext uri="{FF2B5EF4-FFF2-40B4-BE49-F238E27FC236}">
                <a16:creationId xmlns:a16="http://schemas.microsoft.com/office/drawing/2014/main" id="{C4D83349-B1C1-4146-8523-B12C91CD22D8}"/>
              </a:ext>
            </a:extLst>
          </p:cNvPr>
          <p:cNvSpPr>
            <a:spLocks xmlns:a="http://schemas.openxmlformats.org/drawingml/2006/main" noGrp="1"/>
          </p:cNvSpPr>
          <p:nvPr/>
        </p:nvSpPr>
        <p:spPr>
          <a:xfrm xmlns:a="http://schemas.openxmlformats.org/drawingml/2006/main">
            <a:off x="6324600" y="176212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425" b="0">
                <a:solidFill>
                  <a:srgbClr val="28353A"/>
                </a:solidFill>
                <a:latin typeface="Arial"/>
                <a:ea typeface="Arial"/>
                <a:cs typeface="Arial"/>
              </a:defRPr>
            </a:pPr>
            <a:r>
              <a:rPr sz="1425" b="0">
                <a:solidFill>
                  <a:srgbClr val="28353A"/>
                </a:solidFill>
                <a:latin typeface="Arial"/>
                <a:ea typeface="Arial"/>
                <a:cs typeface="Arial"/>
              </a:rPr>
              <a:t>OLED display, 0.91 inch · 1</a:t>
            </a:r>
          </a:p>
        </p:txBody>
      </p:sp>
      <p:sp>
        <p:nvSpPr>
          <p:cNvPr id="28" name="">
            <a:extLst xmlns:a="http://schemas.openxmlformats.org/drawingml/2006/main">
              <a:ext uri="{FF2B5EF4-FFF2-40B4-BE49-F238E27FC236}">
                <a16:creationId xmlns:a16="http://schemas.microsoft.com/office/drawing/2014/main" id="{59293F44-EB74-46B5-A318-4F92EDE54B27}"/>
              </a:ext>
            </a:extLst>
          </p:cNvPr>
          <p:cNvSpPr>
            <a:spLocks xmlns:a="http://schemas.openxmlformats.org/drawingml/2006/main" noGrp="1"/>
          </p:cNvSpPr>
          <p:nvPr/>
        </p:nvSpPr>
        <p:spPr>
          <a:xfrm xmlns:a="http://schemas.openxmlformats.org/drawingml/2006/main">
            <a:off x="10267950" y="1762125"/>
            <a:ext cx="110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425" b="0">
                <a:solidFill>
                  <a:srgbClr val="28353A"/>
                </a:solidFill>
                <a:latin typeface="Arial"/>
                <a:ea typeface="Arial"/>
                <a:cs typeface="Arial"/>
              </a:defRPr>
            </a:pPr>
            <a:r>
              <a:rPr sz="1425" b="0">
                <a:solidFill>
                  <a:srgbClr val="28353A"/>
                </a:solidFill>
                <a:latin typeface="Arial"/>
                <a:ea typeface="Arial"/>
                <a:cs typeface="Arial"/>
              </a:rPr>
              <a:t>149</a:t>
            </a:r>
          </a:p>
        </p:txBody>
      </p:sp>
      <p:sp>
        <p:nvSpPr>
          <p:cNvPr id="29" name="">
            <a:extLst xmlns:a="http://schemas.openxmlformats.org/drawingml/2006/main">
              <a:ext uri="{FF2B5EF4-FFF2-40B4-BE49-F238E27FC236}">
                <a16:creationId xmlns:a16="http://schemas.microsoft.com/office/drawing/2014/main" id="{1D3793DE-7602-4B60-B03B-38B88212129B}"/>
              </a:ext>
            </a:extLst>
          </p:cNvPr>
          <p:cNvSpPr>
            <a:spLocks xmlns:a="http://schemas.openxmlformats.org/drawingml/2006/main" noGrp="1"/>
          </p:cNvSpPr>
          <p:nvPr/>
        </p:nvSpPr>
        <p:spPr>
          <a:xfrm xmlns:a="http://schemas.openxmlformats.org/drawingml/2006/main">
            <a:off x="6324600" y="2171700"/>
            <a:ext cx="504825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90A371E-0DDD-411B-9221-65C6EC32754E}"/>
              </a:ext>
            </a:extLst>
          </p:cNvPr>
          <p:cNvSpPr>
            <a:spLocks xmlns:a="http://schemas.openxmlformats.org/drawingml/2006/main" noGrp="1"/>
          </p:cNvSpPr>
          <p:nvPr/>
        </p:nvSpPr>
        <p:spPr>
          <a:xfrm xmlns:a="http://schemas.openxmlformats.org/drawingml/2006/main">
            <a:off x="6324600" y="22288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425" b="0">
                <a:solidFill>
                  <a:srgbClr val="28353A"/>
                </a:solidFill>
                <a:latin typeface="Arial"/>
                <a:ea typeface="Arial"/>
                <a:cs typeface="Arial"/>
              </a:defRPr>
            </a:pPr>
            <a:r>
              <a:rPr sz="1425" b="0">
                <a:solidFill>
                  <a:srgbClr val="28353A"/>
                </a:solidFill>
                <a:latin typeface="Arial"/>
                <a:ea typeface="Arial"/>
                <a:cs typeface="Arial"/>
              </a:rPr>
              <a:t>Touch switches · 4</a:t>
            </a:r>
          </a:p>
        </p:txBody>
      </p:sp>
      <p:sp>
        <p:nvSpPr>
          <p:cNvPr id="31" name="">
            <a:extLst xmlns:a="http://schemas.openxmlformats.org/drawingml/2006/main">
              <a:ext uri="{FF2B5EF4-FFF2-40B4-BE49-F238E27FC236}">
                <a16:creationId xmlns:a16="http://schemas.microsoft.com/office/drawing/2014/main" id="{3CDED5D0-80B6-422A-B82D-BC3E0ECCE5E1}"/>
              </a:ext>
            </a:extLst>
          </p:cNvPr>
          <p:cNvSpPr>
            <a:spLocks xmlns:a="http://schemas.openxmlformats.org/drawingml/2006/main" noGrp="1"/>
          </p:cNvSpPr>
          <p:nvPr/>
        </p:nvSpPr>
        <p:spPr>
          <a:xfrm xmlns:a="http://schemas.openxmlformats.org/drawingml/2006/main">
            <a:off x="10267950" y="2228850"/>
            <a:ext cx="110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425" b="0">
                <a:solidFill>
                  <a:srgbClr val="28353A"/>
                </a:solidFill>
                <a:latin typeface="Arial"/>
                <a:ea typeface="Arial"/>
                <a:cs typeface="Arial"/>
              </a:defRPr>
            </a:pPr>
            <a:r>
              <a:rPr sz="1425" b="0">
                <a:solidFill>
                  <a:srgbClr val="28353A"/>
                </a:solidFill>
                <a:latin typeface="Arial"/>
                <a:ea typeface="Arial"/>
                <a:cs typeface="Arial"/>
              </a:rPr>
              <a:t>7 each</a:t>
            </a:r>
          </a:p>
        </p:txBody>
      </p:sp>
      <p:sp>
        <p:nvSpPr>
          <p:cNvPr id="32" name="">
            <a:extLst xmlns:a="http://schemas.openxmlformats.org/drawingml/2006/main">
              <a:ext uri="{FF2B5EF4-FFF2-40B4-BE49-F238E27FC236}">
                <a16:creationId xmlns:a16="http://schemas.microsoft.com/office/drawing/2014/main" id="{129E481C-2929-4A23-8C81-3C74532194DD}"/>
              </a:ext>
            </a:extLst>
          </p:cNvPr>
          <p:cNvSpPr>
            <a:spLocks xmlns:a="http://schemas.openxmlformats.org/drawingml/2006/main" noGrp="1"/>
          </p:cNvSpPr>
          <p:nvPr/>
        </p:nvSpPr>
        <p:spPr>
          <a:xfrm xmlns:a="http://schemas.openxmlformats.org/drawingml/2006/main">
            <a:off x="6324600" y="2638425"/>
            <a:ext cx="504825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80C765B-32DF-44D2-8B5F-320DAEE37D9F}"/>
              </a:ext>
            </a:extLst>
          </p:cNvPr>
          <p:cNvSpPr>
            <a:spLocks xmlns:a="http://schemas.openxmlformats.org/drawingml/2006/main" noGrp="1"/>
          </p:cNvSpPr>
          <p:nvPr/>
        </p:nvSpPr>
        <p:spPr>
          <a:xfrm xmlns:a="http://schemas.openxmlformats.org/drawingml/2006/main">
            <a:off x="6324600" y="269557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425" b="0">
                <a:solidFill>
                  <a:srgbClr val="28353A"/>
                </a:solidFill>
                <a:latin typeface="Arial"/>
                <a:ea typeface="Arial"/>
                <a:cs typeface="Arial"/>
              </a:defRPr>
            </a:pPr>
            <a:r>
              <a:rPr sz="1425" b="0">
                <a:solidFill>
                  <a:srgbClr val="28353A"/>
                </a:solidFill>
                <a:latin typeface="Arial"/>
                <a:ea typeface="Arial"/>
                <a:cs typeface="Arial"/>
              </a:rPr>
              <a:t>Battery, 1200 mAh / 3.7 V · 1</a:t>
            </a:r>
          </a:p>
        </p:txBody>
      </p:sp>
      <p:sp>
        <p:nvSpPr>
          <p:cNvPr id="34" name="">
            <a:extLst xmlns:a="http://schemas.openxmlformats.org/drawingml/2006/main">
              <a:ext uri="{FF2B5EF4-FFF2-40B4-BE49-F238E27FC236}">
                <a16:creationId xmlns:a16="http://schemas.microsoft.com/office/drawing/2014/main" id="{8D034946-C6A8-4209-A950-651300E3B940}"/>
              </a:ext>
            </a:extLst>
          </p:cNvPr>
          <p:cNvSpPr>
            <a:spLocks xmlns:a="http://schemas.openxmlformats.org/drawingml/2006/main" noGrp="1"/>
          </p:cNvSpPr>
          <p:nvPr/>
        </p:nvSpPr>
        <p:spPr>
          <a:xfrm xmlns:a="http://schemas.openxmlformats.org/drawingml/2006/main">
            <a:off x="10267950" y="2695575"/>
            <a:ext cx="110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425" b="0">
                <a:solidFill>
                  <a:srgbClr val="28353A"/>
                </a:solidFill>
                <a:latin typeface="Arial"/>
                <a:ea typeface="Arial"/>
                <a:cs typeface="Arial"/>
              </a:defRPr>
            </a:pPr>
            <a:r>
              <a:rPr sz="1425" b="0">
                <a:solidFill>
                  <a:srgbClr val="28353A"/>
                </a:solidFill>
                <a:latin typeface="Arial"/>
                <a:ea typeface="Arial"/>
                <a:cs typeface="Arial"/>
              </a:rPr>
              <a:t>58</a:t>
            </a:r>
          </a:p>
        </p:txBody>
      </p:sp>
      <p:sp>
        <p:nvSpPr>
          <p:cNvPr id="35" name="">
            <a:extLst xmlns:a="http://schemas.openxmlformats.org/drawingml/2006/main">
              <a:ext uri="{FF2B5EF4-FFF2-40B4-BE49-F238E27FC236}">
                <a16:creationId xmlns:a16="http://schemas.microsoft.com/office/drawing/2014/main" id="{53221E07-8169-44DD-9278-ED7F1B5E09A4}"/>
              </a:ext>
            </a:extLst>
          </p:cNvPr>
          <p:cNvSpPr>
            <a:spLocks xmlns:a="http://schemas.openxmlformats.org/drawingml/2006/main" noGrp="1"/>
          </p:cNvSpPr>
          <p:nvPr/>
        </p:nvSpPr>
        <p:spPr>
          <a:xfrm xmlns:a="http://schemas.openxmlformats.org/drawingml/2006/main">
            <a:off x="6324600" y="3105150"/>
            <a:ext cx="504825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D0B2700-F743-48F9-A41B-62168E5A1AB3}"/>
              </a:ext>
            </a:extLst>
          </p:cNvPr>
          <p:cNvSpPr>
            <a:spLocks xmlns:a="http://schemas.openxmlformats.org/drawingml/2006/main" noGrp="1"/>
          </p:cNvSpPr>
          <p:nvPr/>
        </p:nvSpPr>
        <p:spPr>
          <a:xfrm xmlns:a="http://schemas.openxmlformats.org/drawingml/2006/main">
            <a:off x="6324600" y="31623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425" b="0">
                <a:solidFill>
                  <a:srgbClr val="28353A"/>
                </a:solidFill>
                <a:latin typeface="Arial"/>
                <a:ea typeface="Arial"/>
                <a:cs typeface="Arial"/>
              </a:defRPr>
            </a:pPr>
            <a:r>
              <a:rPr sz="1425" b="0">
                <a:solidFill>
                  <a:srgbClr val="28353A"/>
                </a:solidFill>
                <a:latin typeface="Arial"/>
                <a:ea typeface="Arial"/>
                <a:cs typeface="Arial"/>
              </a:rPr>
              <a:t>USB charging module · 1</a:t>
            </a:r>
          </a:p>
        </p:txBody>
      </p:sp>
      <p:sp>
        <p:nvSpPr>
          <p:cNvPr id="37" name="">
            <a:extLst xmlns:a="http://schemas.openxmlformats.org/drawingml/2006/main">
              <a:ext uri="{FF2B5EF4-FFF2-40B4-BE49-F238E27FC236}">
                <a16:creationId xmlns:a16="http://schemas.microsoft.com/office/drawing/2014/main" id="{804AD438-B7BD-471B-B75C-C4BE9FF2AEE3}"/>
              </a:ext>
            </a:extLst>
          </p:cNvPr>
          <p:cNvSpPr>
            <a:spLocks xmlns:a="http://schemas.openxmlformats.org/drawingml/2006/main" noGrp="1"/>
          </p:cNvSpPr>
          <p:nvPr/>
        </p:nvSpPr>
        <p:spPr>
          <a:xfrm xmlns:a="http://schemas.openxmlformats.org/drawingml/2006/main">
            <a:off x="10267950" y="3162300"/>
            <a:ext cx="110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425" b="0">
                <a:solidFill>
                  <a:srgbClr val="28353A"/>
                </a:solidFill>
                <a:latin typeface="Arial"/>
                <a:ea typeface="Arial"/>
                <a:cs typeface="Arial"/>
              </a:defRPr>
            </a:pPr>
            <a:r>
              <a:rPr sz="1425" b="0">
                <a:solidFill>
                  <a:srgbClr val="28353A"/>
                </a:solidFill>
                <a:latin typeface="Arial"/>
                <a:ea typeface="Arial"/>
                <a:cs typeface="Arial"/>
              </a:rPr>
              <a:t>19</a:t>
            </a:r>
          </a:p>
        </p:txBody>
      </p:sp>
      <p:sp>
        <p:nvSpPr>
          <p:cNvPr id="38" name="">
            <a:extLst xmlns:a="http://schemas.openxmlformats.org/drawingml/2006/main">
              <a:ext uri="{FF2B5EF4-FFF2-40B4-BE49-F238E27FC236}">
                <a16:creationId xmlns:a16="http://schemas.microsoft.com/office/drawing/2014/main" id="{4E79FC39-97A8-49A0-B210-C56796590A0C}"/>
              </a:ext>
            </a:extLst>
          </p:cNvPr>
          <p:cNvSpPr>
            <a:spLocks xmlns:a="http://schemas.openxmlformats.org/drawingml/2006/main" noGrp="1"/>
          </p:cNvSpPr>
          <p:nvPr/>
        </p:nvSpPr>
        <p:spPr>
          <a:xfrm xmlns:a="http://schemas.openxmlformats.org/drawingml/2006/main">
            <a:off x="6324600" y="3571875"/>
            <a:ext cx="504825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53053CF6-3F75-43B9-9429-52558C3CC99D}"/>
              </a:ext>
            </a:extLst>
          </p:cNvPr>
          <p:cNvSpPr>
            <a:spLocks xmlns:a="http://schemas.openxmlformats.org/drawingml/2006/main" noGrp="1"/>
          </p:cNvSpPr>
          <p:nvPr/>
        </p:nvSpPr>
        <p:spPr>
          <a:xfrm xmlns:a="http://schemas.openxmlformats.org/drawingml/2006/main">
            <a:off x="6324600" y="362902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425" b="0">
                <a:solidFill>
                  <a:srgbClr val="28353A"/>
                </a:solidFill>
                <a:latin typeface="Arial"/>
                <a:ea typeface="Arial"/>
                <a:cs typeface="Arial"/>
              </a:defRPr>
            </a:pPr>
            <a:r>
              <a:rPr sz="1425" b="0">
                <a:solidFill>
                  <a:srgbClr val="28353A"/>
                </a:solidFill>
                <a:latin typeface="Arial"/>
                <a:ea typeface="Arial"/>
                <a:cs typeface="Arial"/>
              </a:rPr>
              <a:t>2.4 GHz antenna · 1</a:t>
            </a:r>
          </a:p>
        </p:txBody>
      </p:sp>
      <p:sp>
        <p:nvSpPr>
          <p:cNvPr id="40" name="">
            <a:extLst xmlns:a="http://schemas.openxmlformats.org/drawingml/2006/main">
              <a:ext uri="{FF2B5EF4-FFF2-40B4-BE49-F238E27FC236}">
                <a16:creationId xmlns:a16="http://schemas.microsoft.com/office/drawing/2014/main" id="{227F5E0A-4A65-4B7E-88B2-BC16DB1FBF83}"/>
              </a:ext>
            </a:extLst>
          </p:cNvPr>
          <p:cNvSpPr>
            <a:spLocks xmlns:a="http://schemas.openxmlformats.org/drawingml/2006/main" noGrp="1"/>
          </p:cNvSpPr>
          <p:nvPr/>
        </p:nvSpPr>
        <p:spPr>
          <a:xfrm xmlns:a="http://schemas.openxmlformats.org/drawingml/2006/main">
            <a:off x="10267950" y="3629025"/>
            <a:ext cx="110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425" b="0">
                <a:solidFill>
                  <a:srgbClr val="28353A"/>
                </a:solidFill>
                <a:latin typeface="Arial"/>
                <a:ea typeface="Arial"/>
                <a:cs typeface="Arial"/>
              </a:defRPr>
            </a:pPr>
            <a:r>
              <a:rPr sz="1425" b="0">
                <a:solidFill>
                  <a:srgbClr val="28353A"/>
                </a:solidFill>
                <a:latin typeface="Arial"/>
                <a:ea typeface="Arial"/>
                <a:cs typeface="Arial"/>
              </a:rPr>
              <a:t>89</a:t>
            </a:r>
          </a:p>
        </p:txBody>
      </p:sp>
      <p:sp>
        <p:nvSpPr>
          <p:cNvPr id="41" name="">
            <a:extLst xmlns:a="http://schemas.openxmlformats.org/drawingml/2006/main">
              <a:ext uri="{FF2B5EF4-FFF2-40B4-BE49-F238E27FC236}">
                <a16:creationId xmlns:a16="http://schemas.microsoft.com/office/drawing/2014/main" id="{E8501150-11DE-418A-83C0-6B105838E9FD}"/>
              </a:ext>
            </a:extLst>
          </p:cNvPr>
          <p:cNvSpPr>
            <a:spLocks xmlns:a="http://schemas.openxmlformats.org/drawingml/2006/main" noGrp="1"/>
          </p:cNvSpPr>
          <p:nvPr/>
        </p:nvSpPr>
        <p:spPr>
          <a:xfrm xmlns:a="http://schemas.openxmlformats.org/drawingml/2006/main">
            <a:off x="6324600" y="4038600"/>
            <a:ext cx="504825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DC76E2D-2F8A-4BAC-9858-BE8AEEC7CFB3}"/>
              </a:ext>
            </a:extLst>
          </p:cNvPr>
          <p:cNvSpPr>
            <a:spLocks xmlns:a="http://schemas.openxmlformats.org/drawingml/2006/main" noGrp="1"/>
          </p:cNvSpPr>
          <p:nvPr/>
        </p:nvSpPr>
        <p:spPr>
          <a:xfrm xmlns:a="http://schemas.openxmlformats.org/drawingml/2006/main">
            <a:off x="6324600" y="40957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425" b="0">
                <a:solidFill>
                  <a:srgbClr val="28353A"/>
                </a:solidFill>
                <a:latin typeface="Arial"/>
                <a:ea typeface="Arial"/>
                <a:cs typeface="Arial"/>
              </a:defRPr>
            </a:pPr>
            <a:r>
              <a:rPr sz="1425" b="0">
                <a:solidFill>
                  <a:srgbClr val="28353A"/>
                </a:solidFill>
                <a:latin typeface="Arial"/>
                <a:ea typeface="Arial"/>
                <a:cs typeface="Arial"/>
              </a:rPr>
              <a:t>Wires · 1</a:t>
            </a:r>
          </a:p>
        </p:txBody>
      </p:sp>
      <p:sp>
        <p:nvSpPr>
          <p:cNvPr id="43" name="">
            <a:extLst xmlns:a="http://schemas.openxmlformats.org/drawingml/2006/main">
              <a:ext uri="{FF2B5EF4-FFF2-40B4-BE49-F238E27FC236}">
                <a16:creationId xmlns:a16="http://schemas.microsoft.com/office/drawing/2014/main" id="{38F67F2E-7FA3-4FF4-B42F-C70F19DC5098}"/>
              </a:ext>
            </a:extLst>
          </p:cNvPr>
          <p:cNvSpPr>
            <a:spLocks xmlns:a="http://schemas.openxmlformats.org/drawingml/2006/main" noGrp="1"/>
          </p:cNvSpPr>
          <p:nvPr/>
        </p:nvSpPr>
        <p:spPr>
          <a:xfrm xmlns:a="http://schemas.openxmlformats.org/drawingml/2006/main">
            <a:off x="10267950" y="4095750"/>
            <a:ext cx="110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425" b="0">
                <a:solidFill>
                  <a:srgbClr val="28353A"/>
                </a:solidFill>
                <a:latin typeface="Arial"/>
                <a:ea typeface="Arial"/>
                <a:cs typeface="Arial"/>
              </a:defRPr>
            </a:pPr>
            <a:r>
              <a:rPr sz="1425" b="0">
                <a:solidFill>
                  <a:srgbClr val="28353A"/>
                </a:solidFill>
                <a:latin typeface="Arial"/>
                <a:ea typeface="Arial"/>
                <a:cs typeface="Arial"/>
              </a:rPr>
              <a:t>15</a:t>
            </a:r>
          </a:p>
        </p:txBody>
      </p:sp>
      <p:sp>
        <p:nvSpPr>
          <p:cNvPr id="44" name="">
            <a:extLst xmlns:a="http://schemas.openxmlformats.org/drawingml/2006/main">
              <a:ext uri="{FF2B5EF4-FFF2-40B4-BE49-F238E27FC236}">
                <a16:creationId xmlns:a16="http://schemas.microsoft.com/office/drawing/2014/main" id="{2805C906-F77E-4B9E-8F95-3D29648BDA06}"/>
              </a:ext>
            </a:extLst>
          </p:cNvPr>
          <p:cNvSpPr>
            <a:spLocks xmlns:a="http://schemas.openxmlformats.org/drawingml/2006/main" noGrp="1"/>
          </p:cNvSpPr>
          <p:nvPr/>
        </p:nvSpPr>
        <p:spPr>
          <a:xfrm xmlns:a="http://schemas.openxmlformats.org/drawingml/2006/main">
            <a:off x="800100" y="5219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00" b="1">
                <a:solidFill>
                  <a:srgbClr val="C87854"/>
                </a:solidFill>
                <a:latin typeface="Arial"/>
                <a:ea typeface="Arial"/>
                <a:cs typeface="Arial"/>
              </a:defRPr>
            </a:pPr>
            <a:r>
              <a:rPr sz="1500" b="1">
                <a:solidFill>
                  <a:srgbClr val="C87854"/>
                </a:solidFill>
                <a:latin typeface="Arial"/>
                <a:ea typeface="Arial"/>
                <a:cs typeface="Arial"/>
              </a:rPr>
              <a:t>Notebook total: 1,798; buying one full LED pack makes the listed lines add to 1,807.</a:t>
            </a:r>
          </a:p>
        </p:txBody>
      </p:sp>
      <p:sp>
        <p:nvSpPr>
          <p:cNvPr id="45" name="">
            <a:extLst xmlns:a="http://schemas.openxmlformats.org/drawingml/2006/main">
              <a:ext uri="{FF2B5EF4-FFF2-40B4-BE49-F238E27FC236}">
                <a16:creationId xmlns:a16="http://schemas.microsoft.com/office/drawing/2014/main" id="{7D0991DE-104A-4E09-9CFF-B18A37D73596}"/>
              </a:ext>
            </a:extLst>
          </p:cNvPr>
          <p:cNvSpPr>
            <a:spLocks xmlns:a="http://schemas.openxmlformats.org/drawingml/2006/main" noGrp="1"/>
          </p:cNvSpPr>
          <p:nvPr/>
        </p:nvSpPr>
        <p:spPr>
          <a:xfrm xmlns:a="http://schemas.openxmlformats.org/drawingml/2006/main">
            <a:off x="800100" y="563880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0">
                <a:solidFill>
                  <a:srgbClr val="68787A"/>
                </a:solidFill>
                <a:latin typeface="Arial"/>
                <a:ea typeface="Arial"/>
                <a:cs typeface="Arial"/>
              </a:defRPr>
            </a:pPr>
            <a:r>
              <a:rPr sz="1275" b="0">
                <a:solidFill>
                  <a:srgbClr val="68787A"/>
                </a:solidFill>
                <a:latin typeface="Arial"/>
                <a:ea typeface="Arial"/>
                <a:cs typeface="Arial"/>
              </a:rPr>
              <a:t>The note lists 2 full-bridge cells, 2 half-bridge cells, 2 IR units and 8+ LEDs; the current plan needs 6 load-cell positions, 6 IR slots and 12 LEDs. Currency is not marked.</a:t>
            </a:r>
          </a:p>
        </p:txBody>
      </p:sp>
    </p:spTree>
    <p:extLst>
      <p:ext uri="{BB962C8B-B14F-4D97-AF65-F5344CB8AC3E}">
        <p14:creationId xmlns:p14="http://schemas.microsoft.com/office/powerpoint/2010/main" val="2112887195"/>
      </p:ext>
    </p:extLst>
  </p:cSld>
</p:sld>
</file>

<file path=ppt/slides/slide1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5EC011D1-AA4C-4900-9A01-2904F5F3B5FD}"/>
              </a:ext>
            </a:extLst>
          </p:cNvPr>
          <p:cNvSpPr>
            <a:spLocks xmlns:a="http://schemas.openxmlformats.org/drawingml/2006/main" noGrp="1"/>
          </p:cNvSpPr>
          <p:nvPr/>
        </p:nvSpPr>
        <p:spPr>
          <a:xfrm xmlns:a="http://schemas.openxmlformats.org/drawingml/2006/main">
            <a:off x="723900" y="3333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HANDWRITTEN COMPONENT LIST</a:t>
            </a:r>
          </a:p>
        </p:txBody>
      </p:sp>
      <p:sp>
        <p:nvSpPr>
          <p:cNvPr id="2" name="">
            <a:extLst xmlns:a="http://schemas.openxmlformats.org/drawingml/2006/main">
              <a:ext uri="{FF2B5EF4-FFF2-40B4-BE49-F238E27FC236}">
                <a16:creationId xmlns:a16="http://schemas.microsoft.com/office/drawing/2014/main" id="{C8185E91-021C-4299-9E1F-19AB0419A2EC}"/>
              </a:ext>
            </a:extLst>
          </p:cNvPr>
          <p:cNvSpPr>
            <a:spLocks xmlns:a="http://schemas.openxmlformats.org/drawingml/2006/main" noGrp="1"/>
          </p:cNvSpPr>
          <p:nvPr/>
        </p:nvSpPr>
        <p:spPr>
          <a:xfrm xmlns:a="http://schemas.openxmlformats.org/drawingml/2006/main">
            <a:off x="723900" y="62865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Portable version parts estimate</a:t>
            </a:r>
          </a:p>
        </p:txBody>
      </p:sp>
      <p:sp>
        <p:nvSpPr>
          <p:cNvPr id="3" name="">
            <a:extLst xmlns:a="http://schemas.openxmlformats.org/drawingml/2006/main">
              <a:ext uri="{FF2B5EF4-FFF2-40B4-BE49-F238E27FC236}">
                <a16:creationId xmlns:a16="http://schemas.microsoft.com/office/drawing/2014/main" id="{70199DCE-8B08-402A-BA8A-878F2A4A6389}"/>
              </a:ext>
            </a:extLst>
          </p:cNvPr>
          <p:cNvSpPr>
            <a:spLocks xmlns:a="http://schemas.openxmlformats.org/drawingml/2006/main" noGrp="1"/>
          </p:cNvSpPr>
          <p:nvPr/>
        </p:nvSpPr>
        <p:spPr>
          <a:xfrm xmlns:a="http://schemas.openxmlformats.org/drawingml/2006/main">
            <a:off x="800100" y="14287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PARTS AND QUANTITIES</a:t>
            </a:r>
          </a:p>
        </p:txBody>
      </p:sp>
      <p:sp>
        <p:nvSpPr>
          <p:cNvPr id="4" name="">
            <a:extLst xmlns:a="http://schemas.openxmlformats.org/drawingml/2006/main">
              <a:ext uri="{FF2B5EF4-FFF2-40B4-BE49-F238E27FC236}">
                <a16:creationId xmlns:a16="http://schemas.microsoft.com/office/drawing/2014/main" id="{079E3E22-A07E-4745-BC99-E66E507F6057}"/>
              </a:ext>
            </a:extLst>
          </p:cNvPr>
          <p:cNvSpPr>
            <a:spLocks xmlns:a="http://schemas.openxmlformats.org/drawingml/2006/main" noGrp="1"/>
          </p:cNvSpPr>
          <p:nvPr/>
        </p:nvSpPr>
        <p:spPr>
          <a:xfrm xmlns:a="http://schemas.openxmlformats.org/drawingml/2006/main">
            <a:off x="4838700" y="14287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275" b="1">
                <a:solidFill>
                  <a:srgbClr val="4D858A"/>
                </a:solidFill>
                <a:latin typeface="Arial"/>
                <a:ea typeface="Arial"/>
                <a:cs typeface="Arial"/>
              </a:defRPr>
            </a:pPr>
            <a:r>
              <a:rPr sz="1275" b="1">
                <a:solidFill>
                  <a:srgbClr val="4D858A"/>
                </a:solidFill>
                <a:latin typeface="Arial"/>
                <a:ea typeface="Arial"/>
                <a:cs typeface="Arial"/>
              </a:rPr>
              <a:t>AMOUNT</a:t>
            </a:r>
          </a:p>
        </p:txBody>
      </p:sp>
      <p:sp>
        <p:nvSpPr>
          <p:cNvPr id="5" name="">
            <a:extLst xmlns:a="http://schemas.openxmlformats.org/drawingml/2006/main">
              <a:ext uri="{FF2B5EF4-FFF2-40B4-BE49-F238E27FC236}">
                <a16:creationId xmlns:a16="http://schemas.microsoft.com/office/drawing/2014/main" id="{E5E853F6-4208-4C52-A2C7-3D2EFB2D2124}"/>
              </a:ext>
            </a:extLst>
          </p:cNvPr>
          <p:cNvSpPr>
            <a:spLocks xmlns:a="http://schemas.openxmlformats.org/drawingml/2006/main" noGrp="1"/>
          </p:cNvSpPr>
          <p:nvPr/>
        </p:nvSpPr>
        <p:spPr>
          <a:xfrm xmlns:a="http://schemas.openxmlformats.org/drawingml/2006/main">
            <a:off x="6324600" y="14287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PARTS AND QUANTITIES</a:t>
            </a:r>
          </a:p>
        </p:txBody>
      </p:sp>
      <p:sp>
        <p:nvSpPr>
          <p:cNvPr id="6" name="">
            <a:extLst xmlns:a="http://schemas.openxmlformats.org/drawingml/2006/main">
              <a:ext uri="{FF2B5EF4-FFF2-40B4-BE49-F238E27FC236}">
                <a16:creationId xmlns:a16="http://schemas.microsoft.com/office/drawing/2014/main" id="{F2AC9BC4-3C10-4C64-8039-A3958580EFBF}"/>
              </a:ext>
            </a:extLst>
          </p:cNvPr>
          <p:cNvSpPr>
            <a:spLocks xmlns:a="http://schemas.openxmlformats.org/drawingml/2006/main" noGrp="1"/>
          </p:cNvSpPr>
          <p:nvPr/>
        </p:nvSpPr>
        <p:spPr>
          <a:xfrm xmlns:a="http://schemas.openxmlformats.org/drawingml/2006/main">
            <a:off x="10325100" y="14287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275" b="1">
                <a:solidFill>
                  <a:srgbClr val="4D858A"/>
                </a:solidFill>
                <a:latin typeface="Arial"/>
                <a:ea typeface="Arial"/>
                <a:cs typeface="Arial"/>
              </a:defRPr>
            </a:pPr>
            <a:r>
              <a:rPr sz="1275" b="1">
                <a:solidFill>
                  <a:srgbClr val="4D858A"/>
                </a:solidFill>
                <a:latin typeface="Arial"/>
                <a:ea typeface="Arial"/>
                <a:cs typeface="Arial"/>
              </a:rPr>
              <a:t>AMOUNT</a:t>
            </a:r>
          </a:p>
        </p:txBody>
      </p:sp>
      <p:sp>
        <p:nvSpPr>
          <p:cNvPr id="7" name="">
            <a:extLst xmlns:a="http://schemas.openxmlformats.org/drawingml/2006/main">
              <a:ext uri="{FF2B5EF4-FFF2-40B4-BE49-F238E27FC236}">
                <a16:creationId xmlns:a16="http://schemas.microsoft.com/office/drawing/2014/main" id="{9AEF26B1-E9A6-49BA-AB13-0630043B7835}"/>
              </a:ext>
            </a:extLst>
          </p:cNvPr>
          <p:cNvSpPr>
            <a:spLocks xmlns:a="http://schemas.openxmlformats.org/drawingml/2006/main" noGrp="1"/>
          </p:cNvSpPr>
          <p:nvPr/>
        </p:nvSpPr>
        <p:spPr>
          <a:xfrm xmlns:a="http://schemas.openxmlformats.org/drawingml/2006/main">
            <a:off x="800100" y="198120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28353A"/>
                </a:solidFill>
                <a:latin typeface="Arial"/>
                <a:ea typeface="Arial"/>
                <a:cs typeface="Arial"/>
              </a:defRPr>
            </a:pPr>
            <a:r>
              <a:rPr sz="1650" b="0">
                <a:solidFill>
                  <a:srgbClr val="28353A"/>
                </a:solidFill>
                <a:latin typeface="Arial"/>
                <a:ea typeface="Arial"/>
                <a:cs typeface="Arial"/>
              </a:rPr>
              <a:t>ESP32-C3 · 1</a:t>
            </a:r>
          </a:p>
        </p:txBody>
      </p:sp>
      <p:sp>
        <p:nvSpPr>
          <p:cNvPr id="8" name="">
            <a:extLst xmlns:a="http://schemas.openxmlformats.org/drawingml/2006/main">
              <a:ext uri="{FF2B5EF4-FFF2-40B4-BE49-F238E27FC236}">
                <a16:creationId xmlns:a16="http://schemas.microsoft.com/office/drawing/2014/main" id="{0D47B0D4-9B8A-4F5D-BB7F-6A80956ACDEC}"/>
              </a:ext>
            </a:extLst>
          </p:cNvPr>
          <p:cNvSpPr>
            <a:spLocks xmlns:a="http://schemas.openxmlformats.org/drawingml/2006/main" noGrp="1"/>
          </p:cNvSpPr>
          <p:nvPr/>
        </p:nvSpPr>
        <p:spPr>
          <a:xfrm xmlns:a="http://schemas.openxmlformats.org/drawingml/2006/main">
            <a:off x="4762500" y="1981200"/>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575" b="0">
                <a:solidFill>
                  <a:srgbClr val="28353A"/>
                </a:solidFill>
                <a:latin typeface="Arial"/>
                <a:ea typeface="Arial"/>
                <a:cs typeface="Arial"/>
              </a:defRPr>
            </a:pPr>
            <a:r>
              <a:rPr sz="1575" b="0">
                <a:solidFill>
                  <a:srgbClr val="28353A"/>
                </a:solidFill>
                <a:latin typeface="Arial"/>
                <a:ea typeface="Arial"/>
                <a:cs typeface="Arial"/>
              </a:rPr>
              <a:t>252</a:t>
            </a:r>
          </a:p>
        </p:txBody>
      </p:sp>
      <p:sp>
        <p:nvSpPr>
          <p:cNvPr id="9" name="">
            <a:extLst xmlns:a="http://schemas.openxmlformats.org/drawingml/2006/main">
              <a:ext uri="{FF2B5EF4-FFF2-40B4-BE49-F238E27FC236}">
                <a16:creationId xmlns:a16="http://schemas.microsoft.com/office/drawing/2014/main" id="{D6A47C28-2A76-4CCE-BED8-E4D9FD8EEEF0}"/>
              </a:ext>
            </a:extLst>
          </p:cNvPr>
          <p:cNvSpPr>
            <a:spLocks xmlns:a="http://schemas.openxmlformats.org/drawingml/2006/main" noGrp="1"/>
          </p:cNvSpPr>
          <p:nvPr/>
        </p:nvSpPr>
        <p:spPr>
          <a:xfrm xmlns:a="http://schemas.openxmlformats.org/drawingml/2006/main">
            <a:off x="800100" y="2419350"/>
            <a:ext cx="506730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C4AF0D9-E132-4A89-B2A9-97EF88DD4996}"/>
              </a:ext>
            </a:extLst>
          </p:cNvPr>
          <p:cNvSpPr>
            <a:spLocks xmlns:a="http://schemas.openxmlformats.org/drawingml/2006/main" noGrp="1"/>
          </p:cNvSpPr>
          <p:nvPr/>
        </p:nvSpPr>
        <p:spPr>
          <a:xfrm xmlns:a="http://schemas.openxmlformats.org/drawingml/2006/main">
            <a:off x="800100" y="2524125"/>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28353A"/>
                </a:solidFill>
                <a:latin typeface="Arial"/>
                <a:ea typeface="Arial"/>
                <a:cs typeface="Arial"/>
              </a:defRPr>
            </a:pPr>
            <a:r>
              <a:rPr sz="1650" b="0">
                <a:solidFill>
                  <a:srgbClr val="28353A"/>
                </a:solidFill>
                <a:latin typeface="Arial"/>
                <a:ea typeface="Arial"/>
                <a:cs typeface="Arial"/>
              </a:rPr>
              <a:t>1 kg full-bridge load cell · 1</a:t>
            </a:r>
          </a:p>
        </p:txBody>
      </p:sp>
      <p:sp>
        <p:nvSpPr>
          <p:cNvPr id="11" name="">
            <a:extLst xmlns:a="http://schemas.openxmlformats.org/drawingml/2006/main">
              <a:ext uri="{FF2B5EF4-FFF2-40B4-BE49-F238E27FC236}">
                <a16:creationId xmlns:a16="http://schemas.microsoft.com/office/drawing/2014/main" id="{8D8E71F2-B68D-451C-AC01-B4DDAF0679BD}"/>
              </a:ext>
            </a:extLst>
          </p:cNvPr>
          <p:cNvSpPr>
            <a:spLocks xmlns:a="http://schemas.openxmlformats.org/drawingml/2006/main" noGrp="1"/>
          </p:cNvSpPr>
          <p:nvPr/>
        </p:nvSpPr>
        <p:spPr>
          <a:xfrm xmlns:a="http://schemas.openxmlformats.org/drawingml/2006/main">
            <a:off x="4762500" y="2524125"/>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575" b="0">
                <a:solidFill>
                  <a:srgbClr val="28353A"/>
                </a:solidFill>
                <a:latin typeface="Arial"/>
                <a:ea typeface="Arial"/>
                <a:cs typeface="Arial"/>
              </a:defRPr>
            </a:pPr>
            <a:r>
              <a:rPr sz="1575" b="0">
                <a:solidFill>
                  <a:srgbClr val="28353A"/>
                </a:solidFill>
                <a:latin typeface="Arial"/>
                <a:ea typeface="Arial"/>
                <a:cs typeface="Arial"/>
              </a:rPr>
              <a:t>119</a:t>
            </a:r>
          </a:p>
        </p:txBody>
      </p:sp>
      <p:sp>
        <p:nvSpPr>
          <p:cNvPr id="12" name="">
            <a:extLst xmlns:a="http://schemas.openxmlformats.org/drawingml/2006/main">
              <a:ext uri="{FF2B5EF4-FFF2-40B4-BE49-F238E27FC236}">
                <a16:creationId xmlns:a16="http://schemas.microsoft.com/office/drawing/2014/main" id="{B3755C53-FC0D-48B0-9E4A-DBB652210640}"/>
              </a:ext>
            </a:extLst>
          </p:cNvPr>
          <p:cNvSpPr>
            <a:spLocks xmlns:a="http://schemas.openxmlformats.org/drawingml/2006/main" noGrp="1"/>
          </p:cNvSpPr>
          <p:nvPr/>
        </p:nvSpPr>
        <p:spPr>
          <a:xfrm xmlns:a="http://schemas.openxmlformats.org/drawingml/2006/main">
            <a:off x="800100" y="2962275"/>
            <a:ext cx="506730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240DC17-DC89-423E-BB28-63275ED7A74F}"/>
              </a:ext>
            </a:extLst>
          </p:cNvPr>
          <p:cNvSpPr>
            <a:spLocks xmlns:a="http://schemas.openxmlformats.org/drawingml/2006/main" noGrp="1"/>
          </p:cNvSpPr>
          <p:nvPr/>
        </p:nvSpPr>
        <p:spPr>
          <a:xfrm xmlns:a="http://schemas.openxmlformats.org/drawingml/2006/main">
            <a:off x="800100" y="306705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28353A"/>
                </a:solidFill>
                <a:latin typeface="Arial"/>
                <a:ea typeface="Arial"/>
                <a:cs typeface="Arial"/>
              </a:defRPr>
            </a:pPr>
            <a:r>
              <a:rPr sz="1650" b="0">
                <a:solidFill>
                  <a:srgbClr val="28353A"/>
                </a:solidFill>
                <a:latin typeface="Arial"/>
                <a:ea typeface="Arial"/>
                <a:cs typeface="Arial"/>
              </a:rPr>
              <a:t>HX711 amplifier · 1</a:t>
            </a:r>
          </a:p>
        </p:txBody>
      </p:sp>
      <p:sp>
        <p:nvSpPr>
          <p:cNvPr id="14" name="">
            <a:extLst xmlns:a="http://schemas.openxmlformats.org/drawingml/2006/main">
              <a:ext uri="{FF2B5EF4-FFF2-40B4-BE49-F238E27FC236}">
                <a16:creationId xmlns:a16="http://schemas.microsoft.com/office/drawing/2014/main" id="{D0D9F078-9193-4658-9278-15E7642C4E0F}"/>
              </a:ext>
            </a:extLst>
          </p:cNvPr>
          <p:cNvSpPr>
            <a:spLocks xmlns:a="http://schemas.openxmlformats.org/drawingml/2006/main" noGrp="1"/>
          </p:cNvSpPr>
          <p:nvPr/>
        </p:nvSpPr>
        <p:spPr>
          <a:xfrm xmlns:a="http://schemas.openxmlformats.org/drawingml/2006/main">
            <a:off x="4762500" y="3067050"/>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575" b="0">
                <a:solidFill>
                  <a:srgbClr val="28353A"/>
                </a:solidFill>
                <a:latin typeface="Arial"/>
                <a:ea typeface="Arial"/>
                <a:cs typeface="Arial"/>
              </a:defRPr>
            </a:pPr>
            <a:r>
              <a:rPr sz="1575" b="0">
                <a:solidFill>
                  <a:srgbClr val="28353A"/>
                </a:solidFill>
                <a:latin typeface="Arial"/>
                <a:ea typeface="Arial"/>
                <a:cs typeface="Arial"/>
              </a:rPr>
              <a:t>129</a:t>
            </a:r>
          </a:p>
        </p:txBody>
      </p:sp>
      <p:sp>
        <p:nvSpPr>
          <p:cNvPr id="15" name="">
            <a:extLst xmlns:a="http://schemas.openxmlformats.org/drawingml/2006/main">
              <a:ext uri="{FF2B5EF4-FFF2-40B4-BE49-F238E27FC236}">
                <a16:creationId xmlns:a16="http://schemas.microsoft.com/office/drawing/2014/main" id="{545B59FA-1F30-4AD9-9DA1-93372845D73F}"/>
              </a:ext>
            </a:extLst>
          </p:cNvPr>
          <p:cNvSpPr>
            <a:spLocks xmlns:a="http://schemas.openxmlformats.org/drawingml/2006/main" noGrp="1"/>
          </p:cNvSpPr>
          <p:nvPr/>
        </p:nvSpPr>
        <p:spPr>
          <a:xfrm xmlns:a="http://schemas.openxmlformats.org/drawingml/2006/main">
            <a:off x="800100" y="3505200"/>
            <a:ext cx="506730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CFD2485-76ED-4BC3-9F3B-D9B13B80792A}"/>
              </a:ext>
            </a:extLst>
          </p:cNvPr>
          <p:cNvSpPr>
            <a:spLocks xmlns:a="http://schemas.openxmlformats.org/drawingml/2006/main" noGrp="1"/>
          </p:cNvSpPr>
          <p:nvPr/>
        </p:nvSpPr>
        <p:spPr>
          <a:xfrm xmlns:a="http://schemas.openxmlformats.org/drawingml/2006/main">
            <a:off x="800100" y="3609975"/>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28353A"/>
                </a:solidFill>
                <a:latin typeface="Arial"/>
                <a:ea typeface="Arial"/>
                <a:cs typeface="Arial"/>
              </a:defRPr>
            </a:pPr>
            <a:r>
              <a:rPr sz="1650" b="0">
                <a:solidFill>
                  <a:srgbClr val="28353A"/>
                </a:solidFill>
                <a:latin typeface="Arial"/>
                <a:ea typeface="Arial"/>
                <a:cs typeface="Arial"/>
              </a:rPr>
              <a:t>6 LEDs</a:t>
            </a:r>
          </a:p>
        </p:txBody>
      </p:sp>
      <p:sp>
        <p:nvSpPr>
          <p:cNvPr id="17" name="">
            <a:extLst xmlns:a="http://schemas.openxmlformats.org/drawingml/2006/main">
              <a:ext uri="{FF2B5EF4-FFF2-40B4-BE49-F238E27FC236}">
                <a16:creationId xmlns:a16="http://schemas.microsoft.com/office/drawing/2014/main" id="{F8E6353F-8362-4F22-B1C8-8ADF40682301}"/>
              </a:ext>
            </a:extLst>
          </p:cNvPr>
          <p:cNvSpPr>
            <a:spLocks xmlns:a="http://schemas.openxmlformats.org/drawingml/2006/main" noGrp="1"/>
          </p:cNvSpPr>
          <p:nvPr/>
        </p:nvSpPr>
        <p:spPr>
          <a:xfrm xmlns:a="http://schemas.openxmlformats.org/drawingml/2006/main">
            <a:off x="4762500" y="3609975"/>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575" b="0">
                <a:solidFill>
                  <a:srgbClr val="28353A"/>
                </a:solidFill>
                <a:latin typeface="Arial"/>
                <a:ea typeface="Arial"/>
                <a:cs typeface="Arial"/>
              </a:defRPr>
            </a:pPr>
            <a:r>
              <a:rPr sz="1575" b="0">
                <a:solidFill>
                  <a:srgbClr val="28353A"/>
                </a:solidFill>
                <a:latin typeface="Arial"/>
                <a:ea typeface="Arial"/>
                <a:cs typeface="Arial"/>
              </a:rPr>
              <a:t>30 total</a:t>
            </a:r>
          </a:p>
        </p:txBody>
      </p:sp>
      <p:sp>
        <p:nvSpPr>
          <p:cNvPr id="18" name="">
            <a:extLst xmlns:a="http://schemas.openxmlformats.org/drawingml/2006/main">
              <a:ext uri="{FF2B5EF4-FFF2-40B4-BE49-F238E27FC236}">
                <a16:creationId xmlns:a16="http://schemas.microsoft.com/office/drawing/2014/main" id="{D5C260A5-3EB4-4203-983A-6A928BA30E2D}"/>
              </a:ext>
            </a:extLst>
          </p:cNvPr>
          <p:cNvSpPr>
            <a:spLocks xmlns:a="http://schemas.openxmlformats.org/drawingml/2006/main" noGrp="1"/>
          </p:cNvSpPr>
          <p:nvPr/>
        </p:nvSpPr>
        <p:spPr>
          <a:xfrm xmlns:a="http://schemas.openxmlformats.org/drawingml/2006/main">
            <a:off x="800100" y="4048125"/>
            <a:ext cx="506730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7A77339-D7A4-4CBF-9386-383E55A1D820}"/>
              </a:ext>
            </a:extLst>
          </p:cNvPr>
          <p:cNvSpPr>
            <a:spLocks xmlns:a="http://schemas.openxmlformats.org/drawingml/2006/main" noGrp="1"/>
          </p:cNvSpPr>
          <p:nvPr/>
        </p:nvSpPr>
        <p:spPr>
          <a:xfrm xmlns:a="http://schemas.openxmlformats.org/drawingml/2006/main">
            <a:off x="800100" y="415290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28353A"/>
                </a:solidFill>
                <a:latin typeface="Arial"/>
                <a:ea typeface="Arial"/>
                <a:cs typeface="Arial"/>
              </a:defRPr>
            </a:pPr>
            <a:r>
              <a:rPr sz="1650" b="0">
                <a:solidFill>
                  <a:srgbClr val="28353A"/>
                </a:solidFill>
                <a:latin typeface="Arial"/>
                <a:ea typeface="Arial"/>
                <a:cs typeface="Arial"/>
              </a:rPr>
              <a:t>Buzzer · 1</a:t>
            </a:r>
          </a:p>
        </p:txBody>
      </p:sp>
      <p:sp>
        <p:nvSpPr>
          <p:cNvPr id="20" name="">
            <a:extLst xmlns:a="http://schemas.openxmlformats.org/drawingml/2006/main">
              <a:ext uri="{FF2B5EF4-FFF2-40B4-BE49-F238E27FC236}">
                <a16:creationId xmlns:a16="http://schemas.microsoft.com/office/drawing/2014/main" id="{D89F18A6-E4FE-4807-87D4-482579E0941A}"/>
              </a:ext>
            </a:extLst>
          </p:cNvPr>
          <p:cNvSpPr>
            <a:spLocks xmlns:a="http://schemas.openxmlformats.org/drawingml/2006/main" noGrp="1"/>
          </p:cNvSpPr>
          <p:nvPr/>
        </p:nvSpPr>
        <p:spPr>
          <a:xfrm xmlns:a="http://schemas.openxmlformats.org/drawingml/2006/main">
            <a:off x="4762500" y="4152900"/>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575" b="0">
                <a:solidFill>
                  <a:srgbClr val="28353A"/>
                </a:solidFill>
                <a:latin typeface="Arial"/>
                <a:ea typeface="Arial"/>
                <a:cs typeface="Arial"/>
              </a:defRPr>
            </a:pPr>
            <a:r>
              <a:rPr sz="1575" b="0">
                <a:solidFill>
                  <a:srgbClr val="28353A"/>
                </a:solidFill>
                <a:latin typeface="Arial"/>
                <a:ea typeface="Arial"/>
                <a:cs typeface="Arial"/>
              </a:rPr>
              <a:t>14</a:t>
            </a:r>
          </a:p>
        </p:txBody>
      </p:sp>
      <p:sp>
        <p:nvSpPr>
          <p:cNvPr id="21" name="">
            <a:extLst xmlns:a="http://schemas.openxmlformats.org/drawingml/2006/main">
              <a:ext uri="{FF2B5EF4-FFF2-40B4-BE49-F238E27FC236}">
                <a16:creationId xmlns:a16="http://schemas.microsoft.com/office/drawing/2014/main" id="{B00CD627-D59B-4B63-9EB0-3FBA0A9BCBDE}"/>
              </a:ext>
            </a:extLst>
          </p:cNvPr>
          <p:cNvSpPr>
            <a:spLocks xmlns:a="http://schemas.openxmlformats.org/drawingml/2006/main" noGrp="1"/>
          </p:cNvSpPr>
          <p:nvPr/>
        </p:nvSpPr>
        <p:spPr>
          <a:xfrm xmlns:a="http://schemas.openxmlformats.org/drawingml/2006/main">
            <a:off x="800100" y="4591050"/>
            <a:ext cx="506730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8941F53-E6BA-4226-93C7-D4CBFBAF51F4}"/>
              </a:ext>
            </a:extLst>
          </p:cNvPr>
          <p:cNvSpPr>
            <a:spLocks xmlns:a="http://schemas.openxmlformats.org/drawingml/2006/main" noGrp="1"/>
          </p:cNvSpPr>
          <p:nvPr/>
        </p:nvSpPr>
        <p:spPr>
          <a:xfrm xmlns:a="http://schemas.openxmlformats.org/drawingml/2006/main">
            <a:off x="800100" y="4695825"/>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28353A"/>
                </a:solidFill>
                <a:latin typeface="Arial"/>
                <a:ea typeface="Arial"/>
                <a:cs typeface="Arial"/>
              </a:defRPr>
            </a:pPr>
            <a:r>
              <a:rPr sz="1650" b="0">
                <a:solidFill>
                  <a:srgbClr val="28353A"/>
                </a:solidFill>
                <a:latin typeface="Arial"/>
                <a:ea typeface="Arial"/>
                <a:cs typeface="Arial"/>
              </a:rPr>
              <a:t>Battery, 1200 mAh · 1</a:t>
            </a:r>
          </a:p>
        </p:txBody>
      </p:sp>
      <p:sp>
        <p:nvSpPr>
          <p:cNvPr id="23" name="">
            <a:extLst xmlns:a="http://schemas.openxmlformats.org/drawingml/2006/main">
              <a:ext uri="{FF2B5EF4-FFF2-40B4-BE49-F238E27FC236}">
                <a16:creationId xmlns:a16="http://schemas.microsoft.com/office/drawing/2014/main" id="{E71F69F1-2C6E-4345-9390-0FBF9DE12C4A}"/>
              </a:ext>
            </a:extLst>
          </p:cNvPr>
          <p:cNvSpPr>
            <a:spLocks xmlns:a="http://schemas.openxmlformats.org/drawingml/2006/main" noGrp="1"/>
          </p:cNvSpPr>
          <p:nvPr/>
        </p:nvSpPr>
        <p:spPr>
          <a:xfrm xmlns:a="http://schemas.openxmlformats.org/drawingml/2006/main">
            <a:off x="4762500" y="4695825"/>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575" b="0">
                <a:solidFill>
                  <a:srgbClr val="28353A"/>
                </a:solidFill>
                <a:latin typeface="Arial"/>
                <a:ea typeface="Arial"/>
                <a:cs typeface="Arial"/>
              </a:defRPr>
            </a:pPr>
            <a:r>
              <a:rPr sz="1575" b="0">
                <a:solidFill>
                  <a:srgbClr val="28353A"/>
                </a:solidFill>
                <a:latin typeface="Arial"/>
                <a:ea typeface="Arial"/>
                <a:cs typeface="Arial"/>
              </a:rPr>
              <a:t>59</a:t>
            </a:r>
          </a:p>
        </p:txBody>
      </p:sp>
      <p:sp>
        <p:nvSpPr>
          <p:cNvPr id="24" name="">
            <a:extLst xmlns:a="http://schemas.openxmlformats.org/drawingml/2006/main">
              <a:ext uri="{FF2B5EF4-FFF2-40B4-BE49-F238E27FC236}">
                <a16:creationId xmlns:a16="http://schemas.microsoft.com/office/drawing/2014/main" id="{09A3EEE7-FCC0-4934-82AB-5983FEFD6101}"/>
              </a:ext>
            </a:extLst>
          </p:cNvPr>
          <p:cNvSpPr>
            <a:spLocks xmlns:a="http://schemas.openxmlformats.org/drawingml/2006/main" noGrp="1"/>
          </p:cNvSpPr>
          <p:nvPr/>
        </p:nvSpPr>
        <p:spPr>
          <a:xfrm xmlns:a="http://schemas.openxmlformats.org/drawingml/2006/main">
            <a:off x="6324600" y="198120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28353A"/>
                </a:solidFill>
                <a:latin typeface="Arial"/>
                <a:ea typeface="Arial"/>
                <a:cs typeface="Arial"/>
              </a:defRPr>
            </a:pPr>
            <a:r>
              <a:rPr sz="1650" b="0">
                <a:solidFill>
                  <a:srgbClr val="28353A"/>
                </a:solidFill>
                <a:latin typeface="Arial"/>
                <a:ea typeface="Arial"/>
                <a:cs typeface="Arial"/>
              </a:rPr>
              <a:t>USB charging module · 1</a:t>
            </a:r>
          </a:p>
        </p:txBody>
      </p:sp>
      <p:sp>
        <p:nvSpPr>
          <p:cNvPr id="25" name="">
            <a:extLst xmlns:a="http://schemas.openxmlformats.org/drawingml/2006/main">
              <a:ext uri="{FF2B5EF4-FFF2-40B4-BE49-F238E27FC236}">
                <a16:creationId xmlns:a16="http://schemas.microsoft.com/office/drawing/2014/main" id="{06C05208-DD54-4704-A5CA-BC653C622DED}"/>
              </a:ext>
            </a:extLst>
          </p:cNvPr>
          <p:cNvSpPr>
            <a:spLocks xmlns:a="http://schemas.openxmlformats.org/drawingml/2006/main" noGrp="1"/>
          </p:cNvSpPr>
          <p:nvPr/>
        </p:nvSpPr>
        <p:spPr>
          <a:xfrm xmlns:a="http://schemas.openxmlformats.org/drawingml/2006/main">
            <a:off x="10267950" y="1981200"/>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575" b="0">
                <a:solidFill>
                  <a:srgbClr val="28353A"/>
                </a:solidFill>
                <a:latin typeface="Arial"/>
                <a:ea typeface="Arial"/>
                <a:cs typeface="Arial"/>
              </a:defRPr>
            </a:pPr>
            <a:r>
              <a:rPr sz="1575" b="0">
                <a:solidFill>
                  <a:srgbClr val="28353A"/>
                </a:solidFill>
                <a:latin typeface="Arial"/>
                <a:ea typeface="Arial"/>
                <a:cs typeface="Arial"/>
              </a:rPr>
              <a:t>19</a:t>
            </a:r>
          </a:p>
        </p:txBody>
      </p:sp>
      <p:sp>
        <p:nvSpPr>
          <p:cNvPr id="26" name="">
            <a:extLst xmlns:a="http://schemas.openxmlformats.org/drawingml/2006/main">
              <a:ext uri="{FF2B5EF4-FFF2-40B4-BE49-F238E27FC236}">
                <a16:creationId xmlns:a16="http://schemas.microsoft.com/office/drawing/2014/main" id="{0559CD1D-68BE-498C-869A-AEB7B1B7453A}"/>
              </a:ext>
            </a:extLst>
          </p:cNvPr>
          <p:cNvSpPr>
            <a:spLocks xmlns:a="http://schemas.openxmlformats.org/drawingml/2006/main" noGrp="1"/>
          </p:cNvSpPr>
          <p:nvPr/>
        </p:nvSpPr>
        <p:spPr>
          <a:xfrm xmlns:a="http://schemas.openxmlformats.org/drawingml/2006/main">
            <a:off x="6324600" y="2419350"/>
            <a:ext cx="504825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0095B64-00BB-49DA-83DF-647129904097}"/>
              </a:ext>
            </a:extLst>
          </p:cNvPr>
          <p:cNvSpPr>
            <a:spLocks xmlns:a="http://schemas.openxmlformats.org/drawingml/2006/main" noGrp="1"/>
          </p:cNvSpPr>
          <p:nvPr/>
        </p:nvSpPr>
        <p:spPr>
          <a:xfrm xmlns:a="http://schemas.openxmlformats.org/drawingml/2006/main">
            <a:off x="6324600" y="2524125"/>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28353A"/>
                </a:solidFill>
                <a:latin typeface="Arial"/>
                <a:ea typeface="Arial"/>
                <a:cs typeface="Arial"/>
              </a:defRPr>
            </a:pPr>
            <a:r>
              <a:rPr sz="1650" b="0">
                <a:solidFill>
                  <a:srgbClr val="28353A"/>
                </a:solidFill>
                <a:latin typeface="Arial"/>
                <a:ea typeface="Arial"/>
                <a:cs typeface="Arial"/>
              </a:rPr>
              <a:t>Antenna · 1</a:t>
            </a:r>
          </a:p>
        </p:txBody>
      </p:sp>
      <p:sp>
        <p:nvSpPr>
          <p:cNvPr id="28" name="">
            <a:extLst xmlns:a="http://schemas.openxmlformats.org/drawingml/2006/main">
              <a:ext uri="{FF2B5EF4-FFF2-40B4-BE49-F238E27FC236}">
                <a16:creationId xmlns:a16="http://schemas.microsoft.com/office/drawing/2014/main" id="{DD7743CD-B2F7-464E-8D97-C8F3CA043AB8}"/>
              </a:ext>
            </a:extLst>
          </p:cNvPr>
          <p:cNvSpPr>
            <a:spLocks xmlns:a="http://schemas.openxmlformats.org/drawingml/2006/main" noGrp="1"/>
          </p:cNvSpPr>
          <p:nvPr/>
        </p:nvSpPr>
        <p:spPr>
          <a:xfrm xmlns:a="http://schemas.openxmlformats.org/drawingml/2006/main">
            <a:off x="10267950" y="2524125"/>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575" b="0">
                <a:solidFill>
                  <a:srgbClr val="28353A"/>
                </a:solidFill>
                <a:latin typeface="Arial"/>
                <a:ea typeface="Arial"/>
                <a:cs typeface="Arial"/>
              </a:defRPr>
            </a:pPr>
            <a:r>
              <a:rPr sz="1575" b="0">
                <a:solidFill>
                  <a:srgbClr val="28353A"/>
                </a:solidFill>
                <a:latin typeface="Arial"/>
                <a:ea typeface="Arial"/>
                <a:cs typeface="Arial"/>
              </a:rPr>
              <a:t>65</a:t>
            </a:r>
          </a:p>
        </p:txBody>
      </p:sp>
      <p:sp>
        <p:nvSpPr>
          <p:cNvPr id="29" name="">
            <a:extLst xmlns:a="http://schemas.openxmlformats.org/drawingml/2006/main">
              <a:ext uri="{FF2B5EF4-FFF2-40B4-BE49-F238E27FC236}">
                <a16:creationId xmlns:a16="http://schemas.microsoft.com/office/drawing/2014/main" id="{F969D4A2-03FC-4D78-A430-704635DAEECC}"/>
              </a:ext>
            </a:extLst>
          </p:cNvPr>
          <p:cNvSpPr>
            <a:spLocks xmlns:a="http://schemas.openxmlformats.org/drawingml/2006/main" noGrp="1"/>
          </p:cNvSpPr>
          <p:nvPr/>
        </p:nvSpPr>
        <p:spPr>
          <a:xfrm xmlns:a="http://schemas.openxmlformats.org/drawingml/2006/main">
            <a:off x="6324600" y="2962275"/>
            <a:ext cx="504825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A8FC29E-90F8-42F5-B9E0-6800E80D63C4}"/>
              </a:ext>
            </a:extLst>
          </p:cNvPr>
          <p:cNvSpPr>
            <a:spLocks xmlns:a="http://schemas.openxmlformats.org/drawingml/2006/main" noGrp="1"/>
          </p:cNvSpPr>
          <p:nvPr/>
        </p:nvSpPr>
        <p:spPr>
          <a:xfrm xmlns:a="http://schemas.openxmlformats.org/drawingml/2006/main">
            <a:off x="6324600" y="306705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28353A"/>
                </a:solidFill>
                <a:latin typeface="Arial"/>
                <a:ea typeface="Arial"/>
                <a:cs typeface="Arial"/>
              </a:defRPr>
            </a:pPr>
            <a:r>
              <a:rPr sz="1650" b="0">
                <a:solidFill>
                  <a:srgbClr val="28353A"/>
                </a:solidFill>
                <a:latin typeface="Arial"/>
                <a:ea typeface="Arial"/>
                <a:cs typeface="Arial"/>
              </a:rPr>
              <a:t>Magnetic reed switch · 1</a:t>
            </a:r>
          </a:p>
        </p:txBody>
      </p:sp>
      <p:sp>
        <p:nvSpPr>
          <p:cNvPr id="31" name="">
            <a:extLst xmlns:a="http://schemas.openxmlformats.org/drawingml/2006/main">
              <a:ext uri="{FF2B5EF4-FFF2-40B4-BE49-F238E27FC236}">
                <a16:creationId xmlns:a16="http://schemas.microsoft.com/office/drawing/2014/main" id="{200DDEFB-E717-4E12-88ED-69BAA5E8BCEE}"/>
              </a:ext>
            </a:extLst>
          </p:cNvPr>
          <p:cNvSpPr>
            <a:spLocks xmlns:a="http://schemas.openxmlformats.org/drawingml/2006/main" noGrp="1"/>
          </p:cNvSpPr>
          <p:nvPr/>
        </p:nvSpPr>
        <p:spPr>
          <a:xfrm xmlns:a="http://schemas.openxmlformats.org/drawingml/2006/main">
            <a:off x="10267950" y="3067050"/>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575" b="0">
                <a:solidFill>
                  <a:srgbClr val="28353A"/>
                </a:solidFill>
                <a:latin typeface="Arial"/>
                <a:ea typeface="Arial"/>
                <a:cs typeface="Arial"/>
              </a:defRPr>
            </a:pPr>
            <a:r>
              <a:rPr sz="1575" b="0">
                <a:solidFill>
                  <a:srgbClr val="28353A"/>
                </a:solidFill>
                <a:latin typeface="Arial"/>
                <a:ea typeface="Arial"/>
                <a:cs typeface="Arial"/>
              </a:rPr>
              <a:t>50</a:t>
            </a:r>
          </a:p>
        </p:txBody>
      </p:sp>
      <p:sp>
        <p:nvSpPr>
          <p:cNvPr id="32" name="">
            <a:extLst xmlns:a="http://schemas.openxmlformats.org/drawingml/2006/main">
              <a:ext uri="{FF2B5EF4-FFF2-40B4-BE49-F238E27FC236}">
                <a16:creationId xmlns:a16="http://schemas.microsoft.com/office/drawing/2014/main" id="{F025FF5A-32A2-4639-A789-4C6623EB5FEF}"/>
              </a:ext>
            </a:extLst>
          </p:cNvPr>
          <p:cNvSpPr>
            <a:spLocks xmlns:a="http://schemas.openxmlformats.org/drawingml/2006/main" noGrp="1"/>
          </p:cNvSpPr>
          <p:nvPr/>
        </p:nvSpPr>
        <p:spPr>
          <a:xfrm xmlns:a="http://schemas.openxmlformats.org/drawingml/2006/main">
            <a:off x="6324600" y="3505200"/>
            <a:ext cx="504825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B932E75-D6B5-461D-92D8-6DBEC8EF703B}"/>
              </a:ext>
            </a:extLst>
          </p:cNvPr>
          <p:cNvSpPr>
            <a:spLocks xmlns:a="http://schemas.openxmlformats.org/drawingml/2006/main" noGrp="1"/>
          </p:cNvSpPr>
          <p:nvPr/>
        </p:nvSpPr>
        <p:spPr>
          <a:xfrm xmlns:a="http://schemas.openxmlformats.org/drawingml/2006/main">
            <a:off x="6324600" y="3609975"/>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28353A"/>
                </a:solidFill>
                <a:latin typeface="Arial"/>
                <a:ea typeface="Arial"/>
                <a:cs typeface="Arial"/>
              </a:defRPr>
            </a:pPr>
            <a:r>
              <a:rPr sz="1650" b="0">
                <a:solidFill>
                  <a:srgbClr val="28353A"/>
                </a:solidFill>
                <a:latin typeface="Arial"/>
                <a:ea typeface="Arial"/>
                <a:cs typeface="Arial"/>
              </a:rPr>
              <a:t>LED screen · 1</a:t>
            </a:r>
          </a:p>
        </p:txBody>
      </p:sp>
      <p:sp>
        <p:nvSpPr>
          <p:cNvPr id="34" name="">
            <a:extLst xmlns:a="http://schemas.openxmlformats.org/drawingml/2006/main">
              <a:ext uri="{FF2B5EF4-FFF2-40B4-BE49-F238E27FC236}">
                <a16:creationId xmlns:a16="http://schemas.microsoft.com/office/drawing/2014/main" id="{1BC1F424-D519-4467-A6E2-D72F3CC8BA7F}"/>
              </a:ext>
            </a:extLst>
          </p:cNvPr>
          <p:cNvSpPr>
            <a:spLocks xmlns:a="http://schemas.openxmlformats.org/drawingml/2006/main" noGrp="1"/>
          </p:cNvSpPr>
          <p:nvPr/>
        </p:nvSpPr>
        <p:spPr>
          <a:xfrm xmlns:a="http://schemas.openxmlformats.org/drawingml/2006/main">
            <a:off x="10267950" y="3609975"/>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575" b="0">
                <a:solidFill>
                  <a:srgbClr val="28353A"/>
                </a:solidFill>
                <a:latin typeface="Arial"/>
                <a:ea typeface="Arial"/>
                <a:cs typeface="Arial"/>
              </a:defRPr>
            </a:pPr>
            <a:r>
              <a:rPr sz="1575" b="0">
                <a:solidFill>
                  <a:srgbClr val="28353A"/>
                </a:solidFill>
                <a:latin typeface="Arial"/>
                <a:ea typeface="Arial"/>
                <a:cs typeface="Arial"/>
              </a:rPr>
              <a:t>149</a:t>
            </a:r>
          </a:p>
        </p:txBody>
      </p:sp>
      <p:sp>
        <p:nvSpPr>
          <p:cNvPr id="35" name="">
            <a:extLst xmlns:a="http://schemas.openxmlformats.org/drawingml/2006/main">
              <a:ext uri="{FF2B5EF4-FFF2-40B4-BE49-F238E27FC236}">
                <a16:creationId xmlns:a16="http://schemas.microsoft.com/office/drawing/2014/main" id="{877636BF-F3FA-4FCF-9362-6977A4589F54}"/>
              </a:ext>
            </a:extLst>
          </p:cNvPr>
          <p:cNvSpPr>
            <a:spLocks xmlns:a="http://schemas.openxmlformats.org/drawingml/2006/main" noGrp="1"/>
          </p:cNvSpPr>
          <p:nvPr/>
        </p:nvSpPr>
        <p:spPr>
          <a:xfrm xmlns:a="http://schemas.openxmlformats.org/drawingml/2006/main">
            <a:off x="6324600" y="4048125"/>
            <a:ext cx="5048250" cy="952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971AD19-3E0F-497F-B861-C71EC2E0E4A4}"/>
              </a:ext>
            </a:extLst>
          </p:cNvPr>
          <p:cNvSpPr>
            <a:spLocks xmlns:a="http://schemas.openxmlformats.org/drawingml/2006/main" noGrp="1"/>
          </p:cNvSpPr>
          <p:nvPr/>
        </p:nvSpPr>
        <p:spPr>
          <a:xfrm xmlns:a="http://schemas.openxmlformats.org/drawingml/2006/main">
            <a:off x="6324600" y="415290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28353A"/>
                </a:solidFill>
                <a:latin typeface="Arial"/>
                <a:ea typeface="Arial"/>
                <a:cs typeface="Arial"/>
              </a:defRPr>
            </a:pPr>
            <a:r>
              <a:rPr sz="1650" b="0">
                <a:solidFill>
                  <a:srgbClr val="28353A"/>
                </a:solidFill>
                <a:latin typeface="Arial"/>
                <a:ea typeface="Arial"/>
                <a:cs typeface="Arial"/>
              </a:rPr>
              <a:t>Touch sensors · 3</a:t>
            </a:r>
          </a:p>
        </p:txBody>
      </p:sp>
      <p:sp>
        <p:nvSpPr>
          <p:cNvPr id="37" name="">
            <a:extLst xmlns:a="http://schemas.openxmlformats.org/drawingml/2006/main">
              <a:ext uri="{FF2B5EF4-FFF2-40B4-BE49-F238E27FC236}">
                <a16:creationId xmlns:a16="http://schemas.microsoft.com/office/drawing/2014/main" id="{E722D59E-B9F9-4F2F-B16E-EF26AB2556A9}"/>
              </a:ext>
            </a:extLst>
          </p:cNvPr>
          <p:cNvSpPr>
            <a:spLocks xmlns:a="http://schemas.openxmlformats.org/drawingml/2006/main" noGrp="1"/>
          </p:cNvSpPr>
          <p:nvPr/>
        </p:nvSpPr>
        <p:spPr>
          <a:xfrm xmlns:a="http://schemas.openxmlformats.org/drawingml/2006/main">
            <a:off x="10267950" y="4152900"/>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575" b="0">
                <a:solidFill>
                  <a:srgbClr val="28353A"/>
                </a:solidFill>
                <a:latin typeface="Arial"/>
                <a:ea typeface="Arial"/>
                <a:cs typeface="Arial"/>
              </a:defRPr>
            </a:pPr>
            <a:r>
              <a:rPr sz="1575" b="0">
                <a:solidFill>
                  <a:srgbClr val="28353A"/>
                </a:solidFill>
                <a:latin typeface="Arial"/>
                <a:ea typeface="Arial"/>
                <a:cs typeface="Arial"/>
              </a:rPr>
              <a:t>21 each</a:t>
            </a:r>
          </a:p>
        </p:txBody>
      </p:sp>
      <p:sp>
        <p:nvSpPr>
          <p:cNvPr id="38" name="">
            <a:extLst xmlns:a="http://schemas.openxmlformats.org/drawingml/2006/main">
              <a:ext uri="{FF2B5EF4-FFF2-40B4-BE49-F238E27FC236}">
                <a16:creationId xmlns:a16="http://schemas.microsoft.com/office/drawing/2014/main" id="{4AE35038-B993-4E9C-BE21-EE3E3E754E1B}"/>
              </a:ext>
            </a:extLst>
          </p:cNvPr>
          <p:cNvSpPr>
            <a:spLocks xmlns:a="http://schemas.openxmlformats.org/drawingml/2006/main" noGrp="1"/>
          </p:cNvSpPr>
          <p:nvPr/>
        </p:nvSpPr>
        <p:spPr>
          <a:xfrm xmlns:a="http://schemas.openxmlformats.org/drawingml/2006/main">
            <a:off x="800100" y="5219700"/>
            <a:ext cx="105727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23307C5B-CDB1-4000-B819-82F3DBDF3326}"/>
              </a:ext>
            </a:extLst>
          </p:cNvPr>
          <p:cNvSpPr>
            <a:spLocks xmlns:a="http://schemas.openxmlformats.org/drawingml/2006/main" noGrp="1"/>
          </p:cNvSpPr>
          <p:nvPr/>
        </p:nvSpPr>
        <p:spPr>
          <a:xfrm xmlns:a="http://schemas.openxmlformats.org/drawingml/2006/main">
            <a:off x="800100" y="54768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75" b="1">
                <a:solidFill>
                  <a:srgbClr val="C87854"/>
                </a:solidFill>
                <a:latin typeface="Arial"/>
                <a:ea typeface="Arial"/>
                <a:cs typeface="Arial"/>
              </a:defRPr>
            </a:pPr>
            <a:r>
              <a:rPr sz="1575" b="1">
                <a:solidFill>
                  <a:srgbClr val="C87854"/>
                </a:solidFill>
                <a:latin typeface="Arial"/>
                <a:ea typeface="Arial"/>
                <a:cs typeface="Arial"/>
              </a:rPr>
              <a:t>Notebook subtotal: 949 (737 for the first set, plus screen 149 and 3 touch sensors at 21 each).</a:t>
            </a:r>
          </a:p>
        </p:txBody>
      </p:sp>
      <p:sp>
        <p:nvSpPr>
          <p:cNvPr id="40" name="">
            <a:extLst xmlns:a="http://schemas.openxmlformats.org/drawingml/2006/main">
              <a:ext uri="{FF2B5EF4-FFF2-40B4-BE49-F238E27FC236}">
                <a16:creationId xmlns:a16="http://schemas.microsoft.com/office/drawing/2014/main" id="{88B572C5-EF43-4174-A139-56E764F946B1}"/>
              </a:ext>
            </a:extLst>
          </p:cNvPr>
          <p:cNvSpPr>
            <a:spLocks xmlns:a="http://schemas.openxmlformats.org/drawingml/2006/main" noGrp="1"/>
          </p:cNvSpPr>
          <p:nvPr/>
        </p:nvSpPr>
        <p:spPr>
          <a:xfrm xmlns:a="http://schemas.openxmlformats.org/drawingml/2006/main">
            <a:off x="800100" y="60388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0">
                <a:solidFill>
                  <a:srgbClr val="68787A"/>
                </a:solidFill>
                <a:latin typeface="Arial"/>
                <a:ea typeface="Arial"/>
                <a:cs typeface="Arial"/>
              </a:defRPr>
            </a:pPr>
            <a:r>
              <a:rPr sz="1275" b="0">
                <a:solidFill>
                  <a:srgbClr val="68787A"/>
                </a:solidFill>
                <a:latin typeface="Arial"/>
                <a:ea typeface="Arial"/>
                <a:cs typeface="Arial"/>
              </a:rPr>
              <a:t>Currency is not marked in the handwritten list.</a:t>
            </a:r>
          </a:p>
        </p:txBody>
      </p:sp>
    </p:spTree>
    <p:extLst>
      <p:ext uri="{BB962C8B-B14F-4D97-AF65-F5344CB8AC3E}">
        <p14:creationId xmlns:p14="http://schemas.microsoft.com/office/powerpoint/2010/main" val="956649210"/>
      </p:ext>
    </p:extLst>
  </p:cSld>
</p:sld>
</file>

<file path=ppt/slides/slide1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8125FCF-4074-4629-8B15-21A7F8BEFBCB}"/>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Medication setup and replacement</a:t>
            </a:r>
          </a:p>
        </p:txBody>
      </p:sp>
      <p:sp>
        <p:nvSpPr>
          <p:cNvPr id="2" name="">
            <a:extLst xmlns:a="http://schemas.openxmlformats.org/drawingml/2006/main">
              <a:ext uri="{FF2B5EF4-FFF2-40B4-BE49-F238E27FC236}">
                <a16:creationId xmlns:a16="http://schemas.microsoft.com/office/drawing/2014/main" id="{79A016D9-A13F-4E1B-9F2A-7D95FAC915F5}"/>
              </a:ext>
            </a:extLst>
          </p:cNvPr>
          <p:cNvSpPr>
            <a:spLocks xmlns:a="http://schemas.openxmlformats.org/drawingml/2006/main" noGrp="1"/>
          </p:cNvSpPr>
          <p:nvPr/>
        </p:nvSpPr>
        <p:spPr>
          <a:xfrm xmlns:a="http://schemas.openxmlformats.org/drawingml/2006/main">
            <a:off x="800100" y="1476375"/>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REGISTER A MEDICINE</a:t>
            </a:r>
          </a:p>
        </p:txBody>
      </p:sp>
      <p:sp>
        <p:nvSpPr>
          <p:cNvPr id="3" name="">
            <a:extLst xmlns:a="http://schemas.openxmlformats.org/drawingml/2006/main">
              <a:ext uri="{FF2B5EF4-FFF2-40B4-BE49-F238E27FC236}">
                <a16:creationId xmlns:a16="http://schemas.microsoft.com/office/drawing/2014/main" id="{5C06A403-6ABD-4492-9750-04C81C7124D9}"/>
              </a:ext>
            </a:extLst>
          </p:cNvPr>
          <p:cNvSpPr>
            <a:spLocks xmlns:a="http://schemas.openxmlformats.org/drawingml/2006/main" noGrp="1"/>
          </p:cNvSpPr>
          <p:nvPr/>
        </p:nvSpPr>
        <p:spPr>
          <a:xfrm xmlns:a="http://schemas.openxmlformats.org/drawingml/2006/main">
            <a:off x="800100" y="1981200"/>
            <a:ext cx="4476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100" b="0">
                <a:solidFill>
                  <a:srgbClr val="28353A"/>
                </a:solidFill>
                <a:latin typeface="Arial"/>
                <a:ea typeface="Arial"/>
                <a:cs typeface="Arial"/>
              </a:defRPr>
            </a:pPr>
            <a:r>
              <a:rPr sz="2100" b="0">
                <a:solidFill>
                  <a:srgbClr val="28353A"/>
                </a:solidFill>
                <a:latin typeface="Arial"/>
                <a:ea typeface="Arial"/>
                <a:cs typeface="Arial"/>
              </a:rPr>
              <a:t>QR or barcode</a:t>
            </a:r>
          </a:p>
          <a:p xmlns:a="http://schemas.openxmlformats.org/drawingml/2006/main">
            <a:pPr algn="l">
              <a:buNone/>
              <a:defRPr sz="2100" b="0">
                <a:solidFill>
                  <a:srgbClr val="28353A"/>
                </a:solidFill>
                <a:latin typeface="Arial"/>
                <a:ea typeface="Arial"/>
                <a:cs typeface="Arial"/>
              </a:defRPr>
            </a:pPr>
            <a:r>
              <a:rPr sz="2100" b="0">
                <a:solidFill>
                  <a:srgbClr val="28353A"/>
                </a:solidFill>
                <a:latin typeface="Arial"/>
                <a:ea typeface="Arial"/>
                <a:cs typeface="Arial"/>
              </a:rPr>
              <a:t>Manual entry</a:t>
            </a:r>
          </a:p>
          <a:p xmlns:a="http://schemas.openxmlformats.org/drawingml/2006/main">
            <a:pPr algn="l">
              <a:buNone/>
              <a:defRPr sz="2100" b="0">
                <a:solidFill>
                  <a:srgbClr val="28353A"/>
                </a:solidFill>
                <a:latin typeface="Arial"/>
                <a:ea typeface="Arial"/>
                <a:cs typeface="Arial"/>
              </a:defRPr>
            </a:pPr>
            <a:r>
              <a:rPr sz="2100" b="0">
                <a:solidFill>
                  <a:srgbClr val="28353A"/>
                </a:solidFill>
                <a:latin typeface="Arial"/>
                <a:ea typeface="Arial"/>
                <a:cs typeface="Arial"/>
              </a:rPr>
              <a:t>Device screen and touch</a:t>
            </a:r>
          </a:p>
          <a:p xmlns:a="http://schemas.openxmlformats.org/drawingml/2006/main">
            <a:pPr algn="l">
              <a:buNone/>
              <a:defRPr sz="2100" b="0">
                <a:solidFill>
                  <a:srgbClr val="28353A"/>
                </a:solidFill>
                <a:latin typeface="Arial"/>
                <a:ea typeface="Arial"/>
                <a:cs typeface="Arial"/>
              </a:defRPr>
            </a:pPr>
            <a:r>
              <a:rPr sz="2100" b="0">
                <a:solidFill>
                  <a:srgbClr val="28353A"/>
                </a:solidFill>
                <a:latin typeface="Arial"/>
                <a:ea typeface="Arial"/>
                <a:cs typeface="Arial"/>
              </a:rPr>
              <a:t>Phone app</a:t>
            </a:r>
          </a:p>
        </p:txBody>
      </p:sp>
      <p:sp>
        <p:nvSpPr>
          <p:cNvPr id="4" name="">
            <a:extLst xmlns:a="http://schemas.openxmlformats.org/drawingml/2006/main">
              <a:ext uri="{FF2B5EF4-FFF2-40B4-BE49-F238E27FC236}">
                <a16:creationId xmlns:a16="http://schemas.microsoft.com/office/drawing/2014/main" id="{FD8AA444-E0D3-40EC-8032-4F20300183D6}"/>
              </a:ext>
            </a:extLst>
          </p:cNvPr>
          <p:cNvSpPr>
            <a:spLocks xmlns:a="http://schemas.openxmlformats.org/drawingml/2006/main" noGrp="1"/>
          </p:cNvSpPr>
          <p:nvPr/>
        </p:nvSpPr>
        <p:spPr>
          <a:xfrm xmlns:a="http://schemas.openxmlformats.org/drawingml/2006/main">
            <a:off x="6000750" y="1476375"/>
            <a:ext cx="19050" cy="37147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0FF402D-E9BA-4304-B0CC-60BFF5E81FDE}"/>
              </a:ext>
            </a:extLst>
          </p:cNvPr>
          <p:cNvSpPr>
            <a:spLocks xmlns:a="http://schemas.openxmlformats.org/drawingml/2006/main" noGrp="1"/>
          </p:cNvSpPr>
          <p:nvPr/>
        </p:nvSpPr>
        <p:spPr>
          <a:xfrm xmlns:a="http://schemas.openxmlformats.org/drawingml/2006/main">
            <a:off x="6610350" y="1476375"/>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WHEN A PACKAGE IS REPLACED</a:t>
            </a:r>
          </a:p>
        </p:txBody>
      </p:sp>
      <p:sp>
        <p:nvSpPr>
          <p:cNvPr id="6" name="">
            <a:extLst xmlns:a="http://schemas.openxmlformats.org/drawingml/2006/main">
              <a:ext uri="{FF2B5EF4-FFF2-40B4-BE49-F238E27FC236}">
                <a16:creationId xmlns:a16="http://schemas.microsoft.com/office/drawing/2014/main" id="{5E369318-5E84-46F7-AD7E-5E4CDCF02171}"/>
              </a:ext>
            </a:extLst>
          </p:cNvPr>
          <p:cNvSpPr>
            <a:spLocks xmlns:a="http://schemas.openxmlformats.org/drawingml/2006/main" noGrp="1"/>
          </p:cNvSpPr>
          <p:nvPr/>
        </p:nvSpPr>
        <p:spPr>
          <a:xfrm xmlns:a="http://schemas.openxmlformats.org/drawingml/2006/main">
            <a:off x="6610350" y="1981200"/>
            <a:ext cx="4762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00" b="0">
                <a:solidFill>
                  <a:srgbClr val="28353A"/>
                </a:solidFill>
                <a:latin typeface="Arial"/>
                <a:ea typeface="Arial"/>
                <a:cs typeface="Arial"/>
              </a:defRPr>
            </a:pPr>
            <a:r>
              <a:rPr sz="1800" b="0">
                <a:solidFill>
                  <a:srgbClr val="28353A"/>
                </a:solidFill>
                <a:latin typeface="Arial"/>
                <a:ea typeface="Arial"/>
                <a:cs typeface="Arial"/>
              </a:rPr>
              <a:t>Reuse the saved weight profile for a similar replacement.</a:t>
            </a:r>
          </a:p>
          <a:p xmlns:a="http://schemas.openxmlformats.org/drawingml/2006/main">
            <a:r>
              <a:t/>
            </a:r>
          </a:p>
          <a:p xmlns:a="http://schemas.openxmlformats.org/drawingml/2006/main">
            <a:pPr algn="l">
              <a:buNone/>
              <a:defRPr sz="1800" b="0">
                <a:solidFill>
                  <a:srgbClr val="28353A"/>
                </a:solidFill>
                <a:latin typeface="Arial"/>
                <a:ea typeface="Arial"/>
                <a:cs typeface="Arial"/>
              </a:defRPr>
            </a:pPr>
            <a:r>
              <a:rPr sz="1800" b="0">
                <a:solidFill>
                  <a:srgbClr val="28353A"/>
                </a:solidFill>
                <a:latin typeface="Arial"/>
                <a:ea typeface="Arial"/>
                <a:cs typeface="Arial"/>
              </a:rPr>
              <a:t>If the package size changes a lot, re-upload or confirm it again in the app.</a:t>
            </a:r>
          </a:p>
        </p:txBody>
      </p:sp>
      <p:sp>
        <p:nvSpPr>
          <p:cNvPr id="7" name="">
            <a:extLst xmlns:a="http://schemas.openxmlformats.org/drawingml/2006/main">
              <a:ext uri="{FF2B5EF4-FFF2-40B4-BE49-F238E27FC236}">
                <a16:creationId xmlns:a16="http://schemas.microsoft.com/office/drawing/2014/main" id="{02B5706D-4F8F-4402-BE65-C9801297606F}"/>
              </a:ext>
            </a:extLst>
          </p:cNvPr>
          <p:cNvSpPr>
            <a:spLocks xmlns:a="http://schemas.openxmlformats.org/drawingml/2006/main" noGrp="1"/>
          </p:cNvSpPr>
          <p:nvPr/>
        </p:nvSpPr>
        <p:spPr>
          <a:xfrm xmlns:a="http://schemas.openxmlformats.org/drawingml/2006/main">
            <a:off x="800100" y="4619625"/>
            <a:ext cx="105727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3F1A383-CF22-4760-BB9E-B82F0896510D}"/>
              </a:ext>
            </a:extLst>
          </p:cNvPr>
          <p:cNvSpPr>
            <a:spLocks xmlns:a="http://schemas.openxmlformats.org/drawingml/2006/main" noGrp="1"/>
          </p:cNvSpPr>
          <p:nvPr/>
        </p:nvSpPr>
        <p:spPr>
          <a:xfrm xmlns:a="http://schemas.openxmlformats.org/drawingml/2006/main">
            <a:off x="800100" y="49339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50" b="1">
                <a:solidFill>
                  <a:srgbClr val="C87854"/>
                </a:solidFill>
                <a:latin typeface="Arial"/>
                <a:ea typeface="Arial"/>
                <a:cs typeface="Arial"/>
              </a:defRPr>
            </a:pPr>
            <a:r>
              <a:rPr sz="1950" b="1">
                <a:solidFill>
                  <a:srgbClr val="C87854"/>
                </a:solidFill>
                <a:latin typeface="Arial"/>
                <a:ea typeface="Arial"/>
                <a:cs typeface="Arial"/>
              </a:rPr>
              <a:t>No RFID tag needs to be moved to a new bottle.</a:t>
            </a:r>
          </a:p>
        </p:txBody>
      </p:sp>
      <p:sp>
        <p:nvSpPr>
          <p:cNvPr id="9" name="">
            <a:extLst xmlns:a="http://schemas.openxmlformats.org/drawingml/2006/main">
              <a:ext uri="{FF2B5EF4-FFF2-40B4-BE49-F238E27FC236}">
                <a16:creationId xmlns:a16="http://schemas.microsoft.com/office/drawing/2014/main" id="{38E12DEC-5C51-4DBA-99BC-DF782790DA38}"/>
              </a:ext>
            </a:extLst>
          </p:cNvPr>
          <p:cNvSpPr>
            <a:spLocks xmlns:a="http://schemas.openxmlformats.org/drawingml/2006/main" noGrp="1"/>
          </p:cNvSpPr>
          <p:nvPr/>
        </p:nvSpPr>
        <p:spPr>
          <a:xfrm xmlns:a="http://schemas.openxmlformats.org/drawingml/2006/main">
            <a:off x="800100" y="5524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68787A"/>
                </a:solidFill>
                <a:latin typeface="Arial"/>
                <a:ea typeface="Arial"/>
                <a:cs typeface="Arial"/>
              </a:defRPr>
            </a:pPr>
            <a:r>
              <a:rPr sz="1650" b="0">
                <a:solidFill>
                  <a:srgbClr val="68787A"/>
                </a:solidFill>
                <a:latin typeface="Arial"/>
                <a:ea typeface="Arial"/>
                <a:cs typeface="Arial"/>
              </a:rPr>
              <a:t>The medicine is assigned to a position after registration.</a:t>
            </a:r>
          </a:p>
        </p:txBody>
      </p:sp>
    </p:spTree>
    <p:extLst>
      <p:ext uri="{BB962C8B-B14F-4D97-AF65-F5344CB8AC3E}">
        <p14:creationId xmlns:p14="http://schemas.microsoft.com/office/powerpoint/2010/main" val="1849000532"/>
      </p:ext>
    </p:extLst>
  </p:cSld>
</p:sld>
</file>

<file path=ppt/slides/slide1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1529DDD-0EED-43CC-9B1A-CC41DFB84B5D}"/>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What counts as a medication event?</a:t>
            </a:r>
          </a:p>
        </p:txBody>
      </p:sp>
      <p:sp>
        <p:nvSpPr>
          <p:cNvPr id="2" name="">
            <a:extLst xmlns:a="http://schemas.openxmlformats.org/drawingml/2006/main">
              <a:ext uri="{FF2B5EF4-FFF2-40B4-BE49-F238E27FC236}">
                <a16:creationId xmlns:a16="http://schemas.microsoft.com/office/drawing/2014/main" id="{66CDEE99-A8B4-4268-9D15-518CA3B4DCF2}"/>
              </a:ext>
            </a:extLst>
          </p:cNvPr>
          <p:cNvSpPr>
            <a:spLocks xmlns:a="http://schemas.openxmlformats.org/drawingml/2006/main" noGrp="1"/>
          </p:cNvSpPr>
          <p:nvPr/>
        </p:nvSpPr>
        <p:spPr>
          <a:xfrm xmlns:a="http://schemas.openxmlformats.org/drawingml/2006/main">
            <a:off x="781050" y="14001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0">
                <a:solidFill>
                  <a:srgbClr val="68787A"/>
                </a:solidFill>
                <a:latin typeface="Arial"/>
                <a:ea typeface="Arial"/>
                <a:cs typeface="Arial"/>
              </a:defRPr>
            </a:pPr>
            <a:r>
              <a:rPr sz="1875" b="0">
                <a:solidFill>
                  <a:srgbClr val="68787A"/>
                </a:solidFill>
                <a:latin typeface="Arial"/>
                <a:ea typeface="Arial"/>
                <a:cs typeface="Arial"/>
              </a:rPr>
              <a:t>Example: the user picks up a bottle, then returns it without removing a dose.</a:t>
            </a:r>
          </a:p>
        </p:txBody>
      </p:sp>
      <p:sp>
        <p:nvSpPr>
          <p:cNvPr id="3" name="">
            <a:extLst xmlns:a="http://schemas.openxmlformats.org/drawingml/2006/main">
              <a:ext uri="{FF2B5EF4-FFF2-40B4-BE49-F238E27FC236}">
                <a16:creationId xmlns:a16="http://schemas.microsoft.com/office/drawing/2014/main" id="{67265712-9A62-46A7-B45B-1A0845DEB217}"/>
              </a:ext>
            </a:extLst>
          </p:cNvPr>
          <p:cNvSpPr>
            <a:spLocks xmlns:a="http://schemas.openxmlformats.org/drawingml/2006/main" noGrp="1"/>
          </p:cNvSpPr>
          <p:nvPr/>
        </p:nvSpPr>
        <p:spPr>
          <a:xfrm xmlns:a="http://schemas.openxmlformats.org/drawingml/2006/main">
            <a:off x="81915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1">
                <a:solidFill>
                  <a:srgbClr val="C87854"/>
                </a:solidFill>
                <a:latin typeface="Arial"/>
                <a:ea typeface="Arial"/>
                <a:cs typeface="Arial"/>
              </a:defRPr>
            </a:pPr>
            <a:r>
              <a:rPr sz="1650" b="1">
                <a:solidFill>
                  <a:srgbClr val="C87854"/>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AB9C6DA-63FA-4720-973C-917C05011A26}"/>
              </a:ext>
            </a:extLst>
          </p:cNvPr>
          <p:cNvSpPr>
            <a:spLocks xmlns:a="http://schemas.openxmlformats.org/drawingml/2006/main" noGrp="1"/>
          </p:cNvSpPr>
          <p:nvPr/>
        </p:nvSpPr>
        <p:spPr>
          <a:xfrm xmlns:a="http://schemas.openxmlformats.org/drawingml/2006/main">
            <a:off x="819150" y="2924175"/>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1">
                <a:solidFill>
                  <a:srgbClr val="28353A"/>
                </a:solidFill>
                <a:latin typeface="Arial"/>
                <a:ea typeface="Arial"/>
                <a:cs typeface="Arial"/>
              </a:defRPr>
            </a:pPr>
            <a:r>
              <a:rPr sz="1875" b="1">
                <a:solidFill>
                  <a:srgbClr val="28353A"/>
                </a:solidFill>
                <a:latin typeface="Arial"/>
                <a:ea typeface="Arial"/>
                <a:cs typeface="Arial"/>
              </a:rPr>
              <a:t>Reminder</a:t>
            </a:r>
          </a:p>
        </p:txBody>
      </p:sp>
      <p:sp>
        <p:nvSpPr>
          <p:cNvPr id="5" name="">
            <a:extLst xmlns:a="http://schemas.openxmlformats.org/drawingml/2006/main">
              <a:ext uri="{FF2B5EF4-FFF2-40B4-BE49-F238E27FC236}">
                <a16:creationId xmlns:a16="http://schemas.microsoft.com/office/drawing/2014/main" id="{6AA041C4-FA3B-4074-9929-846EF82BDDE0}"/>
              </a:ext>
            </a:extLst>
          </p:cNvPr>
          <p:cNvSpPr>
            <a:spLocks xmlns:a="http://schemas.openxmlformats.org/drawingml/2006/main" noGrp="1"/>
          </p:cNvSpPr>
          <p:nvPr/>
        </p:nvSpPr>
        <p:spPr>
          <a:xfrm xmlns:a="http://schemas.openxmlformats.org/drawingml/2006/main">
            <a:off x="819150" y="357187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75" b="0">
                <a:solidFill>
                  <a:srgbClr val="68787A"/>
                </a:solidFill>
                <a:latin typeface="Arial"/>
                <a:ea typeface="Arial"/>
                <a:cs typeface="Arial"/>
              </a:defRPr>
            </a:pPr>
            <a:r>
              <a:rPr sz="1575" b="0">
                <a:solidFill>
                  <a:srgbClr val="68787A"/>
                </a:solidFill>
                <a:latin typeface="Arial"/>
                <a:ea typeface="Arial"/>
                <a:cs typeface="Arial"/>
              </a:rPr>
              <a:t>The scheduled alert starts</a:t>
            </a:r>
          </a:p>
        </p:txBody>
      </p:sp>
      <p:sp>
        <p:nvSpPr>
          <p:cNvPr id="6" name="">
            <a:extLst xmlns:a="http://schemas.openxmlformats.org/drawingml/2006/main">
              <a:ext uri="{FF2B5EF4-FFF2-40B4-BE49-F238E27FC236}">
                <a16:creationId xmlns:a16="http://schemas.microsoft.com/office/drawing/2014/main" id="{17C562FD-C96D-4E3C-8786-4D9BAFD98EC4}"/>
              </a:ext>
            </a:extLst>
          </p:cNvPr>
          <p:cNvSpPr>
            <a:spLocks xmlns:a="http://schemas.openxmlformats.org/drawingml/2006/main" noGrp="1"/>
          </p:cNvSpPr>
          <p:nvPr/>
        </p:nvSpPr>
        <p:spPr>
          <a:xfrm xmlns:a="http://schemas.openxmlformats.org/drawingml/2006/main">
            <a:off x="2990850" y="3190875"/>
            <a:ext cx="361950" cy="28575"/>
          </a:xfrm>
          <a:prstGeom xmlns:a="http://schemas.openxmlformats.org/drawingml/2006/main" prst="rect">
            <a:avLst/>
          </a:prstGeom>
          <a:solidFill xmlns:a="http://schemas.openxmlformats.org/drawingml/2006/main">
            <a:srgbClr val="4D858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9C5D969-D93F-4CFB-86D7-468C57F6ED50}"/>
              </a:ext>
            </a:extLst>
          </p:cNvPr>
          <p:cNvSpPr>
            <a:spLocks xmlns:a="http://schemas.openxmlformats.org/drawingml/2006/main" noGrp="1"/>
          </p:cNvSpPr>
          <p:nvPr/>
        </p:nvSpPr>
        <p:spPr>
          <a:xfrm xmlns:a="http://schemas.openxmlformats.org/drawingml/2006/main">
            <a:off x="3200400" y="2924175"/>
            <a:ext cx="323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550" b="0">
                <a:solidFill>
                  <a:srgbClr val="4D858A"/>
                </a:solidFill>
                <a:latin typeface="Arial"/>
                <a:ea typeface="Arial"/>
                <a:cs typeface="Arial"/>
              </a:defRPr>
            </a:pPr>
            <a:r>
              <a:rPr sz="2550" b="0">
                <a:solidFill>
                  <a:srgbClr val="4D858A"/>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60EF552B-7B87-492E-B8E7-0E3463E17564}"/>
              </a:ext>
            </a:extLst>
          </p:cNvPr>
          <p:cNvSpPr>
            <a:spLocks xmlns:a="http://schemas.openxmlformats.org/drawingml/2006/main" noGrp="1"/>
          </p:cNvSpPr>
          <p:nvPr/>
        </p:nvSpPr>
        <p:spPr>
          <a:xfrm xmlns:a="http://schemas.openxmlformats.org/drawingml/2006/main">
            <a:off x="3476625"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1">
                <a:solidFill>
                  <a:srgbClr val="C87854"/>
                </a:solidFill>
                <a:latin typeface="Arial"/>
                <a:ea typeface="Arial"/>
                <a:cs typeface="Arial"/>
              </a:defRPr>
            </a:pPr>
            <a:r>
              <a:rPr sz="1650" b="1">
                <a:solidFill>
                  <a:srgbClr val="C8785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B605226C-0254-4902-A036-58EABAFAC356}"/>
              </a:ext>
            </a:extLst>
          </p:cNvPr>
          <p:cNvSpPr>
            <a:spLocks xmlns:a="http://schemas.openxmlformats.org/drawingml/2006/main" noGrp="1"/>
          </p:cNvSpPr>
          <p:nvPr/>
        </p:nvSpPr>
        <p:spPr>
          <a:xfrm xmlns:a="http://schemas.openxmlformats.org/drawingml/2006/main">
            <a:off x="3476625" y="2924175"/>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1">
                <a:solidFill>
                  <a:srgbClr val="28353A"/>
                </a:solidFill>
                <a:latin typeface="Arial"/>
                <a:ea typeface="Arial"/>
                <a:cs typeface="Arial"/>
              </a:defRPr>
            </a:pPr>
            <a:r>
              <a:rPr sz="1875" b="1">
                <a:solidFill>
                  <a:srgbClr val="28353A"/>
                </a:solidFill>
                <a:latin typeface="Arial"/>
                <a:ea typeface="Arial"/>
                <a:cs typeface="Arial"/>
              </a:rPr>
              <a:t>Bottle lifted</a:t>
            </a:r>
          </a:p>
        </p:txBody>
      </p:sp>
      <p:sp>
        <p:nvSpPr>
          <p:cNvPr id="10" name="">
            <a:extLst xmlns:a="http://schemas.openxmlformats.org/drawingml/2006/main">
              <a:ext uri="{FF2B5EF4-FFF2-40B4-BE49-F238E27FC236}">
                <a16:creationId xmlns:a16="http://schemas.microsoft.com/office/drawing/2014/main" id="{4F1D0A10-4298-427A-9FA4-9106F5A69D20}"/>
              </a:ext>
            </a:extLst>
          </p:cNvPr>
          <p:cNvSpPr>
            <a:spLocks xmlns:a="http://schemas.openxmlformats.org/drawingml/2006/main" noGrp="1"/>
          </p:cNvSpPr>
          <p:nvPr/>
        </p:nvSpPr>
        <p:spPr>
          <a:xfrm xmlns:a="http://schemas.openxmlformats.org/drawingml/2006/main">
            <a:off x="3476625" y="357187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75" b="0">
                <a:solidFill>
                  <a:srgbClr val="68787A"/>
                </a:solidFill>
                <a:latin typeface="Arial"/>
                <a:ea typeface="Arial"/>
                <a:cs typeface="Arial"/>
              </a:defRPr>
            </a:pPr>
            <a:r>
              <a:rPr sz="1575" b="0">
                <a:solidFill>
                  <a:srgbClr val="68787A"/>
                </a:solidFill>
                <a:latin typeface="Arial"/>
                <a:ea typeface="Arial"/>
                <a:cs typeface="Arial"/>
              </a:rPr>
              <a:t>The position changes</a:t>
            </a:r>
          </a:p>
        </p:txBody>
      </p:sp>
      <p:sp>
        <p:nvSpPr>
          <p:cNvPr id="11" name="">
            <a:extLst xmlns:a="http://schemas.openxmlformats.org/drawingml/2006/main">
              <a:ext uri="{FF2B5EF4-FFF2-40B4-BE49-F238E27FC236}">
                <a16:creationId xmlns:a16="http://schemas.microsoft.com/office/drawing/2014/main" id="{EB0074E8-627B-4629-9332-896C3ABAAA0E}"/>
              </a:ext>
            </a:extLst>
          </p:cNvPr>
          <p:cNvSpPr>
            <a:spLocks xmlns:a="http://schemas.openxmlformats.org/drawingml/2006/main" noGrp="1"/>
          </p:cNvSpPr>
          <p:nvPr/>
        </p:nvSpPr>
        <p:spPr>
          <a:xfrm xmlns:a="http://schemas.openxmlformats.org/drawingml/2006/main">
            <a:off x="5648325" y="3190875"/>
            <a:ext cx="361950" cy="28575"/>
          </a:xfrm>
          <a:prstGeom xmlns:a="http://schemas.openxmlformats.org/drawingml/2006/main" prst="rect">
            <a:avLst/>
          </a:prstGeom>
          <a:solidFill xmlns:a="http://schemas.openxmlformats.org/drawingml/2006/main">
            <a:srgbClr val="4D858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AE4A5E2-4C95-4BA8-8519-3F7E0225BD7C}"/>
              </a:ext>
            </a:extLst>
          </p:cNvPr>
          <p:cNvSpPr>
            <a:spLocks xmlns:a="http://schemas.openxmlformats.org/drawingml/2006/main" noGrp="1"/>
          </p:cNvSpPr>
          <p:nvPr/>
        </p:nvSpPr>
        <p:spPr>
          <a:xfrm xmlns:a="http://schemas.openxmlformats.org/drawingml/2006/main">
            <a:off x="5857875" y="2924175"/>
            <a:ext cx="323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550" b="0">
                <a:solidFill>
                  <a:srgbClr val="4D858A"/>
                </a:solidFill>
                <a:latin typeface="Arial"/>
                <a:ea typeface="Arial"/>
                <a:cs typeface="Arial"/>
              </a:defRPr>
            </a:pPr>
            <a:r>
              <a:rPr sz="2550" b="0">
                <a:solidFill>
                  <a:srgbClr val="4D858A"/>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A8CDB2F6-8CF3-40CD-9CFD-AE5B4FE4DFF8}"/>
              </a:ext>
            </a:extLst>
          </p:cNvPr>
          <p:cNvSpPr>
            <a:spLocks xmlns:a="http://schemas.openxmlformats.org/drawingml/2006/main" noGrp="1"/>
          </p:cNvSpPr>
          <p:nvPr/>
        </p:nvSpPr>
        <p:spPr>
          <a:xfrm xmlns:a="http://schemas.openxmlformats.org/drawingml/2006/main">
            <a:off x="61341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1">
                <a:solidFill>
                  <a:srgbClr val="C87854"/>
                </a:solidFill>
                <a:latin typeface="Arial"/>
                <a:ea typeface="Arial"/>
                <a:cs typeface="Arial"/>
              </a:defRPr>
            </a:pPr>
            <a:r>
              <a:rPr sz="1650" b="1">
                <a:solidFill>
                  <a:srgbClr val="C87854"/>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96CD7216-BAC9-46B5-AA61-FE18C352F6D1}"/>
              </a:ext>
            </a:extLst>
          </p:cNvPr>
          <p:cNvSpPr>
            <a:spLocks xmlns:a="http://schemas.openxmlformats.org/drawingml/2006/main" noGrp="1"/>
          </p:cNvSpPr>
          <p:nvPr/>
        </p:nvSpPr>
        <p:spPr>
          <a:xfrm xmlns:a="http://schemas.openxmlformats.org/drawingml/2006/main">
            <a:off x="6134100" y="2924175"/>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1">
                <a:solidFill>
                  <a:srgbClr val="28353A"/>
                </a:solidFill>
                <a:latin typeface="Arial"/>
                <a:ea typeface="Arial"/>
                <a:cs typeface="Arial"/>
              </a:defRPr>
            </a:pPr>
            <a:r>
              <a:rPr sz="1875" b="1">
                <a:solidFill>
                  <a:srgbClr val="28353A"/>
                </a:solidFill>
                <a:latin typeface="Arial"/>
                <a:ea typeface="Arial"/>
                <a:cs typeface="Arial"/>
              </a:rPr>
              <a:t>Same weight on return</a:t>
            </a:r>
          </a:p>
        </p:txBody>
      </p:sp>
      <p:sp>
        <p:nvSpPr>
          <p:cNvPr id="15" name="">
            <a:extLst xmlns:a="http://schemas.openxmlformats.org/drawingml/2006/main">
              <a:ext uri="{FF2B5EF4-FFF2-40B4-BE49-F238E27FC236}">
                <a16:creationId xmlns:a16="http://schemas.microsoft.com/office/drawing/2014/main" id="{3DE95ED0-FE9F-4C5C-9C9C-187450F2F44D}"/>
              </a:ext>
            </a:extLst>
          </p:cNvPr>
          <p:cNvSpPr>
            <a:spLocks xmlns:a="http://schemas.openxmlformats.org/drawingml/2006/main" noGrp="1"/>
          </p:cNvSpPr>
          <p:nvPr/>
        </p:nvSpPr>
        <p:spPr>
          <a:xfrm xmlns:a="http://schemas.openxmlformats.org/drawingml/2006/main">
            <a:off x="6134100" y="357187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75" b="0">
                <a:solidFill>
                  <a:srgbClr val="68787A"/>
                </a:solidFill>
                <a:latin typeface="Arial"/>
                <a:ea typeface="Arial"/>
                <a:cs typeface="Arial"/>
              </a:defRPr>
            </a:pPr>
            <a:r>
              <a:rPr sz="1575" b="0">
                <a:solidFill>
                  <a:srgbClr val="68787A"/>
                </a:solidFill>
                <a:latin typeface="Arial"/>
                <a:ea typeface="Arial"/>
                <a:cs typeface="Arial"/>
              </a:rPr>
              <a:t>No medication-state change is measured</a:t>
            </a:r>
          </a:p>
        </p:txBody>
      </p:sp>
      <p:sp>
        <p:nvSpPr>
          <p:cNvPr id="16" name="">
            <a:extLst xmlns:a="http://schemas.openxmlformats.org/drawingml/2006/main">
              <a:ext uri="{FF2B5EF4-FFF2-40B4-BE49-F238E27FC236}">
                <a16:creationId xmlns:a16="http://schemas.microsoft.com/office/drawing/2014/main" id="{679F3063-D5FD-4DB2-8D6D-A559A2CFBBE5}"/>
              </a:ext>
            </a:extLst>
          </p:cNvPr>
          <p:cNvSpPr>
            <a:spLocks xmlns:a="http://schemas.openxmlformats.org/drawingml/2006/main" noGrp="1"/>
          </p:cNvSpPr>
          <p:nvPr/>
        </p:nvSpPr>
        <p:spPr>
          <a:xfrm xmlns:a="http://schemas.openxmlformats.org/drawingml/2006/main">
            <a:off x="8305800" y="3190875"/>
            <a:ext cx="361950" cy="28575"/>
          </a:xfrm>
          <a:prstGeom xmlns:a="http://schemas.openxmlformats.org/drawingml/2006/main" prst="rect">
            <a:avLst/>
          </a:prstGeom>
          <a:solidFill xmlns:a="http://schemas.openxmlformats.org/drawingml/2006/main">
            <a:srgbClr val="4D858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A0DC2C1-4B68-4A73-8FC6-129D074C0B64}"/>
              </a:ext>
            </a:extLst>
          </p:cNvPr>
          <p:cNvSpPr>
            <a:spLocks xmlns:a="http://schemas.openxmlformats.org/drawingml/2006/main" noGrp="1"/>
          </p:cNvSpPr>
          <p:nvPr/>
        </p:nvSpPr>
        <p:spPr>
          <a:xfrm xmlns:a="http://schemas.openxmlformats.org/drawingml/2006/main">
            <a:off x="8515350" y="2924175"/>
            <a:ext cx="323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550" b="0">
                <a:solidFill>
                  <a:srgbClr val="4D858A"/>
                </a:solidFill>
                <a:latin typeface="Arial"/>
                <a:ea typeface="Arial"/>
                <a:cs typeface="Arial"/>
              </a:defRPr>
            </a:pPr>
            <a:r>
              <a:rPr sz="2550" b="0">
                <a:solidFill>
                  <a:srgbClr val="4D858A"/>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1B44B5B6-4090-43EE-8EF5-F99A5D4B1028}"/>
              </a:ext>
            </a:extLst>
          </p:cNvPr>
          <p:cNvSpPr>
            <a:spLocks xmlns:a="http://schemas.openxmlformats.org/drawingml/2006/main" noGrp="1"/>
          </p:cNvSpPr>
          <p:nvPr/>
        </p:nvSpPr>
        <p:spPr>
          <a:xfrm xmlns:a="http://schemas.openxmlformats.org/drawingml/2006/main">
            <a:off x="8791575"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1">
                <a:solidFill>
                  <a:srgbClr val="C87854"/>
                </a:solidFill>
                <a:latin typeface="Arial"/>
                <a:ea typeface="Arial"/>
                <a:cs typeface="Arial"/>
              </a:defRPr>
            </a:pPr>
            <a:r>
              <a:rPr sz="1650" b="1">
                <a:solidFill>
                  <a:srgbClr val="C87854"/>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96D71154-D345-44D8-BAB3-997684A03470}"/>
              </a:ext>
            </a:extLst>
          </p:cNvPr>
          <p:cNvSpPr>
            <a:spLocks xmlns:a="http://schemas.openxmlformats.org/drawingml/2006/main" noGrp="1"/>
          </p:cNvSpPr>
          <p:nvPr/>
        </p:nvSpPr>
        <p:spPr>
          <a:xfrm xmlns:a="http://schemas.openxmlformats.org/drawingml/2006/main">
            <a:off x="8791575" y="2924175"/>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1">
                <a:solidFill>
                  <a:srgbClr val="28353A"/>
                </a:solidFill>
                <a:latin typeface="Arial"/>
                <a:ea typeface="Arial"/>
                <a:cs typeface="Arial"/>
              </a:defRPr>
            </a:pPr>
            <a:r>
              <a:rPr sz="1875" b="1">
                <a:solidFill>
                  <a:srgbClr val="28353A"/>
                </a:solidFill>
                <a:latin typeface="Arial"/>
                <a:ea typeface="Arial"/>
                <a:cs typeface="Arial"/>
              </a:rPr>
              <a:t>Still unresolved</a:t>
            </a:r>
          </a:p>
        </p:txBody>
      </p:sp>
      <p:sp>
        <p:nvSpPr>
          <p:cNvPr id="20" name="">
            <a:extLst xmlns:a="http://schemas.openxmlformats.org/drawingml/2006/main">
              <a:ext uri="{FF2B5EF4-FFF2-40B4-BE49-F238E27FC236}">
                <a16:creationId xmlns:a16="http://schemas.microsoft.com/office/drawing/2014/main" id="{BFF911FA-0481-4660-8614-996C3640B587}"/>
              </a:ext>
            </a:extLst>
          </p:cNvPr>
          <p:cNvSpPr>
            <a:spLocks xmlns:a="http://schemas.openxmlformats.org/drawingml/2006/main" noGrp="1"/>
          </p:cNvSpPr>
          <p:nvPr/>
        </p:nvSpPr>
        <p:spPr>
          <a:xfrm xmlns:a="http://schemas.openxmlformats.org/drawingml/2006/main">
            <a:off x="8791575" y="357187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75" b="0">
                <a:solidFill>
                  <a:srgbClr val="68787A"/>
                </a:solidFill>
                <a:latin typeface="Arial"/>
                <a:ea typeface="Arial"/>
                <a:cs typeface="Arial"/>
              </a:defRPr>
            </a:pPr>
            <a:r>
              <a:rPr sz="1575" b="0">
                <a:solidFill>
                  <a:srgbClr val="68787A"/>
                </a:solidFill>
                <a:latin typeface="Arial"/>
                <a:ea typeface="Arial"/>
                <a:cs typeface="Arial"/>
              </a:rPr>
              <a:t>The reminder can continue or escalate</a:t>
            </a:r>
          </a:p>
        </p:txBody>
      </p:sp>
      <p:sp>
        <p:nvSpPr>
          <p:cNvPr id="21" name="">
            <a:extLst xmlns:a="http://schemas.openxmlformats.org/drawingml/2006/main">
              <a:ext uri="{FF2B5EF4-FFF2-40B4-BE49-F238E27FC236}">
                <a16:creationId xmlns:a16="http://schemas.microsoft.com/office/drawing/2014/main" id="{2DCBD613-06BD-4610-B095-9E58315B6130}"/>
              </a:ext>
            </a:extLst>
          </p:cNvPr>
          <p:cNvSpPr>
            <a:spLocks xmlns:a="http://schemas.openxmlformats.org/drawingml/2006/main" noGrp="1"/>
          </p:cNvSpPr>
          <p:nvPr/>
        </p:nvSpPr>
        <p:spPr>
          <a:xfrm xmlns:a="http://schemas.openxmlformats.org/drawingml/2006/main">
            <a:off x="781050" y="4933950"/>
            <a:ext cx="105727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D08B9A0-E911-4187-8309-D97760EF74B3}"/>
              </a:ext>
            </a:extLst>
          </p:cNvPr>
          <p:cNvSpPr>
            <a:spLocks xmlns:a="http://schemas.openxmlformats.org/drawingml/2006/main" noGrp="1"/>
          </p:cNvSpPr>
          <p:nvPr/>
        </p:nvSpPr>
        <p:spPr>
          <a:xfrm xmlns:a="http://schemas.openxmlformats.org/drawingml/2006/main">
            <a:off x="781050" y="528637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C87854"/>
                </a:solidFill>
                <a:latin typeface="Arial"/>
                <a:ea typeface="Arial"/>
                <a:cs typeface="Arial"/>
              </a:defRPr>
            </a:pPr>
            <a:r>
              <a:rPr sz="1950" b="1">
                <a:solidFill>
                  <a:srgbClr val="C87854"/>
                </a:solidFill>
                <a:latin typeface="Arial"/>
                <a:ea typeface="Arial"/>
                <a:cs typeface="Arial"/>
              </a:rPr>
              <a:t>A recorded change still does not prove that the user swallowed the medicine.</a:t>
            </a:r>
          </a:p>
        </p:txBody>
      </p:sp>
    </p:spTree>
    <p:extLst>
      <p:ext uri="{BB962C8B-B14F-4D97-AF65-F5344CB8AC3E}">
        <p14:creationId xmlns:p14="http://schemas.microsoft.com/office/powerpoint/2010/main" val="606484709"/>
      </p:ext>
    </p:extLst>
  </p:cSld>
</p:sld>
</file>

<file path=ppt/slides/slide1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E63CC51-3D79-4BA2-A599-60AE28EE7557}"/>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What we tried and where it got difficult</a:t>
            </a:r>
          </a:p>
        </p:txBody>
      </p:sp>
      <p:sp>
        <p:nvSpPr>
          <p:cNvPr id="2" name="">
            <a:extLst xmlns:a="http://schemas.openxmlformats.org/drawingml/2006/main">
              <a:ext uri="{FF2B5EF4-FFF2-40B4-BE49-F238E27FC236}">
                <a16:creationId xmlns:a16="http://schemas.microsoft.com/office/drawing/2014/main" id="{7934571E-63A0-4099-9406-2C8D2920C311}"/>
              </a:ext>
            </a:extLst>
          </p:cNvPr>
          <p:cNvSpPr>
            <a:spLocks xmlns:a="http://schemas.openxmlformats.org/drawingml/2006/main" noGrp="1"/>
          </p:cNvSpPr>
          <p:nvPr/>
        </p:nvSpPr>
        <p:spPr>
          <a:xfrm xmlns:a="http://schemas.openxmlformats.org/drawingml/2006/main">
            <a:off x="800100" y="14097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IDEA</a:t>
            </a:r>
          </a:p>
        </p:txBody>
      </p:sp>
      <p:sp>
        <p:nvSpPr>
          <p:cNvPr id="3" name="">
            <a:extLst xmlns:a="http://schemas.openxmlformats.org/drawingml/2006/main">
              <a:ext uri="{FF2B5EF4-FFF2-40B4-BE49-F238E27FC236}">
                <a16:creationId xmlns:a16="http://schemas.microsoft.com/office/drawing/2014/main" id="{AE0EBE34-EDE8-46D7-8CC6-B93A5AAEBD1A}"/>
              </a:ext>
            </a:extLst>
          </p:cNvPr>
          <p:cNvSpPr>
            <a:spLocks xmlns:a="http://schemas.openxmlformats.org/drawingml/2006/main" noGrp="1"/>
          </p:cNvSpPr>
          <p:nvPr/>
        </p:nvSpPr>
        <p:spPr>
          <a:xfrm xmlns:a="http://schemas.openxmlformats.org/drawingml/2006/main">
            <a:off x="4476750" y="1409700"/>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PROBLEM / CHANGE</a:t>
            </a:r>
          </a:p>
        </p:txBody>
      </p:sp>
      <p:sp>
        <p:nvSpPr>
          <p:cNvPr id="4" name="">
            <a:extLst xmlns:a="http://schemas.openxmlformats.org/drawingml/2006/main">
              <a:ext uri="{FF2B5EF4-FFF2-40B4-BE49-F238E27FC236}">
                <a16:creationId xmlns:a16="http://schemas.microsoft.com/office/drawing/2014/main" id="{486F5A1F-01C9-40BF-B833-47DE220CD87D}"/>
              </a:ext>
            </a:extLst>
          </p:cNvPr>
          <p:cNvSpPr>
            <a:spLocks xmlns:a="http://schemas.openxmlformats.org/drawingml/2006/main" noGrp="1"/>
          </p:cNvSpPr>
          <p:nvPr/>
        </p:nvSpPr>
        <p:spPr>
          <a:xfrm xmlns:a="http://schemas.openxmlformats.org/drawingml/2006/main">
            <a:off x="800100" y="1876425"/>
            <a:ext cx="323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1">
                <a:solidFill>
                  <a:srgbClr val="28353A"/>
                </a:solidFill>
                <a:latin typeface="Arial"/>
                <a:ea typeface="Arial"/>
                <a:cs typeface="Arial"/>
              </a:defRPr>
            </a:pPr>
            <a:r>
              <a:rPr sz="1650" b="1">
                <a:solidFill>
                  <a:srgbClr val="28353A"/>
                </a:solidFill>
                <a:latin typeface="Arial"/>
                <a:ea typeface="Arial"/>
                <a:cs typeface="Arial"/>
              </a:rPr>
              <a:t>RFID tags</a:t>
            </a:r>
          </a:p>
        </p:txBody>
      </p:sp>
      <p:sp>
        <p:nvSpPr>
          <p:cNvPr id="5" name="">
            <a:extLst xmlns:a="http://schemas.openxmlformats.org/drawingml/2006/main">
              <a:ext uri="{FF2B5EF4-FFF2-40B4-BE49-F238E27FC236}">
                <a16:creationId xmlns:a16="http://schemas.microsoft.com/office/drawing/2014/main" id="{5B3F4F5C-DAE4-47CA-998F-885095E08A88}"/>
              </a:ext>
            </a:extLst>
          </p:cNvPr>
          <p:cNvSpPr>
            <a:spLocks xmlns:a="http://schemas.openxmlformats.org/drawingml/2006/main" noGrp="1"/>
          </p:cNvSpPr>
          <p:nvPr/>
        </p:nvSpPr>
        <p:spPr>
          <a:xfrm xmlns:a="http://schemas.openxmlformats.org/drawingml/2006/main">
            <a:off x="4476750" y="1876425"/>
            <a:ext cx="695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75" b="0">
                <a:solidFill>
                  <a:srgbClr val="68787A"/>
                </a:solidFill>
                <a:latin typeface="Arial"/>
                <a:ea typeface="Arial"/>
                <a:cs typeface="Arial"/>
              </a:defRPr>
            </a:pPr>
            <a:r>
              <a:rPr sz="1575" b="0">
                <a:solidFill>
                  <a:srgbClr val="68787A"/>
                </a:solidFill>
                <a:latin typeface="Arial"/>
                <a:ea typeface="Arial"/>
                <a:cs typeface="Arial"/>
              </a:rPr>
              <a:t>Replacement bottles would need re-tagging; removed from the plan.</a:t>
            </a:r>
          </a:p>
        </p:txBody>
      </p:sp>
      <p:sp>
        <p:nvSpPr>
          <p:cNvPr id="6" name="">
            <a:extLst xmlns:a="http://schemas.openxmlformats.org/drawingml/2006/main">
              <a:ext uri="{FF2B5EF4-FFF2-40B4-BE49-F238E27FC236}">
                <a16:creationId xmlns:a16="http://schemas.microsoft.com/office/drawing/2014/main" id="{ECD8055B-0058-4FE2-9245-D925DC285ADB}"/>
              </a:ext>
            </a:extLst>
          </p:cNvPr>
          <p:cNvSpPr>
            <a:spLocks xmlns:a="http://schemas.openxmlformats.org/drawingml/2006/main" noGrp="1"/>
          </p:cNvSpPr>
          <p:nvPr/>
        </p:nvSpPr>
        <p:spPr>
          <a:xfrm xmlns:a="http://schemas.openxmlformats.org/drawingml/2006/main">
            <a:off x="800100" y="2466975"/>
            <a:ext cx="105727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E009090-2137-48B4-8D94-2111C6BD6A92}"/>
              </a:ext>
            </a:extLst>
          </p:cNvPr>
          <p:cNvSpPr>
            <a:spLocks xmlns:a="http://schemas.openxmlformats.org/drawingml/2006/main" noGrp="1"/>
          </p:cNvSpPr>
          <p:nvPr/>
        </p:nvSpPr>
        <p:spPr>
          <a:xfrm xmlns:a="http://schemas.openxmlformats.org/drawingml/2006/main">
            <a:off x="800100" y="2600325"/>
            <a:ext cx="323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1">
                <a:solidFill>
                  <a:srgbClr val="28353A"/>
                </a:solidFill>
                <a:latin typeface="Arial"/>
                <a:ea typeface="Arial"/>
                <a:cs typeface="Arial"/>
              </a:defRPr>
            </a:pPr>
            <a:r>
              <a:rPr sz="1650" b="1">
                <a:solidFill>
                  <a:srgbClr val="28353A"/>
                </a:solidFill>
                <a:latin typeface="Arial"/>
                <a:ea typeface="Arial"/>
                <a:cs typeface="Arial"/>
              </a:rPr>
              <a:t>Camera for blisters</a:t>
            </a:r>
          </a:p>
        </p:txBody>
      </p:sp>
      <p:sp>
        <p:nvSpPr>
          <p:cNvPr id="8" name="">
            <a:extLst xmlns:a="http://schemas.openxmlformats.org/drawingml/2006/main">
              <a:ext uri="{FF2B5EF4-FFF2-40B4-BE49-F238E27FC236}">
                <a16:creationId xmlns:a16="http://schemas.microsoft.com/office/drawing/2014/main" id="{90CC3D6A-F45B-40DA-A423-D5A16FFDC018}"/>
              </a:ext>
            </a:extLst>
          </p:cNvPr>
          <p:cNvSpPr>
            <a:spLocks xmlns:a="http://schemas.openxmlformats.org/drawingml/2006/main" noGrp="1"/>
          </p:cNvSpPr>
          <p:nvPr/>
        </p:nvSpPr>
        <p:spPr>
          <a:xfrm xmlns:a="http://schemas.openxmlformats.org/drawingml/2006/main">
            <a:off x="4476750" y="2600325"/>
            <a:ext cx="695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75" b="0">
                <a:solidFill>
                  <a:srgbClr val="68787A"/>
                </a:solidFill>
                <a:latin typeface="Arial"/>
                <a:ea typeface="Arial"/>
                <a:cs typeface="Arial"/>
              </a:defRPr>
            </a:pPr>
            <a:r>
              <a:rPr sz="1575" b="0">
                <a:solidFill>
                  <a:srgbClr val="68787A"/>
                </a:solidFill>
                <a:latin typeface="Arial"/>
                <a:ea typeface="Arial"/>
                <a:cs typeface="Arial"/>
              </a:rPr>
              <a:t>Needs space, steady lighting and more processing.</a:t>
            </a:r>
          </a:p>
        </p:txBody>
      </p:sp>
      <p:sp>
        <p:nvSpPr>
          <p:cNvPr id="9" name="">
            <a:extLst xmlns:a="http://schemas.openxmlformats.org/drawingml/2006/main">
              <a:ext uri="{FF2B5EF4-FFF2-40B4-BE49-F238E27FC236}">
                <a16:creationId xmlns:a16="http://schemas.microsoft.com/office/drawing/2014/main" id="{089105F3-FCAD-4C60-94AA-205C112C9709}"/>
              </a:ext>
            </a:extLst>
          </p:cNvPr>
          <p:cNvSpPr>
            <a:spLocks xmlns:a="http://schemas.openxmlformats.org/drawingml/2006/main" noGrp="1"/>
          </p:cNvSpPr>
          <p:nvPr/>
        </p:nvSpPr>
        <p:spPr>
          <a:xfrm xmlns:a="http://schemas.openxmlformats.org/drawingml/2006/main">
            <a:off x="800100" y="3190875"/>
            <a:ext cx="105727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FC65397-F51B-46FB-A1DF-8236EEE5B842}"/>
              </a:ext>
            </a:extLst>
          </p:cNvPr>
          <p:cNvSpPr>
            <a:spLocks xmlns:a="http://schemas.openxmlformats.org/drawingml/2006/main" noGrp="1"/>
          </p:cNvSpPr>
          <p:nvPr/>
        </p:nvSpPr>
        <p:spPr>
          <a:xfrm xmlns:a="http://schemas.openxmlformats.org/drawingml/2006/main">
            <a:off x="800100" y="3324225"/>
            <a:ext cx="323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1">
                <a:solidFill>
                  <a:srgbClr val="28353A"/>
                </a:solidFill>
                <a:latin typeface="Arial"/>
                <a:ea typeface="Arial"/>
                <a:cs typeface="Arial"/>
              </a:defRPr>
            </a:pPr>
            <a:r>
              <a:rPr sz="1650" b="1">
                <a:solidFill>
                  <a:srgbClr val="28353A"/>
                </a:solidFill>
                <a:latin typeface="Arial"/>
                <a:ea typeface="Arial"/>
                <a:cs typeface="Arial"/>
              </a:rPr>
              <a:t>Motorized dispenser / carousel</a:t>
            </a:r>
          </a:p>
        </p:txBody>
      </p:sp>
      <p:sp>
        <p:nvSpPr>
          <p:cNvPr id="11" name="">
            <a:extLst xmlns:a="http://schemas.openxmlformats.org/drawingml/2006/main">
              <a:ext uri="{FF2B5EF4-FFF2-40B4-BE49-F238E27FC236}">
                <a16:creationId xmlns:a16="http://schemas.microsoft.com/office/drawing/2014/main" id="{1692EB45-F42D-41C4-ACC1-53A16F3552FD}"/>
              </a:ext>
            </a:extLst>
          </p:cNvPr>
          <p:cNvSpPr>
            <a:spLocks xmlns:a="http://schemas.openxmlformats.org/drawingml/2006/main" noGrp="1"/>
          </p:cNvSpPr>
          <p:nvPr/>
        </p:nvSpPr>
        <p:spPr>
          <a:xfrm xmlns:a="http://schemas.openxmlformats.org/drawingml/2006/main">
            <a:off x="4476750" y="3324225"/>
            <a:ext cx="695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75" b="0">
                <a:solidFill>
                  <a:srgbClr val="68787A"/>
                </a:solidFill>
                <a:latin typeface="Arial"/>
                <a:ea typeface="Arial"/>
                <a:cs typeface="Arial"/>
              </a:defRPr>
            </a:pPr>
            <a:r>
              <a:rPr sz="1575" b="0">
                <a:solidFill>
                  <a:srgbClr val="68787A"/>
                </a:solidFill>
                <a:latin typeface="Arial"/>
                <a:ea typeface="Arial"/>
                <a:cs typeface="Arial"/>
              </a:rPr>
              <a:t>Adds moving parts and mechanical failure points.</a:t>
            </a:r>
          </a:p>
        </p:txBody>
      </p:sp>
      <p:sp>
        <p:nvSpPr>
          <p:cNvPr id="12" name="">
            <a:extLst xmlns:a="http://schemas.openxmlformats.org/drawingml/2006/main">
              <a:ext uri="{FF2B5EF4-FFF2-40B4-BE49-F238E27FC236}">
                <a16:creationId xmlns:a16="http://schemas.microsoft.com/office/drawing/2014/main" id="{17E0FBA7-2BF5-4957-A791-18431474284A}"/>
              </a:ext>
            </a:extLst>
          </p:cNvPr>
          <p:cNvSpPr>
            <a:spLocks xmlns:a="http://schemas.openxmlformats.org/drawingml/2006/main" noGrp="1"/>
          </p:cNvSpPr>
          <p:nvPr/>
        </p:nvSpPr>
        <p:spPr>
          <a:xfrm xmlns:a="http://schemas.openxmlformats.org/drawingml/2006/main">
            <a:off x="800100" y="3914775"/>
            <a:ext cx="105727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ACCCE19-68E1-4E6C-B39E-21A30346266D}"/>
              </a:ext>
            </a:extLst>
          </p:cNvPr>
          <p:cNvSpPr>
            <a:spLocks xmlns:a="http://schemas.openxmlformats.org/drawingml/2006/main" noGrp="1"/>
          </p:cNvSpPr>
          <p:nvPr/>
        </p:nvSpPr>
        <p:spPr>
          <a:xfrm xmlns:a="http://schemas.openxmlformats.org/drawingml/2006/main">
            <a:off x="800100" y="4048125"/>
            <a:ext cx="323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1">
                <a:solidFill>
                  <a:srgbClr val="28353A"/>
                </a:solidFill>
                <a:latin typeface="Arial"/>
                <a:ea typeface="Arial"/>
                <a:cs typeface="Arial"/>
              </a:defRPr>
            </a:pPr>
            <a:r>
              <a:rPr sz="1650" b="1">
                <a:solidFill>
                  <a:srgbClr val="28353A"/>
                </a:solidFill>
                <a:latin typeface="Arial"/>
                <a:ea typeface="Arial"/>
                <a:cs typeface="Arial"/>
              </a:rPr>
              <a:t>Pure pill counting</a:t>
            </a:r>
          </a:p>
        </p:txBody>
      </p:sp>
      <p:sp>
        <p:nvSpPr>
          <p:cNvPr id="14" name="">
            <a:extLst xmlns:a="http://schemas.openxmlformats.org/drawingml/2006/main">
              <a:ext uri="{FF2B5EF4-FFF2-40B4-BE49-F238E27FC236}">
                <a16:creationId xmlns:a16="http://schemas.microsoft.com/office/drawing/2014/main" id="{ECEB6DF9-3085-4D8D-A7E8-FE46F9D4C1FF}"/>
              </a:ext>
            </a:extLst>
          </p:cNvPr>
          <p:cNvSpPr>
            <a:spLocks xmlns:a="http://schemas.openxmlformats.org/drawingml/2006/main" noGrp="1"/>
          </p:cNvSpPr>
          <p:nvPr/>
        </p:nvSpPr>
        <p:spPr>
          <a:xfrm xmlns:a="http://schemas.openxmlformats.org/drawingml/2006/main">
            <a:off x="4476750" y="4048125"/>
            <a:ext cx="695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75" b="0">
                <a:solidFill>
                  <a:srgbClr val="68787A"/>
                </a:solidFill>
                <a:latin typeface="Arial"/>
                <a:ea typeface="Arial"/>
                <a:cs typeface="Arial"/>
              </a:defRPr>
            </a:pPr>
            <a:r>
              <a:rPr sz="1575" b="0">
                <a:solidFill>
                  <a:srgbClr val="68787A"/>
                </a:solidFill>
                <a:latin typeface="Arial"/>
                <a:ea typeface="Arial"/>
                <a:cs typeface="Arial"/>
              </a:rPr>
              <a:t>Does not cover liquids and package changes well.</a:t>
            </a:r>
          </a:p>
        </p:txBody>
      </p:sp>
      <p:sp>
        <p:nvSpPr>
          <p:cNvPr id="15" name="">
            <a:extLst xmlns:a="http://schemas.openxmlformats.org/drawingml/2006/main">
              <a:ext uri="{FF2B5EF4-FFF2-40B4-BE49-F238E27FC236}">
                <a16:creationId xmlns:a16="http://schemas.microsoft.com/office/drawing/2014/main" id="{35E80113-36CD-4A30-A4EB-CB260AB52E9E}"/>
              </a:ext>
            </a:extLst>
          </p:cNvPr>
          <p:cNvSpPr>
            <a:spLocks xmlns:a="http://schemas.openxmlformats.org/drawingml/2006/main" noGrp="1"/>
          </p:cNvSpPr>
          <p:nvPr/>
        </p:nvSpPr>
        <p:spPr>
          <a:xfrm xmlns:a="http://schemas.openxmlformats.org/drawingml/2006/main">
            <a:off x="800100" y="4638675"/>
            <a:ext cx="105727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46E9DEA-CAD0-4275-B8EA-6681DDF35929}"/>
              </a:ext>
            </a:extLst>
          </p:cNvPr>
          <p:cNvSpPr>
            <a:spLocks xmlns:a="http://schemas.openxmlformats.org/drawingml/2006/main" noGrp="1"/>
          </p:cNvSpPr>
          <p:nvPr/>
        </p:nvSpPr>
        <p:spPr>
          <a:xfrm xmlns:a="http://schemas.openxmlformats.org/drawingml/2006/main">
            <a:off x="800100" y="4772025"/>
            <a:ext cx="323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1">
                <a:solidFill>
                  <a:srgbClr val="28353A"/>
                </a:solidFill>
                <a:latin typeface="Arial"/>
                <a:ea typeface="Arial"/>
                <a:cs typeface="Arial"/>
              </a:defRPr>
            </a:pPr>
            <a:r>
              <a:rPr sz="1650" b="1">
                <a:solidFill>
                  <a:srgbClr val="28353A"/>
                </a:solidFill>
                <a:latin typeface="Arial"/>
                <a:ea typeface="Arial"/>
                <a:cs typeface="Arial"/>
              </a:rPr>
              <a:t>Manual pill-weight entry</a:t>
            </a:r>
          </a:p>
        </p:txBody>
      </p:sp>
      <p:sp>
        <p:nvSpPr>
          <p:cNvPr id="17" name="">
            <a:extLst xmlns:a="http://schemas.openxmlformats.org/drawingml/2006/main">
              <a:ext uri="{FF2B5EF4-FFF2-40B4-BE49-F238E27FC236}">
                <a16:creationId xmlns:a16="http://schemas.microsoft.com/office/drawing/2014/main" id="{A71FB377-CB04-4905-B49E-4CDD77C33BFA}"/>
              </a:ext>
            </a:extLst>
          </p:cNvPr>
          <p:cNvSpPr>
            <a:spLocks xmlns:a="http://schemas.openxmlformats.org/drawingml/2006/main" noGrp="1"/>
          </p:cNvSpPr>
          <p:nvPr/>
        </p:nvSpPr>
        <p:spPr>
          <a:xfrm xmlns:a="http://schemas.openxmlformats.org/drawingml/2006/main">
            <a:off x="4476750" y="4772025"/>
            <a:ext cx="695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75" b="0">
                <a:solidFill>
                  <a:srgbClr val="68787A"/>
                </a:solidFill>
                <a:latin typeface="Arial"/>
                <a:ea typeface="Arial"/>
                <a:cs typeface="Arial"/>
              </a:defRPr>
            </a:pPr>
            <a:r>
              <a:rPr sz="1575" b="0">
                <a:solidFill>
                  <a:srgbClr val="68787A"/>
                </a:solidFill>
                <a:latin typeface="Arial"/>
                <a:ea typeface="Arial"/>
                <a:cs typeface="Arial"/>
              </a:rPr>
              <a:t>Takes effort and becomes unreliable with a new package.</a:t>
            </a:r>
          </a:p>
        </p:txBody>
      </p:sp>
      <p:sp>
        <p:nvSpPr>
          <p:cNvPr id="18" name="">
            <a:extLst xmlns:a="http://schemas.openxmlformats.org/drawingml/2006/main">
              <a:ext uri="{FF2B5EF4-FFF2-40B4-BE49-F238E27FC236}">
                <a16:creationId xmlns:a16="http://schemas.microsoft.com/office/drawing/2014/main" id="{CA47F650-491A-4F3E-B00F-E614E6F056D2}"/>
              </a:ext>
            </a:extLst>
          </p:cNvPr>
          <p:cNvSpPr>
            <a:spLocks xmlns:a="http://schemas.openxmlformats.org/drawingml/2006/main" noGrp="1"/>
          </p:cNvSpPr>
          <p:nvPr/>
        </p:nvSpPr>
        <p:spPr>
          <a:xfrm xmlns:a="http://schemas.openxmlformats.org/drawingml/2006/main">
            <a:off x="800100" y="5362575"/>
            <a:ext cx="105727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16EC78D-97D3-4257-9FDC-8A0E514E24C2}"/>
              </a:ext>
            </a:extLst>
          </p:cNvPr>
          <p:cNvSpPr>
            <a:spLocks xmlns:a="http://schemas.openxmlformats.org/drawingml/2006/main" noGrp="1"/>
          </p:cNvSpPr>
          <p:nvPr/>
        </p:nvSpPr>
        <p:spPr>
          <a:xfrm xmlns:a="http://schemas.openxmlformats.org/drawingml/2006/main">
            <a:off x="800100" y="5495925"/>
            <a:ext cx="323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1">
                <a:solidFill>
                  <a:srgbClr val="28353A"/>
                </a:solidFill>
                <a:latin typeface="Arial"/>
                <a:ea typeface="Arial"/>
                <a:cs typeface="Arial"/>
              </a:defRPr>
            </a:pPr>
            <a:r>
              <a:rPr sz="1650" b="1">
                <a:solidFill>
                  <a:srgbClr val="28353A"/>
                </a:solidFill>
                <a:latin typeface="Arial"/>
                <a:ea typeface="Arial"/>
                <a:cs typeface="Arial"/>
              </a:rPr>
              <a:t>IR for blister packs</a:t>
            </a:r>
          </a:p>
        </p:txBody>
      </p:sp>
      <p:sp>
        <p:nvSpPr>
          <p:cNvPr id="20" name="">
            <a:extLst xmlns:a="http://schemas.openxmlformats.org/drawingml/2006/main">
              <a:ext uri="{FF2B5EF4-FFF2-40B4-BE49-F238E27FC236}">
                <a16:creationId xmlns:a16="http://schemas.microsoft.com/office/drawing/2014/main" id="{04552BF1-09D3-4FCC-A3A1-52E3265189AE}"/>
              </a:ext>
            </a:extLst>
          </p:cNvPr>
          <p:cNvSpPr>
            <a:spLocks xmlns:a="http://schemas.openxmlformats.org/drawingml/2006/main" noGrp="1"/>
          </p:cNvSpPr>
          <p:nvPr/>
        </p:nvSpPr>
        <p:spPr>
          <a:xfrm xmlns:a="http://schemas.openxmlformats.org/drawingml/2006/main">
            <a:off x="4476750" y="5495925"/>
            <a:ext cx="695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75" b="0">
                <a:solidFill>
                  <a:srgbClr val="68787A"/>
                </a:solidFill>
                <a:latin typeface="Arial"/>
                <a:ea typeface="Arial"/>
                <a:cs typeface="Arial"/>
              </a:defRPr>
            </a:pPr>
            <a:r>
              <a:rPr sz="1575" b="0">
                <a:solidFill>
                  <a:srgbClr val="68787A"/>
                </a:solidFill>
                <a:latin typeface="Arial"/>
                <a:ea typeface="Arial"/>
                <a:cs typeface="Arial"/>
              </a:rPr>
              <a:t>Kept for the prototype; foil, geometry and alignment can affect it.</a:t>
            </a:r>
          </a:p>
        </p:txBody>
      </p:sp>
      <p:sp>
        <p:nvSpPr>
          <p:cNvPr id="21" name="">
            <a:extLst xmlns:a="http://schemas.openxmlformats.org/drawingml/2006/main">
              <a:ext uri="{FF2B5EF4-FFF2-40B4-BE49-F238E27FC236}">
                <a16:creationId xmlns:a16="http://schemas.microsoft.com/office/drawing/2014/main" id="{D85B2C80-FEF1-42DA-BB7E-31B8DB851B63}"/>
              </a:ext>
            </a:extLst>
          </p:cNvPr>
          <p:cNvSpPr>
            <a:spLocks xmlns:a="http://schemas.openxmlformats.org/drawingml/2006/main" noGrp="1"/>
          </p:cNvSpPr>
          <p:nvPr/>
        </p:nvSpPr>
        <p:spPr>
          <a:xfrm xmlns:a="http://schemas.openxmlformats.org/drawingml/2006/main">
            <a:off x="800100" y="6086475"/>
            <a:ext cx="105727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Tree>
    <p:extLst>
      <p:ext uri="{BB962C8B-B14F-4D97-AF65-F5344CB8AC3E}">
        <p14:creationId xmlns:p14="http://schemas.microsoft.com/office/powerpoint/2010/main" val="904838399"/>
      </p:ext>
    </p:extLst>
  </p:cSld>
</p:sld>
</file>

<file path=ppt/slides/slide1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8DD389-BAF7-4A86-A656-6484AC28AC2F}"/>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Planned MediSync app and care-team use</a:t>
            </a:r>
          </a:p>
        </p:txBody>
      </p:sp>
      <p:sp>
        <p:nvSpPr>
          <p:cNvPr id="2" name="">
            <a:extLst xmlns:a="http://schemas.openxmlformats.org/drawingml/2006/main">
              <a:ext uri="{FF2B5EF4-FFF2-40B4-BE49-F238E27FC236}">
                <a16:creationId xmlns:a16="http://schemas.microsoft.com/office/drawing/2014/main" id="{69456EE3-90CD-43F5-90B3-FAD1E9D7872F}"/>
              </a:ext>
            </a:extLst>
          </p:cNvPr>
          <p:cNvSpPr>
            <a:spLocks xmlns:a="http://schemas.openxmlformats.org/drawingml/2006/main" noGrp="1"/>
          </p:cNvSpPr>
          <p:nvPr/>
        </p:nvSpPr>
        <p:spPr>
          <a:xfrm xmlns:a="http://schemas.openxmlformats.org/drawingml/2006/main">
            <a:off x="800100" y="1447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WHO CAN BE INCLUDED</a:t>
            </a:r>
          </a:p>
        </p:txBody>
      </p:sp>
      <p:sp>
        <p:nvSpPr>
          <p:cNvPr id="3" name="">
            <a:extLst xmlns:a="http://schemas.openxmlformats.org/drawingml/2006/main">
              <a:ext uri="{FF2B5EF4-FFF2-40B4-BE49-F238E27FC236}">
                <a16:creationId xmlns:a16="http://schemas.microsoft.com/office/drawing/2014/main" id="{8D0D6CDE-099A-47D1-820D-A556B82FD02E}"/>
              </a:ext>
            </a:extLst>
          </p:cNvPr>
          <p:cNvSpPr>
            <a:spLocks xmlns:a="http://schemas.openxmlformats.org/drawingml/2006/main" noGrp="1"/>
          </p:cNvSpPr>
          <p:nvPr/>
        </p:nvSpPr>
        <p:spPr>
          <a:xfrm xmlns:a="http://schemas.openxmlformats.org/drawingml/2006/main">
            <a:off x="800100" y="1876425"/>
            <a:ext cx="476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50" b="0">
                <a:solidFill>
                  <a:srgbClr val="28353A"/>
                </a:solidFill>
                <a:latin typeface="Arial"/>
                <a:ea typeface="Arial"/>
                <a:cs typeface="Arial"/>
              </a:defRPr>
            </a:pPr>
            <a:r>
              <a:rPr sz="1950" b="0">
                <a:solidFill>
                  <a:srgbClr val="28353A"/>
                </a:solidFill>
                <a:latin typeface="Arial"/>
                <a:ea typeface="Arial"/>
                <a:cs typeface="Arial"/>
              </a:rPr>
              <a:t>Patient</a:t>
            </a:r>
          </a:p>
          <a:p xmlns:a="http://schemas.openxmlformats.org/drawingml/2006/main">
            <a:pPr algn="l">
              <a:buNone/>
              <a:defRPr sz="1950" b="0">
                <a:solidFill>
                  <a:srgbClr val="28353A"/>
                </a:solidFill>
                <a:latin typeface="Arial"/>
                <a:ea typeface="Arial"/>
                <a:cs typeface="Arial"/>
              </a:defRPr>
            </a:pPr>
            <a:r>
              <a:rPr sz="1950" b="0">
                <a:solidFill>
                  <a:srgbClr val="28353A"/>
                </a:solidFill>
                <a:latin typeface="Arial"/>
                <a:ea typeface="Arial"/>
                <a:cs typeface="Arial"/>
              </a:rPr>
              <a:t>Family</a:t>
            </a:r>
          </a:p>
          <a:p xmlns:a="http://schemas.openxmlformats.org/drawingml/2006/main">
            <a:pPr algn="l">
              <a:buNone/>
              <a:defRPr sz="1950" b="0">
                <a:solidFill>
                  <a:srgbClr val="28353A"/>
                </a:solidFill>
                <a:latin typeface="Arial"/>
                <a:ea typeface="Arial"/>
                <a:cs typeface="Arial"/>
              </a:defRPr>
            </a:pPr>
            <a:r>
              <a:rPr sz="1950" b="0">
                <a:solidFill>
                  <a:srgbClr val="28353A"/>
                </a:solidFill>
                <a:latin typeface="Arial"/>
                <a:ea typeface="Arial"/>
                <a:cs typeface="Arial"/>
              </a:rPr>
              <a:t>Authorized doctors, nurses and healthcare staff</a:t>
            </a:r>
          </a:p>
        </p:txBody>
      </p:sp>
      <p:sp>
        <p:nvSpPr>
          <p:cNvPr id="4" name="">
            <a:extLst xmlns:a="http://schemas.openxmlformats.org/drawingml/2006/main">
              <a:ext uri="{FF2B5EF4-FFF2-40B4-BE49-F238E27FC236}">
                <a16:creationId xmlns:a16="http://schemas.microsoft.com/office/drawing/2014/main" id="{091677F2-96AE-4738-AC33-6A766E234DF3}"/>
              </a:ext>
            </a:extLst>
          </p:cNvPr>
          <p:cNvSpPr>
            <a:spLocks xmlns:a="http://schemas.openxmlformats.org/drawingml/2006/main" noGrp="1"/>
          </p:cNvSpPr>
          <p:nvPr/>
        </p:nvSpPr>
        <p:spPr>
          <a:xfrm xmlns:a="http://schemas.openxmlformats.org/drawingml/2006/main">
            <a:off x="800100" y="38100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ROLE-BASED ACCESS</a:t>
            </a:r>
          </a:p>
        </p:txBody>
      </p:sp>
      <p:sp>
        <p:nvSpPr>
          <p:cNvPr id="5" name="">
            <a:extLst xmlns:a="http://schemas.openxmlformats.org/drawingml/2006/main">
              <a:ext uri="{FF2B5EF4-FFF2-40B4-BE49-F238E27FC236}">
                <a16:creationId xmlns:a16="http://schemas.microsoft.com/office/drawing/2014/main" id="{767FA6CE-3834-4F90-A8E8-2A419E879610}"/>
              </a:ext>
            </a:extLst>
          </p:cNvPr>
          <p:cNvSpPr>
            <a:spLocks xmlns:a="http://schemas.openxmlformats.org/drawingml/2006/main" noGrp="1"/>
          </p:cNvSpPr>
          <p:nvPr/>
        </p:nvSpPr>
        <p:spPr>
          <a:xfrm xmlns:a="http://schemas.openxmlformats.org/drawingml/2006/main">
            <a:off x="800100" y="4219575"/>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68787A"/>
                </a:solidFill>
                <a:latin typeface="Arial"/>
                <a:ea typeface="Arial"/>
                <a:cs typeface="Arial"/>
              </a:defRPr>
            </a:pPr>
            <a:r>
              <a:rPr sz="1650" b="0">
                <a:solidFill>
                  <a:srgbClr val="68787A"/>
                </a:solidFill>
                <a:latin typeface="Arial"/>
                <a:ea typeface="Arial"/>
                <a:cs typeface="Arial"/>
              </a:rPr>
              <a:t>Authorized care-team members could update schedules. Access would depend on role. Patients could request their tracking data.</a:t>
            </a:r>
          </a:p>
        </p:txBody>
      </p:sp>
      <p:sp>
        <p:nvSpPr>
          <p:cNvPr id="6" name="">
            <a:extLst xmlns:a="http://schemas.openxmlformats.org/drawingml/2006/main">
              <a:ext uri="{FF2B5EF4-FFF2-40B4-BE49-F238E27FC236}">
                <a16:creationId xmlns:a16="http://schemas.microsoft.com/office/drawing/2014/main" id="{DC92823A-8765-48F7-80AD-ADF7A03C426D}"/>
              </a:ext>
            </a:extLst>
          </p:cNvPr>
          <p:cNvSpPr>
            <a:spLocks xmlns:a="http://schemas.openxmlformats.org/drawingml/2006/main" noGrp="1"/>
          </p:cNvSpPr>
          <p:nvPr/>
        </p:nvSpPr>
        <p:spPr>
          <a:xfrm xmlns:a="http://schemas.openxmlformats.org/drawingml/2006/main">
            <a:off x="6076950" y="1447800"/>
            <a:ext cx="19050" cy="395287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070B311-2B9C-4358-9AED-3BFF6E875696}"/>
              </a:ext>
            </a:extLst>
          </p:cNvPr>
          <p:cNvSpPr>
            <a:spLocks xmlns:a="http://schemas.openxmlformats.org/drawingml/2006/main" noGrp="1"/>
          </p:cNvSpPr>
          <p:nvPr/>
        </p:nvSpPr>
        <p:spPr>
          <a:xfrm xmlns:a="http://schemas.openxmlformats.org/drawingml/2006/main">
            <a:off x="6610350" y="144780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ALERTS</a:t>
            </a:r>
          </a:p>
        </p:txBody>
      </p:sp>
      <p:sp>
        <p:nvSpPr>
          <p:cNvPr id="8" name="">
            <a:extLst xmlns:a="http://schemas.openxmlformats.org/drawingml/2006/main">
              <a:ext uri="{FF2B5EF4-FFF2-40B4-BE49-F238E27FC236}">
                <a16:creationId xmlns:a16="http://schemas.microsoft.com/office/drawing/2014/main" id="{BC25180F-CEEB-4C68-84B7-C09F3ED414BA}"/>
              </a:ext>
            </a:extLst>
          </p:cNvPr>
          <p:cNvSpPr>
            <a:spLocks xmlns:a="http://schemas.openxmlformats.org/drawingml/2006/main" noGrp="1"/>
          </p:cNvSpPr>
          <p:nvPr/>
        </p:nvSpPr>
        <p:spPr>
          <a:xfrm xmlns:a="http://schemas.openxmlformats.org/drawingml/2006/main">
            <a:off x="6610350" y="1885950"/>
            <a:ext cx="4572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0">
                <a:solidFill>
                  <a:srgbClr val="28353A"/>
                </a:solidFill>
                <a:latin typeface="Arial"/>
                <a:ea typeface="Arial"/>
                <a:cs typeface="Arial"/>
              </a:defRPr>
            </a:pPr>
            <a:r>
              <a:rPr sz="1875" b="0">
                <a:solidFill>
                  <a:srgbClr val="28353A"/>
                </a:solidFill>
                <a:latin typeface="Arial"/>
                <a:ea typeface="Arial"/>
                <a:cs typeface="Arial"/>
              </a:rPr>
              <a:t>The planned app could vary reminder and missed-dose messages by age group and disease.</a:t>
            </a:r>
          </a:p>
        </p:txBody>
      </p:sp>
      <p:sp>
        <p:nvSpPr>
          <p:cNvPr id="9" name="">
            <a:extLst xmlns:a="http://schemas.openxmlformats.org/drawingml/2006/main">
              <a:ext uri="{FF2B5EF4-FFF2-40B4-BE49-F238E27FC236}">
                <a16:creationId xmlns:a16="http://schemas.microsoft.com/office/drawing/2014/main" id="{4A1C62DA-85DD-4FEF-82A4-F270ECDB0A9B}"/>
              </a:ext>
            </a:extLst>
          </p:cNvPr>
          <p:cNvSpPr>
            <a:spLocks xmlns:a="http://schemas.openxmlformats.org/drawingml/2006/main" noGrp="1"/>
          </p:cNvSpPr>
          <p:nvPr/>
        </p:nvSpPr>
        <p:spPr>
          <a:xfrm xmlns:a="http://schemas.openxmlformats.org/drawingml/2006/main">
            <a:off x="6610350" y="327660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HOSPITALS</a:t>
            </a:r>
          </a:p>
        </p:txBody>
      </p:sp>
      <p:sp>
        <p:nvSpPr>
          <p:cNvPr id="10" name="">
            <a:extLst xmlns:a="http://schemas.openxmlformats.org/drawingml/2006/main">
              <a:ext uri="{FF2B5EF4-FFF2-40B4-BE49-F238E27FC236}">
                <a16:creationId xmlns:a16="http://schemas.microsoft.com/office/drawing/2014/main" id="{C2B5F459-9714-4644-B69C-BD38F90FE70B}"/>
              </a:ext>
            </a:extLst>
          </p:cNvPr>
          <p:cNvSpPr>
            <a:spLocks xmlns:a="http://schemas.openxmlformats.org/drawingml/2006/main" noGrp="1"/>
          </p:cNvSpPr>
          <p:nvPr/>
        </p:nvSpPr>
        <p:spPr>
          <a:xfrm xmlns:a="http://schemas.openxmlformats.org/drawingml/2006/main">
            <a:off x="6610350" y="3714750"/>
            <a:ext cx="4572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00" b="0">
                <a:solidFill>
                  <a:srgbClr val="28353A"/>
                </a:solidFill>
                <a:latin typeface="Arial"/>
                <a:ea typeface="Arial"/>
                <a:cs typeface="Arial"/>
              </a:defRPr>
            </a:pPr>
            <a:r>
              <a:rPr sz="1800" b="0">
                <a:solidFill>
                  <a:srgbClr val="28353A"/>
                </a:solidFill>
                <a:latin typeface="Arial"/>
                <a:ea typeface="Arial"/>
                <a:cs typeface="Arial"/>
              </a:rPr>
              <a:t>Medication events could be logged digitally to reduce repetitive tracking work and support care staff.</a:t>
            </a:r>
          </a:p>
        </p:txBody>
      </p:sp>
      <p:sp>
        <p:nvSpPr>
          <p:cNvPr id="11" name="">
            <a:extLst xmlns:a="http://schemas.openxmlformats.org/drawingml/2006/main">
              <a:ext uri="{FF2B5EF4-FFF2-40B4-BE49-F238E27FC236}">
                <a16:creationId xmlns:a16="http://schemas.microsoft.com/office/drawing/2014/main" id="{8965691E-A262-4F8D-959D-39F4C0E1C18A}"/>
              </a:ext>
            </a:extLst>
          </p:cNvPr>
          <p:cNvSpPr>
            <a:spLocks xmlns:a="http://schemas.openxmlformats.org/drawingml/2006/main" noGrp="1"/>
          </p:cNvSpPr>
          <p:nvPr/>
        </p:nvSpPr>
        <p:spPr>
          <a:xfrm xmlns:a="http://schemas.openxmlformats.org/drawingml/2006/main">
            <a:off x="6610350" y="50482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00" b="1">
                <a:solidFill>
                  <a:srgbClr val="C87854"/>
                </a:solidFill>
                <a:latin typeface="Arial"/>
                <a:ea typeface="Arial"/>
                <a:cs typeface="Arial"/>
              </a:defRPr>
            </a:pPr>
            <a:r>
              <a:rPr sz="1500" b="1">
                <a:solidFill>
                  <a:srgbClr val="C87854"/>
                </a:solidFill>
                <a:latin typeface="Arial"/>
                <a:ea typeface="Arial"/>
                <a:cs typeface="Arial"/>
              </a:rPr>
              <a:t>This is intended to support clinical work, not replace clinical judgment.</a:t>
            </a:r>
          </a:p>
        </p:txBody>
      </p:sp>
    </p:spTree>
    <p:extLst>
      <p:ext uri="{BB962C8B-B14F-4D97-AF65-F5344CB8AC3E}">
        <p14:creationId xmlns:p14="http://schemas.microsoft.com/office/powerpoint/2010/main" val="1649823001"/>
      </p:ext>
    </p:extLst>
  </p:cSld>
</p:sld>
</file>

<file path=ppt/slides/slide1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8DD389-BAF7-4A86-A656-6484AC28AC2F}"/>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Hospital workflow and alerts</a:t>
            </a:r>
          </a:p>
        </p:txBody>
      </p:sp>
      <p:sp>
        <p:nvSpPr>
          <p:cNvPr id="2" name="">
            <a:extLst xmlns:a="http://schemas.openxmlformats.org/drawingml/2006/main">
              <a:ext uri="{FF2B5EF4-FFF2-40B4-BE49-F238E27FC236}">
                <a16:creationId xmlns:a16="http://schemas.microsoft.com/office/drawing/2014/main" id="{69456EE3-90CD-43F5-90B3-FAD1E9D7872F}"/>
              </a:ext>
            </a:extLst>
          </p:cNvPr>
          <p:cNvSpPr>
            <a:spLocks xmlns:a="http://schemas.openxmlformats.org/drawingml/2006/main" noGrp="1"/>
          </p:cNvSpPr>
          <p:nvPr/>
        </p:nvSpPr>
        <p:spPr>
          <a:xfrm xmlns:a="http://schemas.openxmlformats.org/drawingml/2006/main">
            <a:off x="800100" y="1447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BED AND PRESCRIPTION</a:t>
            </a:r>
          </a:p>
        </p:txBody>
      </p:sp>
      <p:sp>
        <p:nvSpPr>
          <p:cNvPr id="3" name="">
            <a:extLst xmlns:a="http://schemas.openxmlformats.org/drawingml/2006/main">
              <a:ext uri="{FF2B5EF4-FFF2-40B4-BE49-F238E27FC236}">
                <a16:creationId xmlns:a16="http://schemas.microsoft.com/office/drawing/2014/main" id="{8D0D6CDE-099A-47D1-820D-A556B82FD02E}"/>
              </a:ext>
            </a:extLst>
          </p:cNvPr>
          <p:cNvSpPr>
            <a:spLocks xmlns:a="http://schemas.openxmlformats.org/drawingml/2006/main" noGrp="1"/>
          </p:cNvSpPr>
          <p:nvPr/>
        </p:nvSpPr>
        <p:spPr>
          <a:xfrm xmlns:a="http://schemas.openxmlformats.org/drawingml/2006/main">
            <a:off x="800100" y="1876425"/>
            <a:ext cx="476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50" b="0">
                <a:solidFill>
                  <a:srgbClr val="28353A"/>
                </a:solidFill>
                <a:latin typeface="Arial"/>
                <a:ea typeface="Arial"/>
                <a:cs typeface="Arial"/>
              </a:defRPr>
            </a:pPr>
            <a:r>
              <a:rPr sz="1950" b="0">
                <a:solidFill>
                  <a:srgbClr val="28353A"/>
                </a:solidFill>
                <a:latin typeface="Arial"/>
                <a:ea typeface="Arial"/>
                <a:cs typeface="Arial"/>
              </a:rPr>
              <a:t>Assign one desk device to the patient</a:t>
            </a:r>
          </a:p>
          <a:p xmlns:a="http://schemas.openxmlformats.org/drawingml/2006/main">
            <a:pPr algn="l">
              <a:buNone/>
              <a:defRPr sz="1950" b="0">
                <a:solidFill>
                  <a:srgbClr val="28353A"/>
                </a:solidFill>
                <a:latin typeface="Arial"/>
                <a:ea typeface="Arial"/>
                <a:cs typeface="Arial"/>
              </a:defRPr>
            </a:pPr>
            <a:r>
              <a:rPr sz="1950" b="0">
                <a:solidFill>
                  <a:srgbClr val="28353A"/>
                </a:solidFill>
                <a:latin typeface="Arial"/>
                <a:ea typeface="Arial"/>
                <a:cs typeface="Arial"/>
              </a:rPr>
              <a:t>when the bed is assigned. The doctor</a:t>
            </a:r>
          </a:p>
          <a:p xmlns:a="http://schemas.openxmlformats.org/drawingml/2006/main">
            <a:pPr algn="l">
              <a:buNone/>
              <a:defRPr sz="1950" b="0">
                <a:solidFill>
                  <a:srgbClr val="28353A"/>
                </a:solidFill>
                <a:latin typeface="Arial"/>
                <a:ea typeface="Arial"/>
                <a:cs typeface="Arial"/>
              </a:defRPr>
            </a:pPr>
            <a:r>
              <a:rPr sz="1950" b="0">
                <a:solidFill>
                  <a:srgbClr val="28353A"/>
                </a:solidFill>
                <a:latin typeface="Arial"/>
                <a:ea typeface="Arial"/>
                <a:cs typeface="Arial"/>
              </a:rPr>
              <a:t>enters the prescription.</a:t>
            </a:r>
          </a:p>
        </p:txBody>
      </p:sp>
      <p:sp>
        <p:nvSpPr>
          <p:cNvPr id="4" name="">
            <a:extLst xmlns:a="http://schemas.openxmlformats.org/drawingml/2006/main">
              <a:ext uri="{FF2B5EF4-FFF2-40B4-BE49-F238E27FC236}">
                <a16:creationId xmlns:a16="http://schemas.microsoft.com/office/drawing/2014/main" id="{091677F2-96AE-4738-AC33-6A766E234DF3}"/>
              </a:ext>
            </a:extLst>
          </p:cNvPr>
          <p:cNvSpPr>
            <a:spLocks xmlns:a="http://schemas.openxmlformats.org/drawingml/2006/main" noGrp="1"/>
          </p:cNvSpPr>
          <p:nvPr/>
        </p:nvSpPr>
        <p:spPr>
          <a:xfrm xmlns:a="http://schemas.openxmlformats.org/drawingml/2006/main">
            <a:off x="800100" y="38100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SCHEDULE CHANGES</a:t>
            </a:r>
          </a:p>
        </p:txBody>
      </p:sp>
      <p:sp>
        <p:nvSpPr>
          <p:cNvPr id="5" name="">
            <a:extLst xmlns:a="http://schemas.openxmlformats.org/drawingml/2006/main">
              <a:ext uri="{FF2B5EF4-FFF2-40B4-BE49-F238E27FC236}">
                <a16:creationId xmlns:a16="http://schemas.microsoft.com/office/drawing/2014/main" id="{767FA6CE-3834-4F90-A8E8-2A419E879610}"/>
              </a:ext>
            </a:extLst>
          </p:cNvPr>
          <p:cNvSpPr>
            <a:spLocks xmlns:a="http://schemas.openxmlformats.org/drawingml/2006/main" noGrp="1"/>
          </p:cNvSpPr>
          <p:nvPr/>
        </p:nvSpPr>
        <p:spPr>
          <a:xfrm xmlns:a="http://schemas.openxmlformats.org/drawingml/2006/main">
            <a:off x="800100" y="4219575"/>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68787A"/>
                </a:solidFill>
                <a:latin typeface="Arial"/>
                <a:ea typeface="Arial"/>
                <a:cs typeface="Arial"/>
              </a:defRPr>
            </a:pPr>
            <a:r>
              <a:rPr sz="1650" b="0">
                <a:solidFill>
                  <a:srgbClr val="68787A"/>
                </a:solidFill>
                <a:latin typeface="Arial"/>
                <a:ea typeface="Arial"/>
                <a:cs typeface="Arial"/>
              </a:rPr>
              <a:t>Nurses can change schedules.</a:t>
            </a:r>
          </a:p>
          <a:p xmlns:a="http://schemas.openxmlformats.org/drawingml/2006/main">
            <a:pPr algn="l">
              <a:buNone/>
              <a:defRPr sz="1650" b="0">
                <a:solidFill>
                  <a:srgbClr val="68787A"/>
                </a:solidFill>
                <a:latin typeface="Arial"/>
                <a:ea typeface="Arial"/>
                <a:cs typeface="Arial"/>
              </a:defRPr>
            </a:pPr>
            <a:r>
              <a:rPr sz="1650" b="0">
                <a:solidFill>
                  <a:srgbClr val="68787A"/>
                </a:solidFill>
                <a:latin typeface="Arial"/>
                <a:ea typeface="Arial"/>
                <a:cs typeface="Arial"/>
              </a:rPr>
              <a:t>MediSync notifies the doctor after</a:t>
            </a:r>
          </a:p>
          <a:p xmlns:a="http://schemas.openxmlformats.org/drawingml/2006/main">
            <a:pPr algn="l">
              <a:buNone/>
              <a:defRPr sz="1650" b="0">
                <a:solidFill>
                  <a:srgbClr val="68787A"/>
                </a:solidFill>
                <a:latin typeface="Arial"/>
                <a:ea typeface="Arial"/>
                <a:cs typeface="Arial"/>
              </a:defRPr>
            </a:pPr>
            <a:r>
              <a:rPr sz="1650" b="0">
                <a:solidFill>
                  <a:srgbClr val="68787A"/>
                </a:solidFill>
                <a:latin typeface="Arial"/>
                <a:ea typeface="Arial"/>
                <a:cs typeface="Arial"/>
              </a:rPr>
              <a:t>each change.</a:t>
            </a:r>
          </a:p>
        </p:txBody>
      </p:sp>
      <p:sp>
        <p:nvSpPr>
          <p:cNvPr id="6" name="">
            <a:extLst xmlns:a="http://schemas.openxmlformats.org/drawingml/2006/main">
              <a:ext uri="{FF2B5EF4-FFF2-40B4-BE49-F238E27FC236}">
                <a16:creationId xmlns:a16="http://schemas.microsoft.com/office/drawing/2014/main" id="{DC92823A-8765-48F7-80AD-ADF7A03C426D}"/>
              </a:ext>
            </a:extLst>
          </p:cNvPr>
          <p:cNvSpPr>
            <a:spLocks xmlns:a="http://schemas.openxmlformats.org/drawingml/2006/main" noGrp="1"/>
          </p:cNvSpPr>
          <p:nvPr/>
        </p:nvSpPr>
        <p:spPr>
          <a:xfrm xmlns:a="http://schemas.openxmlformats.org/drawingml/2006/main">
            <a:off x="6076950" y="1447800"/>
            <a:ext cx="19050" cy="395287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070B311-2B9C-4358-9AED-3BFF6E875696}"/>
              </a:ext>
            </a:extLst>
          </p:cNvPr>
          <p:cNvSpPr>
            <a:spLocks xmlns:a="http://schemas.openxmlformats.org/drawingml/2006/main" noGrp="1"/>
          </p:cNvSpPr>
          <p:nvPr/>
        </p:nvSpPr>
        <p:spPr>
          <a:xfrm xmlns:a="http://schemas.openxmlformats.org/drawingml/2006/main">
            <a:off x="6610350" y="144780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EVENT FOLLOW-UP</a:t>
            </a:r>
          </a:p>
        </p:txBody>
      </p:sp>
      <p:sp>
        <p:nvSpPr>
          <p:cNvPr id="8" name="">
            <a:extLst xmlns:a="http://schemas.openxmlformats.org/drawingml/2006/main">
              <a:ext uri="{FF2B5EF4-FFF2-40B4-BE49-F238E27FC236}">
                <a16:creationId xmlns:a16="http://schemas.microsoft.com/office/drawing/2014/main" id="{BC25180F-CEEB-4C68-84B7-C09F3ED414BA}"/>
              </a:ext>
            </a:extLst>
          </p:cNvPr>
          <p:cNvSpPr>
            <a:spLocks xmlns:a="http://schemas.openxmlformats.org/drawingml/2006/main" noGrp="1"/>
          </p:cNvSpPr>
          <p:nvPr/>
        </p:nvSpPr>
        <p:spPr>
          <a:xfrm xmlns:a="http://schemas.openxmlformats.org/drawingml/2006/main">
            <a:off x="6610350" y="1885950"/>
            <a:ext cx="4572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0">
                <a:solidFill>
                  <a:srgbClr val="28353A"/>
                </a:solidFill>
                <a:latin typeface="Arial"/>
                <a:ea typeface="Arial"/>
                <a:cs typeface="Arial"/>
              </a:defRPr>
            </a:pPr>
            <a:r>
              <a:rPr sz="1875" b="0">
                <a:solidFill>
                  <a:srgbClr val="28353A"/>
                </a:solidFill>
                <a:latin typeface="Arial"/>
                <a:ea typeface="Arial"/>
                <a:cs typeface="Arial"/>
              </a:rPr>
              <a:t>Tracks weight/state changes and</a:t>
            </a:r>
          </a:p>
          <a:p xmlns:a="http://schemas.openxmlformats.org/drawingml/2006/main">
            <a:pPr algn="l">
              <a:buNone/>
              <a:defRPr sz="1875" b="0">
                <a:solidFill>
                  <a:srgbClr val="28353A"/>
                </a:solidFill>
                <a:latin typeface="Arial"/>
                <a:ea typeface="Arial"/>
                <a:cs typeface="Arial"/>
              </a:defRPr>
            </a:pPr>
            <a:r>
              <a:rPr sz="1875" b="0">
                <a:solidFill>
                  <a:srgbClr val="28353A"/>
                </a:solidFill>
                <a:latin typeface="Arial"/>
                <a:ea typeface="Arial"/>
                <a:cs typeface="Arial"/>
              </a:rPr>
              <a:t>response time. Nurse/staff receive</a:t>
            </a:r>
          </a:p>
          <a:p xmlns:a="http://schemas.openxmlformats.org/drawingml/2006/main">
            <a:pPr algn="l">
              <a:buNone/>
              <a:defRPr sz="1875" b="0">
                <a:solidFill>
                  <a:srgbClr val="28353A"/>
                </a:solidFill>
                <a:latin typeface="Arial"/>
                <a:ea typeface="Arial"/>
                <a:cs typeface="Arial"/>
              </a:defRPr>
            </a:pPr>
            <a:r>
              <a:rPr sz="1875" b="0">
                <a:solidFill>
                  <a:srgbClr val="28353A"/>
                </a:solidFill>
                <a:latin typeface="Arial"/>
                <a:ea typeface="Arial"/>
                <a:cs typeface="Arial"/>
              </a:rPr>
              <a:t>alerts for unresolved events.</a:t>
            </a:r>
          </a:p>
        </p:txBody>
      </p:sp>
      <p:sp>
        <p:nvSpPr>
          <p:cNvPr id="9" name="">
            <a:extLst xmlns:a="http://schemas.openxmlformats.org/drawingml/2006/main">
              <a:ext uri="{FF2B5EF4-FFF2-40B4-BE49-F238E27FC236}">
                <a16:creationId xmlns:a16="http://schemas.microsoft.com/office/drawing/2014/main" id="{4A1C62DA-85DD-4FEF-82A4-F270ECDB0A9B}"/>
              </a:ext>
            </a:extLst>
          </p:cNvPr>
          <p:cNvSpPr>
            <a:spLocks xmlns:a="http://schemas.openxmlformats.org/drawingml/2006/main" noGrp="1"/>
          </p:cNvSpPr>
          <p:nvPr/>
        </p:nvSpPr>
        <p:spPr>
          <a:xfrm xmlns:a="http://schemas.openxmlformats.org/drawingml/2006/main">
            <a:off x="6610350" y="327660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MISSED EVENTS</a:t>
            </a:r>
          </a:p>
        </p:txBody>
      </p:sp>
      <p:sp>
        <p:nvSpPr>
          <p:cNvPr id="10" name="">
            <a:extLst xmlns:a="http://schemas.openxmlformats.org/drawingml/2006/main">
              <a:ext uri="{FF2B5EF4-FFF2-40B4-BE49-F238E27FC236}">
                <a16:creationId xmlns:a16="http://schemas.microsoft.com/office/drawing/2014/main" id="{C2B5F459-9714-4644-B69C-BD38F90FE70B}"/>
              </a:ext>
            </a:extLst>
          </p:cNvPr>
          <p:cNvSpPr>
            <a:spLocks xmlns:a="http://schemas.openxmlformats.org/drawingml/2006/main" noGrp="1"/>
          </p:cNvSpPr>
          <p:nvPr/>
        </p:nvSpPr>
        <p:spPr>
          <a:xfrm xmlns:a="http://schemas.openxmlformats.org/drawingml/2006/main">
            <a:off x="6610350" y="3714750"/>
            <a:ext cx="4572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00" b="0">
                <a:solidFill>
                  <a:srgbClr val="28353A"/>
                </a:solidFill>
                <a:latin typeface="Arial"/>
                <a:ea typeface="Arial"/>
                <a:cs typeface="Arial"/>
              </a:defRPr>
            </a:pPr>
            <a:r>
              <a:rPr sz="1800" b="0">
                <a:solidFill>
                  <a:srgbClr val="28353A"/>
                </a:solidFill>
                <a:latin typeface="Arial"/>
                <a:ea typeface="Arial"/>
                <a:cs typeface="Arial"/>
              </a:rPr>
              <a:t>The doctor is notified only when</a:t>
            </a:r>
          </a:p>
          <a:p xmlns:a="http://schemas.openxmlformats.org/drawingml/2006/main">
            <a:pPr algn="l">
              <a:buNone/>
              <a:defRPr sz="1800" b="0">
                <a:solidFill>
                  <a:srgbClr val="28353A"/>
                </a:solidFill>
                <a:latin typeface="Arial"/>
                <a:ea typeface="Arial"/>
                <a:cs typeface="Arial"/>
              </a:defRPr>
            </a:pPr>
            <a:r>
              <a:rPr sz="1800" b="0">
                <a:solidFill>
                  <a:srgbClr val="28353A"/>
                </a:solidFill>
                <a:latin typeface="Arial"/>
                <a:ea typeface="Arial"/>
                <a:cs typeface="Arial"/>
              </a:rPr>
              <a:t>missed events become frequent.</a:t>
            </a:r>
          </a:p>
        </p:txBody>
      </p:sp>
      <p:sp>
        <p:nvSpPr>
          <p:cNvPr id="11" name="">
            <a:extLst xmlns:a="http://schemas.openxmlformats.org/drawingml/2006/main">
              <a:ext uri="{FF2B5EF4-FFF2-40B4-BE49-F238E27FC236}">
                <a16:creationId xmlns:a16="http://schemas.microsoft.com/office/drawing/2014/main" id="{8965691E-A262-4F8D-959D-39F4C0E1C18A}"/>
              </a:ext>
            </a:extLst>
          </p:cNvPr>
          <p:cNvSpPr>
            <a:spLocks xmlns:a="http://schemas.openxmlformats.org/drawingml/2006/main" noGrp="1"/>
          </p:cNvSpPr>
          <p:nvPr/>
        </p:nvSpPr>
        <p:spPr>
          <a:xfrm xmlns:a="http://schemas.openxmlformats.org/drawingml/2006/main">
            <a:off x="6610350" y="50482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00" b="1">
                <a:solidFill>
                  <a:srgbClr val="C87854"/>
                </a:solidFill>
                <a:latin typeface="Arial"/>
                <a:ea typeface="Arial"/>
                <a:cs typeface="Arial"/>
              </a:defRPr>
            </a:pPr>
            <a:r>
              <a:rPr sz="1500" b="1">
                <a:solidFill>
                  <a:srgbClr val="C87854"/>
                </a:solidFill>
                <a:latin typeface="Arial"/>
                <a:ea typeface="Arial"/>
                <a:cs typeface="Arial"/>
              </a:rPr>
              <a:t>The first hospital version starts without ML.</a:t>
            </a:r>
          </a:p>
        </p:txBody>
      </p:sp>
    </p:spTree>
    <p:extLst>
      <p:ext uri="{BB962C8B-B14F-4D97-AF65-F5344CB8AC3E}">
        <p14:creationId xmlns:p14="http://schemas.microsoft.com/office/powerpoint/2010/main" val="1649823001"/>
      </p:ext>
    </p:extLst>
  </p:cSld>
</p:sld>
</file>

<file path=ppt/slides/slide2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08A9204-6D1D-47A7-AF8C-FDDBEEE3AB79}"/>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Hospital dashboard and audit trail</a:t>
            </a:r>
          </a:p>
        </p:txBody>
      </p:sp>
      <p:sp>
        <p:nvSpPr>
          <p:cNvPr id="2" name="">
            <a:extLst xmlns:a="http://schemas.openxmlformats.org/drawingml/2006/main">
              <a:ext uri="{FF2B5EF4-FFF2-40B4-BE49-F238E27FC236}">
                <a16:creationId xmlns:a16="http://schemas.microsoft.com/office/drawing/2014/main" id="{A2DF5BDC-0E74-49D1-98CC-89A1FCFBAF1A}"/>
              </a:ext>
            </a:extLst>
          </p:cNvPr>
          <p:cNvSpPr>
            <a:spLocks xmlns:a="http://schemas.openxmlformats.org/drawingml/2006/main" noGrp="1"/>
          </p:cNvSpPr>
          <p:nvPr/>
        </p:nvSpPr>
        <p:spPr>
          <a:xfrm xmlns:a="http://schemas.openxmlformats.org/drawingml/2006/main">
            <a:off x="781050" y="16668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1">
                <a:solidFill>
                  <a:srgbClr val="C87854"/>
                </a:solidFill>
                <a:latin typeface="Arial"/>
                <a:ea typeface="Arial"/>
                <a:cs typeface="Arial"/>
              </a:defRPr>
            </a:pPr>
            <a:r>
              <a:rPr sz="1875" b="1">
                <a:solidFill>
                  <a:srgbClr val="C87854"/>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31674BDB-9A97-40BB-9293-E2AAA816B09F}"/>
              </a:ext>
            </a:extLst>
          </p:cNvPr>
          <p:cNvSpPr>
            <a:spLocks xmlns:a="http://schemas.openxmlformats.org/drawingml/2006/main" noGrp="1"/>
          </p:cNvSpPr>
          <p:nvPr/>
        </p:nvSpPr>
        <p:spPr>
          <a:xfrm xmlns:a="http://schemas.openxmlformats.org/drawingml/2006/main">
            <a:off x="1562100" y="16668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175" b="1">
                <a:solidFill>
                  <a:srgbClr val="28353A"/>
                </a:solidFill>
                <a:latin typeface="Arial"/>
                <a:ea typeface="Arial"/>
                <a:cs typeface="Arial"/>
              </a:defRPr>
            </a:pPr>
            <a:r>
              <a:rPr sz="2175" b="1">
                <a:solidFill>
                  <a:srgbClr val="28353A"/>
                </a:solidFill>
                <a:latin typeface="Arial"/>
                <a:ea typeface="Arial"/>
                <a:cs typeface="Arial"/>
              </a:rPr>
              <a:t>Today's schedule</a:t>
            </a:r>
          </a:p>
        </p:txBody>
      </p:sp>
      <p:sp>
        <p:nvSpPr>
          <p:cNvPr id="4" name="">
            <a:extLst xmlns:a="http://schemas.openxmlformats.org/drawingml/2006/main">
              <a:ext uri="{FF2B5EF4-FFF2-40B4-BE49-F238E27FC236}">
                <a16:creationId xmlns:a16="http://schemas.microsoft.com/office/drawing/2014/main" id="{B30DE127-A28F-408A-B439-09CF2CB41682}"/>
              </a:ext>
            </a:extLst>
          </p:cNvPr>
          <p:cNvSpPr>
            <a:spLocks xmlns:a="http://schemas.openxmlformats.org/drawingml/2006/main" noGrp="1"/>
          </p:cNvSpPr>
          <p:nvPr/>
        </p:nvSpPr>
        <p:spPr>
          <a:xfrm xmlns:a="http://schemas.openxmlformats.org/drawingml/2006/main">
            <a:off x="4972050" y="1666875"/>
            <a:ext cx="624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0">
                <a:solidFill>
                  <a:srgbClr val="68787A"/>
                </a:solidFill>
                <a:latin typeface="Arial"/>
                <a:ea typeface="Arial"/>
                <a:cs typeface="Arial"/>
              </a:defRPr>
            </a:pPr>
            <a:r>
              <a:rPr sz="1875" b="0">
                <a:solidFill>
                  <a:srgbClr val="68787A"/>
                </a:solidFill>
                <a:latin typeface="Arial"/>
                <a:ea typeface="Arial"/>
                <a:cs typeface="Arial"/>
              </a:rPr>
              <a:t>Due and upcoming medication for this patient and bed.</a:t>
            </a:r>
          </a:p>
        </p:txBody>
      </p:sp>
      <p:sp>
        <p:nvSpPr>
          <p:cNvPr id="5" name="">
            <a:extLst xmlns:a="http://schemas.openxmlformats.org/drawingml/2006/main">
              <a:ext uri="{FF2B5EF4-FFF2-40B4-BE49-F238E27FC236}">
                <a16:creationId xmlns:a16="http://schemas.microsoft.com/office/drawing/2014/main" id="{C3010B3A-D667-4F2B-9BE2-7D7D693354AA}"/>
              </a:ext>
            </a:extLst>
          </p:cNvPr>
          <p:cNvSpPr>
            <a:spLocks xmlns:a="http://schemas.openxmlformats.org/drawingml/2006/main" noGrp="1"/>
          </p:cNvSpPr>
          <p:nvPr/>
        </p:nvSpPr>
        <p:spPr>
          <a:xfrm xmlns:a="http://schemas.openxmlformats.org/drawingml/2006/main">
            <a:off x="1562100" y="2428875"/>
            <a:ext cx="96202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E8AC910-0BFF-4076-838D-BE9F391D2A72}"/>
              </a:ext>
            </a:extLst>
          </p:cNvPr>
          <p:cNvSpPr>
            <a:spLocks xmlns:a="http://schemas.openxmlformats.org/drawingml/2006/main" noGrp="1"/>
          </p:cNvSpPr>
          <p:nvPr/>
        </p:nvSpPr>
        <p:spPr>
          <a:xfrm xmlns:a="http://schemas.openxmlformats.org/drawingml/2006/main">
            <a:off x="781050" y="30480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1">
                <a:solidFill>
                  <a:srgbClr val="C87854"/>
                </a:solidFill>
                <a:latin typeface="Arial"/>
                <a:ea typeface="Arial"/>
                <a:cs typeface="Arial"/>
              </a:defRPr>
            </a:pPr>
            <a:r>
              <a:rPr sz="1875" b="1">
                <a:solidFill>
                  <a:srgbClr val="C87854"/>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4742F639-9375-4A5B-975F-F54B36377BEF}"/>
              </a:ext>
            </a:extLst>
          </p:cNvPr>
          <p:cNvSpPr>
            <a:spLocks xmlns:a="http://schemas.openxmlformats.org/drawingml/2006/main" noGrp="1"/>
          </p:cNvSpPr>
          <p:nvPr/>
        </p:nvSpPr>
        <p:spPr>
          <a:xfrm xmlns:a="http://schemas.openxmlformats.org/drawingml/2006/main">
            <a:off x="1562100" y="304800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175" b="1">
                <a:solidFill>
                  <a:srgbClr val="28353A"/>
                </a:solidFill>
                <a:latin typeface="Arial"/>
                <a:ea typeface="Arial"/>
                <a:cs typeface="Arial"/>
              </a:defRPr>
            </a:pPr>
            <a:r>
              <a:rPr sz="2175" b="1">
                <a:solidFill>
                  <a:srgbClr val="28353A"/>
                </a:solidFill>
                <a:latin typeface="Arial"/>
                <a:ea typeface="Arial"/>
                <a:cs typeface="Arial"/>
              </a:rPr>
              <a:t>Recent events</a:t>
            </a:r>
          </a:p>
        </p:txBody>
      </p:sp>
      <p:sp>
        <p:nvSpPr>
          <p:cNvPr id="8" name="">
            <a:extLst xmlns:a="http://schemas.openxmlformats.org/drawingml/2006/main">
              <a:ext uri="{FF2B5EF4-FFF2-40B4-BE49-F238E27FC236}">
                <a16:creationId xmlns:a16="http://schemas.microsoft.com/office/drawing/2014/main" id="{23EE44C4-1898-42FB-9DB0-A076F2005356}"/>
              </a:ext>
            </a:extLst>
          </p:cNvPr>
          <p:cNvSpPr>
            <a:spLocks xmlns:a="http://schemas.openxmlformats.org/drawingml/2006/main" noGrp="1"/>
          </p:cNvSpPr>
          <p:nvPr/>
        </p:nvSpPr>
        <p:spPr>
          <a:xfrm xmlns:a="http://schemas.openxmlformats.org/drawingml/2006/main">
            <a:off x="4972050" y="3048000"/>
            <a:ext cx="624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0">
                <a:solidFill>
                  <a:srgbClr val="68787A"/>
                </a:solidFill>
                <a:latin typeface="Arial"/>
                <a:ea typeface="Arial"/>
                <a:cs typeface="Arial"/>
              </a:defRPr>
            </a:pPr>
            <a:r>
              <a:rPr sz="1875" b="0">
                <a:solidFill>
                  <a:srgbClr val="68787A"/>
                </a:solidFill>
                <a:latin typeface="Arial"/>
                <a:ea typeface="Arial"/>
                <a:cs typeface="Arial"/>
              </a:rPr>
              <a:t>Recent reminders, responses and medication events that need attention.</a:t>
            </a:r>
          </a:p>
        </p:txBody>
      </p:sp>
      <p:sp>
        <p:nvSpPr>
          <p:cNvPr id="9" name="">
            <a:extLst xmlns:a="http://schemas.openxmlformats.org/drawingml/2006/main">
              <a:ext uri="{FF2B5EF4-FFF2-40B4-BE49-F238E27FC236}">
                <a16:creationId xmlns:a16="http://schemas.microsoft.com/office/drawing/2014/main" id="{65A65DBB-A397-479C-B778-0893B693775D}"/>
              </a:ext>
            </a:extLst>
          </p:cNvPr>
          <p:cNvSpPr>
            <a:spLocks xmlns:a="http://schemas.openxmlformats.org/drawingml/2006/main" noGrp="1"/>
          </p:cNvSpPr>
          <p:nvPr/>
        </p:nvSpPr>
        <p:spPr>
          <a:xfrm xmlns:a="http://schemas.openxmlformats.org/drawingml/2006/main">
            <a:off x="1562100" y="3810000"/>
            <a:ext cx="96202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B83F42F-5CF2-49E6-8D00-DC8351F24703}"/>
              </a:ext>
            </a:extLst>
          </p:cNvPr>
          <p:cNvSpPr>
            <a:spLocks xmlns:a="http://schemas.openxmlformats.org/drawingml/2006/main" noGrp="1"/>
          </p:cNvSpPr>
          <p:nvPr/>
        </p:nvSpPr>
        <p:spPr>
          <a:xfrm xmlns:a="http://schemas.openxmlformats.org/drawingml/2006/main">
            <a:off x="781050" y="44291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1">
                <a:solidFill>
                  <a:srgbClr val="C87854"/>
                </a:solidFill>
                <a:latin typeface="Arial"/>
                <a:ea typeface="Arial"/>
                <a:cs typeface="Arial"/>
              </a:defRPr>
            </a:pPr>
            <a:r>
              <a:rPr sz="1875" b="1">
                <a:solidFill>
                  <a:srgbClr val="C87854"/>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B66E16D6-8350-4F31-8F82-195F2B94FB34}"/>
              </a:ext>
            </a:extLst>
          </p:cNvPr>
          <p:cNvSpPr>
            <a:spLocks xmlns:a="http://schemas.openxmlformats.org/drawingml/2006/main" noGrp="1"/>
          </p:cNvSpPr>
          <p:nvPr/>
        </p:nvSpPr>
        <p:spPr>
          <a:xfrm xmlns:a="http://schemas.openxmlformats.org/drawingml/2006/main">
            <a:off x="1562100" y="44291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175" b="1">
                <a:solidFill>
                  <a:srgbClr val="28353A"/>
                </a:solidFill>
                <a:latin typeface="Arial"/>
                <a:ea typeface="Arial"/>
                <a:cs typeface="Arial"/>
              </a:defRPr>
            </a:pPr>
            <a:r>
              <a:rPr sz="2175" b="1">
                <a:solidFill>
                  <a:srgbClr val="28353A"/>
                </a:solidFill>
                <a:latin typeface="Arial"/>
                <a:ea typeface="Arial"/>
                <a:cs typeface="Arial"/>
              </a:rPr>
              <a:t>Patient and bed status</a:t>
            </a:r>
          </a:p>
        </p:txBody>
      </p:sp>
      <p:sp>
        <p:nvSpPr>
          <p:cNvPr id="12" name="">
            <a:extLst xmlns:a="http://schemas.openxmlformats.org/drawingml/2006/main">
              <a:ext uri="{FF2B5EF4-FFF2-40B4-BE49-F238E27FC236}">
                <a16:creationId xmlns:a16="http://schemas.microsoft.com/office/drawing/2014/main" id="{8ACE48C5-B3E9-480A-BA26-E18AADFE171B}"/>
              </a:ext>
            </a:extLst>
          </p:cNvPr>
          <p:cNvSpPr>
            <a:spLocks xmlns:a="http://schemas.openxmlformats.org/drawingml/2006/main" noGrp="1"/>
          </p:cNvSpPr>
          <p:nvPr/>
        </p:nvSpPr>
        <p:spPr>
          <a:xfrm xmlns:a="http://schemas.openxmlformats.org/drawingml/2006/main">
            <a:off x="4972050" y="4429125"/>
            <a:ext cx="624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0">
                <a:solidFill>
                  <a:srgbClr val="68787A"/>
                </a:solidFill>
                <a:latin typeface="Arial"/>
                <a:ea typeface="Arial"/>
                <a:cs typeface="Arial"/>
              </a:defRPr>
            </a:pPr>
            <a:r>
              <a:rPr sz="1875" b="0">
                <a:solidFill>
                  <a:srgbClr val="68787A"/>
                </a:solidFill>
                <a:latin typeface="Arial"/>
                <a:ea typeface="Arial"/>
                <a:cs typeface="Arial"/>
              </a:rPr>
              <a:t>Assigned patient, current bed status and recent schedule changes.</a:t>
            </a:r>
          </a:p>
        </p:txBody>
      </p:sp>
      <p:sp>
        <p:nvSpPr>
          <p:cNvPr id="13" name="">
            <a:extLst xmlns:a="http://schemas.openxmlformats.org/drawingml/2006/main">
              <a:ext uri="{FF2B5EF4-FFF2-40B4-BE49-F238E27FC236}">
                <a16:creationId xmlns:a16="http://schemas.microsoft.com/office/drawing/2014/main" id="{84FDFCAE-BF90-45FE-826F-B186925EC227}"/>
              </a:ext>
            </a:extLst>
          </p:cNvPr>
          <p:cNvSpPr>
            <a:spLocks xmlns:a="http://schemas.openxmlformats.org/drawingml/2006/main" noGrp="1"/>
          </p:cNvSpPr>
          <p:nvPr/>
        </p:nvSpPr>
        <p:spPr>
          <a:xfrm xmlns:a="http://schemas.openxmlformats.org/drawingml/2006/main">
            <a:off x="1562100" y="5191125"/>
            <a:ext cx="9620250" cy="190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ED44168-2F64-44F3-A6EC-9EBC6A816B44}"/>
              </a:ext>
            </a:extLst>
          </p:cNvPr>
          <p:cNvSpPr>
            <a:spLocks xmlns:a="http://schemas.openxmlformats.org/drawingml/2006/main" noGrp="1"/>
          </p:cNvSpPr>
          <p:nvPr/>
        </p:nvSpPr>
        <p:spPr>
          <a:xfrm xmlns:a="http://schemas.openxmlformats.org/drawingml/2006/main">
            <a:off x="1562100" y="590550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00" b="1">
                <a:solidFill>
                  <a:srgbClr val="4D858A"/>
                </a:solidFill>
                <a:latin typeface="Arial"/>
                <a:ea typeface="Arial"/>
                <a:cs typeface="Arial"/>
              </a:defRPr>
            </a:pPr>
            <a:r>
              <a:rPr sz="1800" b="1">
                <a:solidFill>
                  <a:srgbClr val="4D858A"/>
                </a:solidFill>
                <a:latin typeface="Arial"/>
                <a:ea typeface="Arial"/>
                <a:cs typeface="Arial"/>
              </a:rPr>
              <a:t>A full clinical audit trail records medication events and schedule changes.</a:t>
            </a:r>
          </a:p>
        </p:txBody>
      </p:sp>
    </p:spTree>
    <p:extLst>
      <p:ext uri="{BB962C8B-B14F-4D97-AF65-F5344CB8AC3E}">
        <p14:creationId xmlns:p14="http://schemas.microsoft.com/office/powerpoint/2010/main" val="1408590304"/>
      </p:ext>
    </p:extLst>
  </p:cSld>
</p:sld>
</file>

<file path=ppt/slides/slide2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BAB30D0-02A5-40C9-8CE1-C4F2F4210C82}"/>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Notifications can fit the care plan</a:t>
            </a:r>
          </a:p>
        </p:txBody>
      </p:sp>
      <p:sp>
        <p:nvSpPr>
          <p:cNvPr id="2" name="">
            <a:extLst xmlns:a="http://schemas.openxmlformats.org/drawingml/2006/main">
              <a:ext uri="{FF2B5EF4-FFF2-40B4-BE49-F238E27FC236}">
                <a16:creationId xmlns:a16="http://schemas.microsoft.com/office/drawing/2014/main" id="{F3D86077-6271-45DE-AA95-204F08054CD7}"/>
              </a:ext>
            </a:extLst>
          </p:cNvPr>
          <p:cNvSpPr>
            <a:spLocks xmlns:a="http://schemas.openxmlformats.org/drawingml/2006/main" noGrp="1"/>
          </p:cNvSpPr>
          <p:nvPr/>
        </p:nvSpPr>
        <p:spPr>
          <a:xfrm xmlns:a="http://schemas.openxmlformats.org/drawingml/2006/main">
            <a:off x="800100" y="15144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ON THE DEVICE</a:t>
            </a:r>
          </a:p>
        </p:txBody>
      </p:sp>
      <p:sp>
        <p:nvSpPr>
          <p:cNvPr id="3" name="">
            <a:extLst xmlns:a="http://schemas.openxmlformats.org/drawingml/2006/main">
              <a:ext uri="{FF2B5EF4-FFF2-40B4-BE49-F238E27FC236}">
                <a16:creationId xmlns:a16="http://schemas.microsoft.com/office/drawing/2014/main" id="{6D142960-03A1-4C85-9464-332BBB940512}"/>
              </a:ext>
            </a:extLst>
          </p:cNvPr>
          <p:cNvSpPr>
            <a:spLocks xmlns:a="http://schemas.openxmlformats.org/drawingml/2006/main" noGrp="1"/>
          </p:cNvSpPr>
          <p:nvPr/>
        </p:nvSpPr>
        <p:spPr>
          <a:xfrm xmlns:a="http://schemas.openxmlformats.org/drawingml/2006/main">
            <a:off x="800100" y="1971675"/>
            <a:ext cx="4762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0">
                <a:solidFill>
                  <a:srgbClr val="28353A"/>
                </a:solidFill>
                <a:latin typeface="Arial"/>
                <a:ea typeface="Arial"/>
                <a:cs typeface="Arial"/>
              </a:defRPr>
            </a:pPr>
            <a:r>
              <a:rPr sz="1875" b="0">
                <a:solidFill>
                  <a:srgbClr val="28353A"/>
                </a:solidFill>
                <a:latin typeface="Arial"/>
                <a:ea typeface="Arial"/>
                <a:cs typeface="Arial"/>
              </a:rPr>
              <a:t>LED before the dose time, then the agreed sound reminder and local follow-up if the event stays unresolved.</a:t>
            </a:r>
          </a:p>
        </p:txBody>
      </p:sp>
      <p:sp>
        <p:nvSpPr>
          <p:cNvPr id="4" name="">
            <a:extLst xmlns:a="http://schemas.openxmlformats.org/drawingml/2006/main">
              <a:ext uri="{FF2B5EF4-FFF2-40B4-BE49-F238E27FC236}">
                <a16:creationId xmlns:a16="http://schemas.microsoft.com/office/drawing/2014/main" id="{76CD5AB5-52C2-45A3-824E-B1C5C7ACAC18}"/>
              </a:ext>
            </a:extLst>
          </p:cNvPr>
          <p:cNvSpPr>
            <a:spLocks xmlns:a="http://schemas.openxmlformats.org/drawingml/2006/main" noGrp="1"/>
          </p:cNvSpPr>
          <p:nvPr/>
        </p:nvSpPr>
        <p:spPr>
          <a:xfrm xmlns:a="http://schemas.openxmlformats.org/drawingml/2006/main">
            <a:off x="800100" y="36576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IN THE APP</a:t>
            </a:r>
          </a:p>
        </p:txBody>
      </p:sp>
      <p:sp>
        <p:nvSpPr>
          <p:cNvPr id="5" name="">
            <a:extLst xmlns:a="http://schemas.openxmlformats.org/drawingml/2006/main">
              <a:ext uri="{FF2B5EF4-FFF2-40B4-BE49-F238E27FC236}">
                <a16:creationId xmlns:a16="http://schemas.microsoft.com/office/drawing/2014/main" id="{0280C1FA-4317-49A8-9E05-6E40E2EC14B7}"/>
              </a:ext>
            </a:extLst>
          </p:cNvPr>
          <p:cNvSpPr>
            <a:spLocks xmlns:a="http://schemas.openxmlformats.org/drawingml/2006/main" noGrp="1"/>
          </p:cNvSpPr>
          <p:nvPr/>
        </p:nvSpPr>
        <p:spPr>
          <a:xfrm xmlns:a="http://schemas.openxmlformats.org/drawingml/2006/main">
            <a:off x="800100" y="411480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00" b="0">
                <a:solidFill>
                  <a:srgbClr val="28353A"/>
                </a:solidFill>
                <a:latin typeface="Arial"/>
                <a:ea typeface="Arial"/>
                <a:cs typeface="Arial"/>
              </a:defRPr>
            </a:pPr>
            <a:r>
              <a:rPr sz="1800" b="0">
                <a:solidFill>
                  <a:srgbClr val="28353A"/>
                </a:solidFill>
                <a:latin typeface="Arial"/>
                <a:ea typeface="Arial"/>
                <a:cs typeface="Arial"/>
              </a:rPr>
              <a:t>A missed-dose message can go to selected family or authorized care-team members.</a:t>
            </a:r>
          </a:p>
        </p:txBody>
      </p:sp>
      <p:sp>
        <p:nvSpPr>
          <p:cNvPr id="6" name="">
            <a:extLst xmlns:a="http://schemas.openxmlformats.org/drawingml/2006/main">
              <a:ext uri="{FF2B5EF4-FFF2-40B4-BE49-F238E27FC236}">
                <a16:creationId xmlns:a16="http://schemas.microsoft.com/office/drawing/2014/main" id="{30C8267F-4B24-4F49-8205-0655088F696E}"/>
              </a:ext>
            </a:extLst>
          </p:cNvPr>
          <p:cNvSpPr>
            <a:spLocks xmlns:a="http://schemas.openxmlformats.org/drawingml/2006/main" noGrp="1"/>
          </p:cNvSpPr>
          <p:nvPr/>
        </p:nvSpPr>
        <p:spPr>
          <a:xfrm xmlns:a="http://schemas.openxmlformats.org/drawingml/2006/main">
            <a:off x="6076950" y="1514475"/>
            <a:ext cx="19050" cy="369570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B274544-64FA-402E-88BE-20980078219E}"/>
              </a:ext>
            </a:extLst>
          </p:cNvPr>
          <p:cNvSpPr>
            <a:spLocks xmlns:a="http://schemas.openxmlformats.org/drawingml/2006/main" noGrp="1"/>
          </p:cNvSpPr>
          <p:nvPr/>
        </p:nvSpPr>
        <p:spPr>
          <a:xfrm xmlns:a="http://schemas.openxmlformats.org/drawingml/2006/main">
            <a:off x="6610350" y="15144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PERSONAL SETTINGS</a:t>
            </a:r>
          </a:p>
        </p:txBody>
      </p:sp>
      <p:sp>
        <p:nvSpPr>
          <p:cNvPr id="8" name="">
            <a:extLst xmlns:a="http://schemas.openxmlformats.org/drawingml/2006/main">
              <a:ext uri="{FF2B5EF4-FFF2-40B4-BE49-F238E27FC236}">
                <a16:creationId xmlns:a16="http://schemas.microsoft.com/office/drawing/2014/main" id="{D5D47A01-51E4-4FCE-A2F2-469DC13C74D5}"/>
              </a:ext>
            </a:extLst>
          </p:cNvPr>
          <p:cNvSpPr>
            <a:spLocks xmlns:a="http://schemas.openxmlformats.org/drawingml/2006/main" noGrp="1"/>
          </p:cNvSpPr>
          <p:nvPr/>
        </p:nvSpPr>
        <p:spPr>
          <a:xfrm xmlns:a="http://schemas.openxmlformats.org/drawingml/2006/main">
            <a:off x="6610350" y="1971675"/>
            <a:ext cx="4667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0">
                <a:solidFill>
                  <a:srgbClr val="28353A"/>
                </a:solidFill>
                <a:latin typeface="Arial"/>
                <a:ea typeface="Arial"/>
                <a:cs typeface="Arial"/>
              </a:defRPr>
            </a:pPr>
            <a:r>
              <a:rPr sz="1875" b="0">
                <a:solidFill>
                  <a:srgbClr val="28353A"/>
                </a:solidFill>
                <a:latin typeface="Arial"/>
                <a:ea typeface="Arial"/>
                <a:cs typeface="Arial"/>
              </a:rPr>
              <a:t>Message frequency and who gets notified could be set according to the patient's age group, disease and care plan.</a:t>
            </a:r>
          </a:p>
        </p:txBody>
      </p:sp>
      <p:sp>
        <p:nvSpPr>
          <p:cNvPr id="9" name="">
            <a:extLst xmlns:a="http://schemas.openxmlformats.org/drawingml/2006/main">
              <a:ext uri="{FF2B5EF4-FFF2-40B4-BE49-F238E27FC236}">
                <a16:creationId xmlns:a16="http://schemas.microsoft.com/office/drawing/2014/main" id="{9CBFDB21-D39B-4448-9F20-2EB1BC97414D}"/>
              </a:ext>
            </a:extLst>
          </p:cNvPr>
          <p:cNvSpPr>
            <a:spLocks xmlns:a="http://schemas.openxmlformats.org/drawingml/2006/main" noGrp="1"/>
          </p:cNvSpPr>
          <p:nvPr/>
        </p:nvSpPr>
        <p:spPr>
          <a:xfrm xmlns:a="http://schemas.openxmlformats.org/drawingml/2006/main">
            <a:off x="6610350" y="3714750"/>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68787A"/>
                </a:solidFill>
                <a:latin typeface="Arial"/>
                <a:ea typeface="Arial"/>
                <a:cs typeface="Arial"/>
              </a:defRPr>
            </a:pPr>
            <a:r>
              <a:rPr sz="1650" b="0">
                <a:solidFill>
                  <a:srgbClr val="68787A"/>
                </a:solidFill>
                <a:latin typeface="Arial"/>
                <a:ea typeface="Arial"/>
                <a:cs typeface="Arial"/>
              </a:rPr>
              <a:t>Schedule changes would be limited to people with the right app permissions.</a:t>
            </a:r>
          </a:p>
        </p:txBody>
      </p:sp>
      <p:sp>
        <p:nvSpPr>
          <p:cNvPr id="10" name="">
            <a:extLst xmlns:a="http://schemas.openxmlformats.org/drawingml/2006/main">
              <a:ext uri="{FF2B5EF4-FFF2-40B4-BE49-F238E27FC236}">
                <a16:creationId xmlns:a16="http://schemas.microsoft.com/office/drawing/2014/main" id="{9FFCB542-D38E-4961-8504-813B7341B3AA}"/>
              </a:ext>
            </a:extLst>
          </p:cNvPr>
          <p:cNvSpPr>
            <a:spLocks xmlns:a="http://schemas.openxmlformats.org/drawingml/2006/main" noGrp="1"/>
          </p:cNvSpPr>
          <p:nvPr/>
        </p:nvSpPr>
        <p:spPr>
          <a:xfrm xmlns:a="http://schemas.openxmlformats.org/drawingml/2006/main">
            <a:off x="800100" y="57150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00" b="1">
                <a:solidFill>
                  <a:srgbClr val="C87854"/>
                </a:solidFill>
                <a:latin typeface="Arial"/>
                <a:ea typeface="Arial"/>
                <a:cs typeface="Arial"/>
              </a:defRPr>
            </a:pPr>
            <a:r>
              <a:rPr sz="1500" b="1">
                <a:solidFill>
                  <a:srgbClr val="C87854"/>
                </a:solidFill>
                <a:latin typeface="Arial"/>
                <a:ea typeface="Arial"/>
                <a:cs typeface="Arial"/>
              </a:rPr>
              <a:t>These are planned app features, not current clinical recommendations.</a:t>
            </a:r>
          </a:p>
        </p:txBody>
      </p:sp>
    </p:spTree>
    <p:extLst>
      <p:ext uri="{BB962C8B-B14F-4D97-AF65-F5344CB8AC3E}">
        <p14:creationId xmlns:p14="http://schemas.microsoft.com/office/powerpoint/2010/main" val="1015286603"/>
      </p:ext>
    </p:extLst>
  </p:cSld>
</p:sld>
</file>

<file path=ppt/slides/slide2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42AC9D3-A602-4B4C-91E7-846F66668582}"/>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Where MediSync could be useful</a:t>
            </a:r>
          </a:p>
        </p:txBody>
      </p:sp>
      <p:sp>
        <p:nvSpPr>
          <p:cNvPr id="2" name="">
            <a:extLst xmlns:a="http://schemas.openxmlformats.org/drawingml/2006/main">
              <a:ext uri="{FF2B5EF4-FFF2-40B4-BE49-F238E27FC236}">
                <a16:creationId xmlns:a16="http://schemas.microsoft.com/office/drawing/2014/main" id="{2029E4F3-2C0A-4A99-8844-FE49F6D8C2C9}"/>
              </a:ext>
            </a:extLst>
          </p:cNvPr>
          <p:cNvSpPr>
            <a:spLocks xmlns:a="http://schemas.openxmlformats.org/drawingml/2006/main" noGrp="1"/>
          </p:cNvSpPr>
          <p:nvPr/>
        </p:nvSpPr>
        <p:spPr>
          <a:xfrm xmlns:a="http://schemas.openxmlformats.org/drawingml/2006/main">
            <a:off x="800100" y="14763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AT HOME</a:t>
            </a:r>
          </a:p>
        </p:txBody>
      </p:sp>
      <p:sp>
        <p:nvSpPr>
          <p:cNvPr id="3" name="">
            <a:extLst xmlns:a="http://schemas.openxmlformats.org/drawingml/2006/main">
              <a:ext uri="{FF2B5EF4-FFF2-40B4-BE49-F238E27FC236}">
                <a16:creationId xmlns:a16="http://schemas.microsoft.com/office/drawing/2014/main" id="{E781FBD3-78E4-46B6-8E3C-0F94199396F0}"/>
              </a:ext>
            </a:extLst>
          </p:cNvPr>
          <p:cNvSpPr>
            <a:spLocks xmlns:a="http://schemas.openxmlformats.org/drawingml/2006/main" noGrp="1"/>
          </p:cNvSpPr>
          <p:nvPr/>
        </p:nvSpPr>
        <p:spPr>
          <a:xfrm xmlns:a="http://schemas.openxmlformats.org/drawingml/2006/main">
            <a:off x="800100" y="1952625"/>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0">
                <a:solidFill>
                  <a:srgbClr val="28353A"/>
                </a:solidFill>
                <a:latin typeface="Arial"/>
                <a:ea typeface="Arial"/>
                <a:cs typeface="Arial"/>
              </a:defRPr>
            </a:pPr>
            <a:r>
              <a:rPr sz="1875" b="0">
                <a:solidFill>
                  <a:srgbClr val="28353A"/>
                </a:solidFill>
                <a:latin typeface="Arial"/>
                <a:ea typeface="Arial"/>
                <a:cs typeface="Arial"/>
              </a:rPr>
              <a:t>For people managing several scheduled medicines, and for family members helping someone keep to a routine.</a:t>
            </a:r>
          </a:p>
        </p:txBody>
      </p:sp>
      <p:sp>
        <p:nvSpPr>
          <p:cNvPr id="4" name="">
            <a:extLst xmlns:a="http://schemas.openxmlformats.org/drawingml/2006/main">
              <a:ext uri="{FF2B5EF4-FFF2-40B4-BE49-F238E27FC236}">
                <a16:creationId xmlns:a16="http://schemas.microsoft.com/office/drawing/2014/main" id="{D9F3CD23-B046-4326-A137-A7ACC6A6C500}"/>
              </a:ext>
            </a:extLst>
          </p:cNvPr>
          <p:cNvSpPr>
            <a:spLocks xmlns:a="http://schemas.openxmlformats.org/drawingml/2006/main" noGrp="1"/>
          </p:cNvSpPr>
          <p:nvPr/>
        </p:nvSpPr>
        <p:spPr>
          <a:xfrm xmlns:a="http://schemas.openxmlformats.org/drawingml/2006/main">
            <a:off x="800100" y="38862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PERSONAL USE</a:t>
            </a:r>
          </a:p>
        </p:txBody>
      </p:sp>
      <p:sp>
        <p:nvSpPr>
          <p:cNvPr id="5" name="">
            <a:extLst xmlns:a="http://schemas.openxmlformats.org/drawingml/2006/main">
              <a:ext uri="{FF2B5EF4-FFF2-40B4-BE49-F238E27FC236}">
                <a16:creationId xmlns:a16="http://schemas.microsoft.com/office/drawing/2014/main" id="{66B56FDC-8553-4A48-B3C5-B82568268F7E}"/>
              </a:ext>
            </a:extLst>
          </p:cNvPr>
          <p:cNvSpPr>
            <a:spLocks xmlns:a="http://schemas.openxmlformats.org/drawingml/2006/main" noGrp="1"/>
          </p:cNvSpPr>
          <p:nvPr/>
        </p:nvSpPr>
        <p:spPr>
          <a:xfrm xmlns:a="http://schemas.openxmlformats.org/drawingml/2006/main">
            <a:off x="800100" y="43243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725" b="0">
                <a:solidFill>
                  <a:srgbClr val="68787A"/>
                </a:solidFill>
                <a:latin typeface="Arial"/>
                <a:ea typeface="Arial"/>
                <a:cs typeface="Arial"/>
              </a:defRPr>
            </a:pPr>
            <a:r>
              <a:rPr sz="1725" b="0">
                <a:solidFill>
                  <a:srgbClr val="68787A"/>
                </a:solidFill>
                <a:latin typeface="Arial"/>
                <a:ea typeface="Arial"/>
                <a:cs typeface="Arial"/>
              </a:rPr>
              <a:t>The six-compartment portable version is designed for day-to-day use away from the desk device.</a:t>
            </a:r>
          </a:p>
        </p:txBody>
      </p:sp>
      <p:sp>
        <p:nvSpPr>
          <p:cNvPr id="6" name="">
            <a:extLst xmlns:a="http://schemas.openxmlformats.org/drawingml/2006/main">
              <a:ext uri="{FF2B5EF4-FFF2-40B4-BE49-F238E27FC236}">
                <a16:creationId xmlns:a16="http://schemas.microsoft.com/office/drawing/2014/main" id="{4BEE7914-A863-4554-9577-CB9C199AA3A7}"/>
              </a:ext>
            </a:extLst>
          </p:cNvPr>
          <p:cNvSpPr>
            <a:spLocks xmlns:a="http://schemas.openxmlformats.org/drawingml/2006/main" noGrp="1"/>
          </p:cNvSpPr>
          <p:nvPr/>
        </p:nvSpPr>
        <p:spPr>
          <a:xfrm xmlns:a="http://schemas.openxmlformats.org/drawingml/2006/main">
            <a:off x="6076950" y="1476375"/>
            <a:ext cx="19050" cy="37147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5B115D9-D85F-4047-A72B-59DEE42BBAF8}"/>
              </a:ext>
            </a:extLst>
          </p:cNvPr>
          <p:cNvSpPr>
            <a:spLocks xmlns:a="http://schemas.openxmlformats.org/drawingml/2006/main" noGrp="1"/>
          </p:cNvSpPr>
          <p:nvPr/>
        </p:nvSpPr>
        <p:spPr>
          <a:xfrm xmlns:a="http://schemas.openxmlformats.org/drawingml/2006/main">
            <a:off x="6610350" y="14763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IN HOSPITALS</a:t>
            </a:r>
          </a:p>
        </p:txBody>
      </p:sp>
      <p:sp>
        <p:nvSpPr>
          <p:cNvPr id="8" name="">
            <a:extLst xmlns:a="http://schemas.openxmlformats.org/drawingml/2006/main">
              <a:ext uri="{FF2B5EF4-FFF2-40B4-BE49-F238E27FC236}">
                <a16:creationId xmlns:a16="http://schemas.microsoft.com/office/drawing/2014/main" id="{3B78D83D-6F9E-42F2-A47F-4598A161E2A4}"/>
              </a:ext>
            </a:extLst>
          </p:cNvPr>
          <p:cNvSpPr>
            <a:spLocks xmlns:a="http://schemas.openxmlformats.org/drawingml/2006/main" noGrp="1"/>
          </p:cNvSpPr>
          <p:nvPr/>
        </p:nvSpPr>
        <p:spPr>
          <a:xfrm xmlns:a="http://schemas.openxmlformats.org/drawingml/2006/main">
            <a:off x="6610350" y="1952625"/>
            <a:ext cx="4667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0">
                <a:solidFill>
                  <a:srgbClr val="28353A"/>
                </a:solidFill>
                <a:latin typeface="Arial"/>
                <a:ea typeface="Arial"/>
                <a:cs typeface="Arial"/>
              </a:defRPr>
            </a:pPr>
            <a:r>
              <a:rPr sz="1875" b="0">
                <a:solidFill>
                  <a:srgbClr val="28353A"/>
                </a:solidFill>
                <a:latin typeface="Arial"/>
                <a:ea typeface="Arial"/>
                <a:cs typeface="Arial"/>
              </a:rPr>
              <a:t>A digital event log could reduce repetitive dose-tracking work and help staff see which reminders remain unresolved.</a:t>
            </a:r>
          </a:p>
        </p:txBody>
      </p:sp>
      <p:sp>
        <p:nvSpPr>
          <p:cNvPr id="9" name="">
            <a:extLst xmlns:a="http://schemas.openxmlformats.org/drawingml/2006/main">
              <a:ext uri="{FF2B5EF4-FFF2-40B4-BE49-F238E27FC236}">
                <a16:creationId xmlns:a16="http://schemas.microsoft.com/office/drawing/2014/main" id="{14A93AC2-67D4-4B3C-B95F-B34DE8C4011F}"/>
              </a:ext>
            </a:extLst>
          </p:cNvPr>
          <p:cNvSpPr>
            <a:spLocks xmlns:a="http://schemas.openxmlformats.org/drawingml/2006/main" noGrp="1"/>
          </p:cNvSpPr>
          <p:nvPr/>
        </p:nvSpPr>
        <p:spPr>
          <a:xfrm xmlns:a="http://schemas.openxmlformats.org/drawingml/2006/main">
            <a:off x="6610350" y="38862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WHY IT MAY HELP</a:t>
            </a:r>
          </a:p>
        </p:txBody>
      </p:sp>
      <p:sp>
        <p:nvSpPr>
          <p:cNvPr id="10" name="">
            <a:extLst xmlns:a="http://schemas.openxmlformats.org/drawingml/2006/main">
              <a:ext uri="{FF2B5EF4-FFF2-40B4-BE49-F238E27FC236}">
                <a16:creationId xmlns:a16="http://schemas.microsoft.com/office/drawing/2014/main" id="{E5E4953F-AB4B-48E3-A526-40619F30793F}"/>
              </a:ext>
            </a:extLst>
          </p:cNvPr>
          <p:cNvSpPr>
            <a:spLocks xmlns:a="http://schemas.openxmlformats.org/drawingml/2006/main" noGrp="1"/>
          </p:cNvSpPr>
          <p:nvPr/>
        </p:nvSpPr>
        <p:spPr>
          <a:xfrm xmlns:a="http://schemas.openxmlformats.org/drawingml/2006/main">
            <a:off x="6610350" y="4324350"/>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725" b="0">
                <a:solidFill>
                  <a:srgbClr val="68787A"/>
                </a:solidFill>
                <a:latin typeface="Arial"/>
                <a:ea typeface="Arial"/>
                <a:cs typeface="Arial"/>
              </a:defRPr>
            </a:pPr>
            <a:r>
              <a:rPr sz="1725" b="0">
                <a:solidFill>
                  <a:srgbClr val="68787A"/>
                </a:solidFill>
                <a:latin typeface="Arial"/>
                <a:ea typeface="Arial"/>
                <a:cs typeface="Arial"/>
              </a:rPr>
              <a:t>One system can handle several package types and pass unresolved events to the right people.</a:t>
            </a:r>
          </a:p>
        </p:txBody>
      </p:sp>
      <p:sp>
        <p:nvSpPr>
          <p:cNvPr id="11" name="">
            <a:extLst xmlns:a="http://schemas.openxmlformats.org/drawingml/2006/main">
              <a:ext uri="{FF2B5EF4-FFF2-40B4-BE49-F238E27FC236}">
                <a16:creationId xmlns:a16="http://schemas.microsoft.com/office/drawing/2014/main" id="{74918A5D-C2DE-486E-BDD2-C18ED442C318}"/>
              </a:ext>
            </a:extLst>
          </p:cNvPr>
          <p:cNvSpPr>
            <a:spLocks xmlns:a="http://schemas.openxmlformats.org/drawingml/2006/main" noGrp="1"/>
          </p:cNvSpPr>
          <p:nvPr/>
        </p:nvSpPr>
        <p:spPr>
          <a:xfrm xmlns:a="http://schemas.openxmlformats.org/drawingml/2006/main">
            <a:off x="800100" y="57531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00" b="1">
                <a:solidFill>
                  <a:srgbClr val="C87854"/>
                </a:solidFill>
                <a:latin typeface="Arial"/>
                <a:ea typeface="Arial"/>
                <a:cs typeface="Arial"/>
              </a:defRPr>
            </a:pPr>
            <a:r>
              <a:rPr sz="1500" b="1">
                <a:solidFill>
                  <a:srgbClr val="C87854"/>
                </a:solidFill>
                <a:latin typeface="Arial"/>
                <a:ea typeface="Arial"/>
                <a:cs typeface="Arial"/>
              </a:rPr>
              <a:t>It is meant to assist patients and care staff; people remain responsible for medication decisions.</a:t>
            </a:r>
          </a:p>
        </p:txBody>
      </p:sp>
    </p:spTree>
    <p:extLst>
      <p:ext uri="{BB962C8B-B14F-4D97-AF65-F5344CB8AC3E}">
        <p14:creationId xmlns:p14="http://schemas.microsoft.com/office/powerpoint/2010/main" val="1018503364"/>
      </p:ext>
    </p:extLst>
  </p:cSld>
</p:sld>
</file>

<file path=ppt/slides/slide2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B63D5C-BBF0-4949-ABD7-5212DA4B26DA}"/>
              </a:ext>
            </a:extLst>
          </p:cNvPr>
          <p:cNvSpPr>
            <a:spLocks xmlns:a="http://schemas.openxmlformats.org/drawingml/2006/main" noGrp="1"/>
          </p:cNvSpPr>
          <p:nvPr/>
        </p:nvSpPr>
        <p:spPr>
          <a:xfrm xmlns:a="http://schemas.openxmlformats.org/drawingml/2006/main">
            <a:off x="723900" y="457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Pros and cons</a:t>
            </a:r>
          </a:p>
        </p:txBody>
      </p:sp>
      <p:sp>
        <p:nvSpPr>
          <p:cNvPr id="2" name="">
            <a:extLst xmlns:a="http://schemas.openxmlformats.org/drawingml/2006/main">
              <a:ext uri="{FF2B5EF4-FFF2-40B4-BE49-F238E27FC236}">
                <a16:creationId xmlns:a16="http://schemas.microsoft.com/office/drawing/2014/main" id="{D9C509B5-16D2-4361-9FA6-F85614EC25F3}"/>
              </a:ext>
            </a:extLst>
          </p:cNvPr>
          <p:cNvSpPr>
            <a:spLocks xmlns:a="http://schemas.openxmlformats.org/drawingml/2006/main" noGrp="1"/>
          </p:cNvSpPr>
          <p:nvPr/>
        </p:nvSpPr>
        <p:spPr>
          <a:xfrm xmlns:a="http://schemas.openxmlformats.org/drawingml/2006/main">
            <a:off x="800100" y="14763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POTENTIAL BENEFITS</a:t>
            </a:r>
          </a:p>
        </p:txBody>
      </p:sp>
      <p:sp>
        <p:nvSpPr>
          <p:cNvPr id="3" name="">
            <a:extLst xmlns:a="http://schemas.openxmlformats.org/drawingml/2006/main">
              <a:ext uri="{FF2B5EF4-FFF2-40B4-BE49-F238E27FC236}">
                <a16:creationId xmlns:a16="http://schemas.microsoft.com/office/drawing/2014/main" id="{9032AF6F-EFAF-4373-BB13-5F6DD4FD8066}"/>
              </a:ext>
            </a:extLst>
          </p:cNvPr>
          <p:cNvSpPr>
            <a:spLocks xmlns:a="http://schemas.openxmlformats.org/drawingml/2006/main" noGrp="1"/>
          </p:cNvSpPr>
          <p:nvPr/>
        </p:nvSpPr>
        <p:spPr>
          <a:xfrm xmlns:a="http://schemas.openxmlformats.org/drawingml/2006/main">
            <a:off x="800100" y="1924050"/>
            <a:ext cx="4762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725" b="0">
                <a:solidFill>
                  <a:srgbClr val="28353A"/>
                </a:solidFill>
                <a:latin typeface="Arial"/>
                <a:ea typeface="Arial"/>
                <a:cs typeface="Arial"/>
              </a:defRPr>
            </a:pPr>
            <a:r>
              <a:rPr sz="1725" b="0">
                <a:solidFill>
                  <a:srgbClr val="28353A"/>
                </a:solidFill>
                <a:latin typeface="Arial"/>
                <a:ea typeface="Arial"/>
                <a:cs typeface="Arial"/>
              </a:rPr>
              <a:t>Reminders plus a sensor-based event record</a:t>
            </a:r>
          </a:p>
          <a:p xmlns:a="http://schemas.openxmlformats.org/drawingml/2006/main">
            <a:r>
              <a:t/>
            </a:r>
          </a:p>
          <a:p xmlns:a="http://schemas.openxmlformats.org/drawingml/2006/main">
            <a:pPr algn="l">
              <a:buNone/>
              <a:defRPr sz="1725" b="0">
                <a:solidFill>
                  <a:srgbClr val="28353A"/>
                </a:solidFill>
                <a:latin typeface="Arial"/>
                <a:ea typeface="Arial"/>
                <a:cs typeface="Arial"/>
              </a:defRPr>
            </a:pPr>
            <a:r>
              <a:rPr sz="1725" b="0">
                <a:solidFill>
                  <a:srgbClr val="28353A"/>
                </a:solidFill>
                <a:latin typeface="Arial"/>
                <a:ea typeface="Arial"/>
                <a:cs typeface="Arial"/>
              </a:rPr>
              <a:t>One desk unit for pills, liquids and blister packs</a:t>
            </a:r>
          </a:p>
          <a:p xmlns:a="http://schemas.openxmlformats.org/drawingml/2006/main">
            <a:r>
              <a:t/>
            </a:r>
          </a:p>
          <a:p xmlns:a="http://schemas.openxmlformats.org/drawingml/2006/main">
            <a:pPr algn="l">
              <a:buNone/>
              <a:defRPr sz="1725" b="0">
                <a:solidFill>
                  <a:srgbClr val="28353A"/>
                </a:solidFill>
                <a:latin typeface="Arial"/>
                <a:ea typeface="Arial"/>
                <a:cs typeface="Arial"/>
              </a:defRPr>
            </a:pPr>
            <a:r>
              <a:rPr sz="1725" b="0">
                <a:solidFill>
                  <a:srgbClr val="28353A"/>
                </a:solidFill>
                <a:latin typeface="Arial"/>
                <a:ea typeface="Arial"/>
                <a:cs typeface="Arial"/>
              </a:rPr>
              <a:t>No RFID tag to move when a bottle is replaced</a:t>
            </a:r>
          </a:p>
          <a:p xmlns:a="http://schemas.openxmlformats.org/drawingml/2006/main">
            <a:r>
              <a:t/>
            </a:r>
          </a:p>
          <a:p xmlns:a="http://schemas.openxmlformats.org/drawingml/2006/main">
            <a:pPr algn="l">
              <a:buNone/>
              <a:defRPr sz="1725" b="0">
                <a:solidFill>
                  <a:srgbClr val="28353A"/>
                </a:solidFill>
                <a:latin typeface="Arial"/>
                <a:ea typeface="Arial"/>
                <a:cs typeface="Arial"/>
              </a:defRPr>
            </a:pPr>
            <a:r>
              <a:rPr sz="1725" b="0">
                <a:solidFill>
                  <a:srgbClr val="28353A"/>
                </a:solidFill>
                <a:latin typeface="Arial"/>
                <a:ea typeface="Arial"/>
                <a:cs typeface="Arial"/>
              </a:rPr>
              <a:t>Optional family or care-team notifications</a:t>
            </a:r>
          </a:p>
        </p:txBody>
      </p:sp>
      <p:sp>
        <p:nvSpPr>
          <p:cNvPr id="4" name="">
            <a:extLst xmlns:a="http://schemas.openxmlformats.org/drawingml/2006/main">
              <a:ext uri="{FF2B5EF4-FFF2-40B4-BE49-F238E27FC236}">
                <a16:creationId xmlns:a16="http://schemas.microsoft.com/office/drawing/2014/main" id="{F96B9E3C-5D1E-48A7-8AC0-CAFCB56EADF5}"/>
              </a:ext>
            </a:extLst>
          </p:cNvPr>
          <p:cNvSpPr>
            <a:spLocks xmlns:a="http://schemas.openxmlformats.org/drawingml/2006/main" noGrp="1"/>
          </p:cNvSpPr>
          <p:nvPr/>
        </p:nvSpPr>
        <p:spPr>
          <a:xfrm xmlns:a="http://schemas.openxmlformats.org/drawingml/2006/main">
            <a:off x="6076950" y="1476375"/>
            <a:ext cx="19050" cy="3571875"/>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F9696C4-2843-4416-93F4-A0F35704F7F7}"/>
              </a:ext>
            </a:extLst>
          </p:cNvPr>
          <p:cNvSpPr>
            <a:spLocks xmlns:a="http://schemas.openxmlformats.org/drawingml/2006/main" noGrp="1"/>
          </p:cNvSpPr>
          <p:nvPr/>
        </p:nvSpPr>
        <p:spPr>
          <a:xfrm xmlns:a="http://schemas.openxmlformats.org/drawingml/2006/main">
            <a:off x="6610350" y="14763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LIMITS AND COSTS</a:t>
            </a:r>
          </a:p>
        </p:txBody>
      </p:sp>
      <p:sp>
        <p:nvSpPr>
          <p:cNvPr id="6" name="">
            <a:extLst xmlns:a="http://schemas.openxmlformats.org/drawingml/2006/main">
              <a:ext uri="{FF2B5EF4-FFF2-40B4-BE49-F238E27FC236}">
                <a16:creationId xmlns:a16="http://schemas.microsoft.com/office/drawing/2014/main" id="{9B7ACF85-3686-4A4F-ACA6-8948534AA1F7}"/>
              </a:ext>
            </a:extLst>
          </p:cNvPr>
          <p:cNvSpPr>
            <a:spLocks xmlns:a="http://schemas.openxmlformats.org/drawingml/2006/main" noGrp="1"/>
          </p:cNvSpPr>
          <p:nvPr/>
        </p:nvSpPr>
        <p:spPr>
          <a:xfrm xmlns:a="http://schemas.openxmlformats.org/drawingml/2006/main">
            <a:off x="6610350" y="1924050"/>
            <a:ext cx="4667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725" b="0">
                <a:solidFill>
                  <a:srgbClr val="28353A"/>
                </a:solidFill>
                <a:latin typeface="Arial"/>
                <a:ea typeface="Arial"/>
                <a:cs typeface="Arial"/>
              </a:defRPr>
            </a:pPr>
            <a:r>
              <a:rPr sz="1725" b="0">
                <a:solidFill>
                  <a:srgbClr val="28353A"/>
                </a:solidFill>
                <a:latin typeface="Arial"/>
                <a:ea typeface="Arial"/>
                <a:cs typeface="Arial"/>
              </a:rPr>
              <a:t>Package changes and sensor setup need attention</a:t>
            </a:r>
          </a:p>
          <a:p xmlns:a="http://schemas.openxmlformats.org/drawingml/2006/main">
            <a:r>
              <a:t/>
            </a:r>
          </a:p>
          <a:p xmlns:a="http://schemas.openxmlformats.org/drawingml/2006/main">
            <a:pPr algn="l">
              <a:buNone/>
              <a:defRPr sz="1725" b="0">
                <a:solidFill>
                  <a:srgbClr val="28353A"/>
                </a:solidFill>
                <a:latin typeface="Arial"/>
                <a:ea typeface="Arial"/>
                <a:cs typeface="Arial"/>
              </a:defRPr>
            </a:pPr>
            <a:r>
              <a:rPr sz="1725" b="0">
                <a:solidFill>
                  <a:srgbClr val="28353A"/>
                </a:solidFill>
                <a:latin typeface="Arial"/>
                <a:ea typeface="Arial"/>
                <a:cs typeface="Arial"/>
              </a:rPr>
              <a:t>IR can be affected by blister material and alignment</a:t>
            </a:r>
          </a:p>
          <a:p xmlns:a="http://schemas.openxmlformats.org/drawingml/2006/main">
            <a:r>
              <a:t/>
            </a:r>
          </a:p>
          <a:p xmlns:a="http://schemas.openxmlformats.org/drawingml/2006/main">
            <a:pPr algn="l">
              <a:buNone/>
              <a:defRPr sz="1725" b="0">
                <a:solidFill>
                  <a:srgbClr val="28353A"/>
                </a:solidFill>
                <a:latin typeface="Arial"/>
                <a:ea typeface="Arial"/>
                <a:cs typeface="Arial"/>
              </a:defRPr>
            </a:pPr>
            <a:r>
              <a:rPr sz="1725" b="0">
                <a:solidFill>
                  <a:srgbClr val="28353A"/>
                </a:solidFill>
                <a:latin typeface="Arial"/>
                <a:ea typeface="Arial"/>
                <a:cs typeface="Arial"/>
              </a:rPr>
              <a:t>Hardware and connectivity need testing</a:t>
            </a:r>
          </a:p>
          <a:p xmlns:a="http://schemas.openxmlformats.org/drawingml/2006/main">
            <a:r>
              <a:t/>
            </a:r>
          </a:p>
          <a:p xmlns:a="http://schemas.openxmlformats.org/drawingml/2006/main">
            <a:pPr algn="l">
              <a:buNone/>
              <a:defRPr sz="1725" b="0">
                <a:solidFill>
                  <a:srgbClr val="28353A"/>
                </a:solidFill>
                <a:latin typeface="Arial"/>
                <a:ea typeface="Arial"/>
                <a:cs typeface="Arial"/>
              </a:defRPr>
            </a:pPr>
            <a:r>
              <a:rPr sz="1725" b="0">
                <a:solidFill>
                  <a:srgbClr val="28353A"/>
                </a:solidFill>
                <a:latin typeface="Arial"/>
                <a:ea typeface="Arial"/>
                <a:cs typeface="Arial"/>
              </a:rPr>
              <a:t>A detected change does not prove ingestion</a:t>
            </a:r>
          </a:p>
        </p:txBody>
      </p:sp>
      <p:sp>
        <p:nvSpPr>
          <p:cNvPr id="7" name="">
            <a:extLst xmlns:a="http://schemas.openxmlformats.org/drawingml/2006/main">
              <a:ext uri="{FF2B5EF4-FFF2-40B4-BE49-F238E27FC236}">
                <a16:creationId xmlns:a16="http://schemas.microsoft.com/office/drawing/2014/main" id="{ABA1CB18-5CD3-4765-9C47-1C021E861727}"/>
              </a:ext>
            </a:extLst>
          </p:cNvPr>
          <p:cNvSpPr>
            <a:spLocks xmlns:a="http://schemas.openxmlformats.org/drawingml/2006/main" noGrp="1"/>
          </p:cNvSpPr>
          <p:nvPr/>
        </p:nvSpPr>
        <p:spPr>
          <a:xfrm xmlns:a="http://schemas.openxmlformats.org/drawingml/2006/main">
            <a:off x="800100" y="55340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1">
                <a:solidFill>
                  <a:srgbClr val="C87854"/>
                </a:solidFill>
                <a:latin typeface="Arial"/>
                <a:ea typeface="Arial"/>
                <a:cs typeface="Arial"/>
              </a:defRPr>
            </a:pPr>
            <a:r>
              <a:rPr sz="1650" b="1">
                <a:solidFill>
                  <a:srgbClr val="C87854"/>
                </a:solidFill>
                <a:latin typeface="Arial"/>
                <a:ea typeface="Arial"/>
                <a:cs typeface="Arial"/>
              </a:rPr>
              <a:t>MediSync adds tracking and reminders, but it does not replace the patient or care team's judgment.</a:t>
            </a:r>
          </a:p>
        </p:txBody>
      </p:sp>
    </p:spTree>
    <p:extLst>
      <p:ext uri="{BB962C8B-B14F-4D97-AF65-F5344CB8AC3E}">
        <p14:creationId xmlns:p14="http://schemas.microsoft.com/office/powerpoint/2010/main" val="493159482"/>
      </p:ext>
    </p:extLst>
  </p:cSld>
</p:sld>
</file>

<file path=ppt/slides/slide2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906C8A-A040-42F9-ACB8-1858E4D2848F}"/>
              </a:ext>
            </a:extLst>
          </p:cNvPr>
          <p:cNvSpPr>
            <a:spLocks xmlns:a="http://schemas.openxmlformats.org/drawingml/2006/main" noGrp="1"/>
          </p:cNvSpPr>
          <p:nvPr/>
        </p:nvSpPr>
        <p:spPr>
          <a:xfrm xmlns:a="http://schemas.openxmlformats.org/drawingml/2006/main">
            <a:off x="723900" y="3333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JUDGE SUMMARY</a:t>
            </a:r>
          </a:p>
        </p:txBody>
      </p:sp>
      <p:sp>
        <p:nvSpPr>
          <p:cNvPr id="2" name="">
            <a:extLst xmlns:a="http://schemas.openxmlformats.org/drawingml/2006/main">
              <a:ext uri="{FF2B5EF4-FFF2-40B4-BE49-F238E27FC236}">
                <a16:creationId xmlns:a16="http://schemas.microsoft.com/office/drawing/2014/main" id="{A6832735-4947-4204-8A9C-FC3D709B22CA}"/>
              </a:ext>
            </a:extLst>
          </p:cNvPr>
          <p:cNvSpPr>
            <a:spLocks xmlns:a="http://schemas.openxmlformats.org/drawingml/2006/main" noGrp="1"/>
          </p:cNvSpPr>
          <p:nvPr/>
        </p:nvSpPr>
        <p:spPr>
          <a:xfrm xmlns:a="http://schemas.openxmlformats.org/drawingml/2006/main">
            <a:off x="723900" y="62865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450" b="1">
                <a:solidFill>
                  <a:srgbClr val="28353A"/>
                </a:solidFill>
                <a:latin typeface="Arial"/>
                <a:ea typeface="Arial"/>
                <a:cs typeface="Arial"/>
              </a:defRPr>
            </a:pPr>
            <a:r>
              <a:rPr sz="3450" b="1">
                <a:solidFill>
                  <a:srgbClr val="28353A"/>
                </a:solidFill>
                <a:latin typeface="Arial"/>
                <a:ea typeface="Arial"/>
                <a:cs typeface="Arial"/>
              </a:rPr>
              <a:t>MediSync in one minute</a:t>
            </a:r>
          </a:p>
        </p:txBody>
      </p:sp>
      <p:sp>
        <p:nvSpPr>
          <p:cNvPr id="3" name="">
            <a:extLst xmlns:a="http://schemas.openxmlformats.org/drawingml/2006/main">
              <a:ext uri="{FF2B5EF4-FFF2-40B4-BE49-F238E27FC236}">
                <a16:creationId xmlns:a16="http://schemas.microsoft.com/office/drawing/2014/main" id="{47176DA1-730C-423B-ABE3-8C21395201B7}"/>
              </a:ext>
            </a:extLst>
          </p:cNvPr>
          <p:cNvSpPr>
            <a:spLocks xmlns:a="http://schemas.openxmlformats.org/drawingml/2006/main" noGrp="1"/>
          </p:cNvSpPr>
          <p:nvPr/>
        </p:nvSpPr>
        <p:spPr>
          <a:xfrm xmlns:a="http://schemas.openxmlformats.org/drawingml/2006/main">
            <a:off x="800100" y="14954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THE IDEA</a:t>
            </a:r>
          </a:p>
        </p:txBody>
      </p:sp>
      <p:sp>
        <p:nvSpPr>
          <p:cNvPr id="4" name="">
            <a:extLst xmlns:a="http://schemas.openxmlformats.org/drawingml/2006/main">
              <a:ext uri="{FF2B5EF4-FFF2-40B4-BE49-F238E27FC236}">
                <a16:creationId xmlns:a16="http://schemas.microsoft.com/office/drawing/2014/main" id="{775AA78A-9F14-42EA-85C7-1AA817A4284F}"/>
              </a:ext>
            </a:extLst>
          </p:cNvPr>
          <p:cNvSpPr>
            <a:spLocks xmlns:a="http://schemas.openxmlformats.org/drawingml/2006/main" noGrp="1"/>
          </p:cNvSpPr>
          <p:nvPr/>
        </p:nvSpPr>
        <p:spPr>
          <a:xfrm xmlns:a="http://schemas.openxmlformats.org/drawingml/2006/main">
            <a:off x="800100" y="1914525"/>
            <a:ext cx="4857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00" b="0">
                <a:solidFill>
                  <a:srgbClr val="28353A"/>
                </a:solidFill>
                <a:latin typeface="Arial"/>
                <a:ea typeface="Arial"/>
                <a:cs typeface="Arial"/>
              </a:defRPr>
            </a:pPr>
            <a:r>
              <a:rPr sz="1800" b="0">
                <a:solidFill>
                  <a:srgbClr val="28353A"/>
                </a:solidFill>
                <a:latin typeface="Arial"/>
                <a:ea typeface="Arial"/>
                <a:cs typeface="Arial"/>
              </a:rPr>
              <a:t>A 12-position home / desk unit and a six-compartment portable version remind users and record medication-related changes.</a:t>
            </a:r>
          </a:p>
        </p:txBody>
      </p:sp>
      <p:sp>
        <p:nvSpPr>
          <p:cNvPr id="5" name="">
            <a:extLst xmlns:a="http://schemas.openxmlformats.org/drawingml/2006/main">
              <a:ext uri="{FF2B5EF4-FFF2-40B4-BE49-F238E27FC236}">
                <a16:creationId xmlns:a16="http://schemas.microsoft.com/office/drawing/2014/main" id="{C90ABF35-3BAE-4343-9768-76CFB4CF5D92}"/>
              </a:ext>
            </a:extLst>
          </p:cNvPr>
          <p:cNvSpPr>
            <a:spLocks xmlns:a="http://schemas.openxmlformats.org/drawingml/2006/main" noGrp="1"/>
          </p:cNvSpPr>
          <p:nvPr/>
        </p:nvSpPr>
        <p:spPr>
          <a:xfrm xmlns:a="http://schemas.openxmlformats.org/drawingml/2006/main">
            <a:off x="800100" y="36385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WHO IT CAN SUPPORT</a:t>
            </a:r>
          </a:p>
        </p:txBody>
      </p:sp>
      <p:sp>
        <p:nvSpPr>
          <p:cNvPr id="6" name="">
            <a:extLst xmlns:a="http://schemas.openxmlformats.org/drawingml/2006/main">
              <a:ext uri="{FF2B5EF4-FFF2-40B4-BE49-F238E27FC236}">
                <a16:creationId xmlns:a16="http://schemas.microsoft.com/office/drawing/2014/main" id="{D58C0B57-A269-4CDD-8896-2E4898A25873}"/>
              </a:ext>
            </a:extLst>
          </p:cNvPr>
          <p:cNvSpPr>
            <a:spLocks xmlns:a="http://schemas.openxmlformats.org/drawingml/2006/main" noGrp="1"/>
          </p:cNvSpPr>
          <p:nvPr/>
        </p:nvSpPr>
        <p:spPr>
          <a:xfrm xmlns:a="http://schemas.openxmlformats.org/drawingml/2006/main">
            <a:off x="800100" y="4057650"/>
            <a:ext cx="4857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725" b="0">
                <a:solidFill>
                  <a:srgbClr val="68787A"/>
                </a:solidFill>
                <a:latin typeface="Arial"/>
                <a:ea typeface="Arial"/>
                <a:cs typeface="Arial"/>
              </a:defRPr>
            </a:pPr>
            <a:r>
              <a:rPr sz="1725" b="0">
                <a:solidFill>
                  <a:srgbClr val="68787A"/>
                </a:solidFill>
                <a:latin typeface="Arial"/>
                <a:ea typeface="Arial"/>
                <a:cs typeface="Arial"/>
              </a:rPr>
              <a:t>People at home, family caregivers and authorized hospital care teams, with app access and notifications set by role.</a:t>
            </a:r>
          </a:p>
        </p:txBody>
      </p:sp>
      <p:sp>
        <p:nvSpPr>
          <p:cNvPr id="7" name="">
            <a:extLst xmlns:a="http://schemas.openxmlformats.org/drawingml/2006/main">
              <a:ext uri="{FF2B5EF4-FFF2-40B4-BE49-F238E27FC236}">
                <a16:creationId xmlns:a16="http://schemas.microsoft.com/office/drawing/2014/main" id="{6279814B-5FE0-4AAD-955C-A128E3AC1E47}"/>
              </a:ext>
            </a:extLst>
          </p:cNvPr>
          <p:cNvSpPr>
            <a:spLocks xmlns:a="http://schemas.openxmlformats.org/drawingml/2006/main" noGrp="1"/>
          </p:cNvSpPr>
          <p:nvPr/>
        </p:nvSpPr>
        <p:spPr>
          <a:xfrm xmlns:a="http://schemas.openxmlformats.org/drawingml/2006/main">
            <a:off x="6076950" y="1495425"/>
            <a:ext cx="19050" cy="3905250"/>
          </a:xfrm>
          <a:prstGeom xmlns:a="http://schemas.openxmlformats.org/drawingml/2006/main" prst="rect">
            <a:avLst/>
          </a:prstGeom>
          <a:solidFill xmlns:a="http://schemas.openxmlformats.org/drawingml/2006/main">
            <a:srgbClr val="D5D8D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EE84797-5B35-45F4-B7B4-B90462340E2E}"/>
              </a:ext>
            </a:extLst>
          </p:cNvPr>
          <p:cNvSpPr>
            <a:spLocks xmlns:a="http://schemas.openxmlformats.org/drawingml/2006/main" noGrp="1"/>
          </p:cNvSpPr>
          <p:nvPr/>
        </p:nvSpPr>
        <p:spPr>
          <a:xfrm xmlns:a="http://schemas.openxmlformats.org/drawingml/2006/main">
            <a:off x="6610350" y="14954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WHAT IT DOES NOT CLAIM</a:t>
            </a:r>
          </a:p>
        </p:txBody>
      </p:sp>
      <p:sp>
        <p:nvSpPr>
          <p:cNvPr id="9" name="">
            <a:extLst xmlns:a="http://schemas.openxmlformats.org/drawingml/2006/main">
              <a:ext uri="{FF2B5EF4-FFF2-40B4-BE49-F238E27FC236}">
                <a16:creationId xmlns:a16="http://schemas.microsoft.com/office/drawing/2014/main" id="{37C7FE21-29D2-4408-AB90-591F24CEFB7F}"/>
              </a:ext>
            </a:extLst>
          </p:cNvPr>
          <p:cNvSpPr>
            <a:spLocks xmlns:a="http://schemas.openxmlformats.org/drawingml/2006/main" noGrp="1"/>
          </p:cNvSpPr>
          <p:nvPr/>
        </p:nvSpPr>
        <p:spPr>
          <a:xfrm xmlns:a="http://schemas.openxmlformats.org/drawingml/2006/main">
            <a:off x="6610350" y="1914525"/>
            <a:ext cx="4667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75" b="1">
                <a:solidFill>
                  <a:srgbClr val="28353A"/>
                </a:solidFill>
                <a:latin typeface="Arial"/>
                <a:ea typeface="Arial"/>
                <a:cs typeface="Arial"/>
              </a:defRPr>
            </a:pPr>
            <a:r>
              <a:rPr sz="1875" b="1">
                <a:solidFill>
                  <a:srgbClr val="28353A"/>
                </a:solidFill>
                <a:latin typeface="Arial"/>
                <a:ea typeface="Arial"/>
                <a:cs typeface="Arial"/>
              </a:rPr>
              <a:t>It can sense an event around the medicine. It cannot confirm that the dose was swallowed.</a:t>
            </a:r>
          </a:p>
        </p:txBody>
      </p:sp>
      <p:sp>
        <p:nvSpPr>
          <p:cNvPr id="10" name="">
            <a:extLst xmlns:a="http://schemas.openxmlformats.org/drawingml/2006/main">
              <a:ext uri="{FF2B5EF4-FFF2-40B4-BE49-F238E27FC236}">
                <a16:creationId xmlns:a16="http://schemas.microsoft.com/office/drawing/2014/main" id="{48E12C67-3B23-46C8-812B-739B4724EB8B}"/>
              </a:ext>
            </a:extLst>
          </p:cNvPr>
          <p:cNvSpPr>
            <a:spLocks xmlns:a="http://schemas.openxmlformats.org/drawingml/2006/main" noGrp="1"/>
          </p:cNvSpPr>
          <p:nvPr/>
        </p:nvSpPr>
        <p:spPr>
          <a:xfrm xmlns:a="http://schemas.openxmlformats.org/drawingml/2006/main">
            <a:off x="6610350" y="33432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75" b="1">
                <a:solidFill>
                  <a:srgbClr val="4D858A"/>
                </a:solidFill>
                <a:latin typeface="Arial"/>
                <a:ea typeface="Arial"/>
                <a:cs typeface="Arial"/>
              </a:defRPr>
            </a:pPr>
            <a:r>
              <a:rPr sz="1275" b="1">
                <a:solidFill>
                  <a:srgbClr val="4D858A"/>
                </a:solidFill>
                <a:latin typeface="Arial"/>
                <a:ea typeface="Arial"/>
                <a:cs typeface="Arial"/>
              </a:rPr>
              <a:t>NEXT IDEAS</a:t>
            </a:r>
          </a:p>
        </p:txBody>
      </p:sp>
      <p:sp>
        <p:nvSpPr>
          <p:cNvPr id="11" name="">
            <a:extLst xmlns:a="http://schemas.openxmlformats.org/drawingml/2006/main">
              <a:ext uri="{FF2B5EF4-FFF2-40B4-BE49-F238E27FC236}">
                <a16:creationId xmlns:a16="http://schemas.microsoft.com/office/drawing/2014/main" id="{4F546774-55F6-4461-8F31-F992E44FF2FF}"/>
              </a:ext>
            </a:extLst>
          </p:cNvPr>
          <p:cNvSpPr>
            <a:spLocks xmlns:a="http://schemas.openxmlformats.org/drawingml/2006/main" noGrp="1"/>
          </p:cNvSpPr>
          <p:nvPr/>
        </p:nvSpPr>
        <p:spPr>
          <a:xfrm xmlns:a="http://schemas.openxmlformats.org/drawingml/2006/main">
            <a:off x="6610350" y="3771900"/>
            <a:ext cx="4667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0">
                <a:solidFill>
                  <a:srgbClr val="68787A"/>
                </a:solidFill>
                <a:latin typeface="Arial"/>
                <a:ea typeface="Arial"/>
                <a:cs typeface="Arial"/>
              </a:defRPr>
            </a:pPr>
            <a:r>
              <a:rPr sz="1650" b="0">
                <a:solidFill>
                  <a:srgbClr val="68787A"/>
                </a:solidFill>
                <a:latin typeface="Arial"/>
                <a:ea typeface="Arial"/>
                <a:cs typeface="Arial"/>
              </a:rPr>
              <a:t>Desk/home ML learns adherence and suggests reminder changes for user approval. Emergency help runs offline; cloud AI is optional. A camera remains a later idea, pending privacy and accuracy checks.</a:t>
            </a:r>
          </a:p>
        </p:txBody>
      </p:sp>
      <p:sp>
        <p:nvSpPr>
          <p:cNvPr id="12" name="">
            <a:extLst xmlns:a="http://schemas.openxmlformats.org/drawingml/2006/main">
              <a:ext uri="{FF2B5EF4-FFF2-40B4-BE49-F238E27FC236}">
                <a16:creationId xmlns:a16="http://schemas.microsoft.com/office/drawing/2014/main" id="{9B8CE5C4-E519-476A-B534-64FB17CDA75A}"/>
              </a:ext>
            </a:extLst>
          </p:cNvPr>
          <p:cNvSpPr>
            <a:spLocks xmlns:a="http://schemas.openxmlformats.org/drawingml/2006/main" noGrp="1"/>
          </p:cNvSpPr>
          <p:nvPr/>
        </p:nvSpPr>
        <p:spPr>
          <a:xfrm xmlns:a="http://schemas.openxmlformats.org/drawingml/2006/main">
            <a:off x="800100" y="581025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025" b="1">
                <a:solidFill>
                  <a:srgbClr val="C87854"/>
                </a:solidFill>
                <a:latin typeface="Arial"/>
                <a:ea typeface="Arial"/>
                <a:cs typeface="Arial"/>
              </a:defRPr>
            </a:pPr>
            <a:r>
              <a:rPr sz="2025" b="1">
                <a:solidFill>
                  <a:srgbClr val="C87854"/>
                </a:solidFill>
                <a:latin typeface="Arial"/>
                <a:ea typeface="Arial"/>
                <a:cs typeface="Arial"/>
              </a:rPr>
              <a:t>Remind · sense · record · notify</a:t>
            </a:r>
          </a:p>
        </p:txBody>
      </p:sp>
    </p:spTree>
    <p:extLst>
      <p:ext uri="{BB962C8B-B14F-4D97-AF65-F5344CB8AC3E}">
        <p14:creationId xmlns:p14="http://schemas.microsoft.com/office/powerpoint/2010/main" val="1720456845"/>
      </p:ext>
    </p:extLst>
  </p:cSld>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515600" cy="274320"/>
          </a:xfrm>
          <a:prstGeom prst="rect">
            <a:avLst/>
          </a:prstGeom>
          <a:noFill/>
        </p:spPr>
        <p:txBody>
          <a:bodyPr wrap="none">
            <a:spAutoFit/>
          </a:bodyPr>
          <a:lstStyle/>
          <a:p>
            <a:r>
              <a:rPr sz="1000" b="1">
                <a:solidFill>
                  <a:srgbClr val="37695F"/>
                </a:solidFill>
              </a:rPr>
              <a:t>FUTURE SECURITY UPGRADE</a:t>
            </a:r>
          </a:p>
        </p:txBody>
      </p:sp>
      <p:sp>
        <p:nvSpPr>
          <p:cNvPr id="4" name="TextBox 3"/>
          <p:cNvSpPr txBox="1"/>
          <p:nvPr/>
        </p:nvSpPr>
        <p:spPr>
          <a:xfrm>
            <a:off x="640080" y="713232"/>
            <a:ext cx="10698480" cy="640080"/>
          </a:xfrm>
          <a:prstGeom prst="rect">
            <a:avLst/>
          </a:prstGeom>
          <a:noFill/>
        </p:spPr>
        <p:txBody>
          <a:bodyPr wrap="none">
            <a:spAutoFit/>
          </a:bodyPr>
          <a:lstStyle/>
          <a:p>
            <a:r>
              <a:rPr sz="2700" b="1">
                <a:solidFill>
                  <a:srgbClr val="191919"/>
                </a:solidFill>
              </a:rPr>
              <a:t>Why MediSync could use a TEE</a:t>
            </a:r>
          </a:p>
        </p:txBody>
      </p:sp>
      <p:sp>
        <p:nvSpPr>
          <p:cNvPr id="5" name="Rounded Rectangle 4"/>
          <p:cNvSpPr/>
          <p:nvPr/>
        </p:nvSpPr>
        <p:spPr>
          <a:xfrm>
            <a:off x="685800" y="1600200"/>
            <a:ext cx="5166360" cy="1234440"/>
          </a:xfrm>
          <a:prstGeom prst="roundRect">
            <a:avLst/>
          </a:prstGeom>
          <a:solidFill>
            <a:srgbClr val="FFFFFF"/>
          </a:solidFill>
          <a:ln>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37695F"/>
                </a:solidFill>
              </a:rPr>
              <a:t>Sensitive information</a:t>
            </a:r>
          </a:p>
          <a:p>
            <a:pPr>
              <a:spcBef>
                <a:spcPts val="600"/>
              </a:spcBef>
            </a:pPr>
            <a:r>
              <a:rPr sz="1100">
                <a:solidFill>
                  <a:srgbClr val="5F5F5A"/>
                </a:solidFill>
              </a:rPr>
              <a:t>Medication list, dosage, schedules, allergies, medical context, adherence history and emergency context.</a:t>
            </a:r>
          </a:p>
        </p:txBody>
      </p:sp>
      <p:sp>
        <p:nvSpPr>
          <p:cNvPr id="6" name="Rounded Rectangle 5"/>
          <p:cNvSpPr/>
          <p:nvPr/>
        </p:nvSpPr>
        <p:spPr>
          <a:xfrm>
            <a:off x="685800" y="3063240"/>
            <a:ext cx="5166360" cy="1234440"/>
          </a:xfrm>
          <a:prstGeom prst="roundRect">
            <a:avLst/>
          </a:prstGeom>
          <a:solidFill>
            <a:srgbClr val="FFFFFF"/>
          </a:solidFill>
          <a:ln>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91919"/>
                </a:solidFill>
              </a:rPr>
              <a:t>The privacy problem</a:t>
            </a:r>
          </a:p>
          <a:p>
            <a:pPr>
              <a:spcBef>
                <a:spcPts val="600"/>
              </a:spcBef>
            </a:pPr>
            <a:r>
              <a:rPr sz="1100">
                <a:solidFill>
                  <a:srgbClr val="5F5F5A"/>
                </a:solidFill>
              </a:rPr>
              <a:t>Keeping data on-device reduces exposure, but normal application storage and memory are still part of the general software environment.</a:t>
            </a:r>
          </a:p>
        </p:txBody>
      </p:sp>
      <p:sp>
        <p:nvSpPr>
          <p:cNvPr id="7" name="Rounded Rectangle 6"/>
          <p:cNvSpPr/>
          <p:nvPr/>
        </p:nvSpPr>
        <p:spPr>
          <a:xfrm>
            <a:off x="685800" y="4526280"/>
            <a:ext cx="5166360" cy="1234440"/>
          </a:xfrm>
          <a:prstGeom prst="roundRect">
            <a:avLst/>
          </a:prstGeom>
          <a:solidFill>
            <a:srgbClr val="FFFFFF"/>
          </a:solidFill>
          <a:ln>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91919"/>
                </a:solidFill>
              </a:rPr>
              <a:t>TEE</a:t>
            </a:r>
          </a:p>
          <a:p>
            <a:pPr>
              <a:spcBef>
                <a:spcPts val="600"/>
              </a:spcBef>
            </a:pPr>
            <a:r>
              <a:rPr sz="1100">
                <a:solidFill>
                  <a:srgbClr val="5F5F5A"/>
                </a:solidFill>
              </a:rPr>
              <a:t>A Trusted Execution Environment is a hardware-backed isolated environment available on supported devices.</a:t>
            </a:r>
          </a:p>
        </p:txBody>
      </p:sp>
      <p:sp>
        <p:nvSpPr>
          <p:cNvPr id="8" name="Rounded Rectangle 7"/>
          <p:cNvSpPr/>
          <p:nvPr/>
        </p:nvSpPr>
        <p:spPr>
          <a:xfrm>
            <a:off x="6400800" y="1600200"/>
            <a:ext cx="4480560" cy="4160520"/>
          </a:xfrm>
          <a:prstGeom prst="roundRect">
            <a:avLst/>
          </a:prstGeom>
          <a:solidFill>
            <a:srgbClr val="EFF1EF"/>
          </a:solidFill>
          <a:ln>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12280" y="3017520"/>
            <a:ext cx="3657600" cy="2011680"/>
          </a:xfrm>
          <a:prstGeom prst="roundRect">
            <a:avLst/>
          </a:prstGeom>
          <a:solidFill>
            <a:srgbClr val="E4ECE9"/>
          </a:solidFill>
          <a:ln>
            <a:solidFill>
              <a:srgbClr val="3769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2200">
                <a:solidFill>
                  <a:srgbClr val="37695F"/>
                </a:solidFill>
              </a:rPr>
              <a:t>TEE</a:t>
            </a:r>
          </a:p>
          <a:p>
            <a:pPr>
              <a:spcBef>
                <a:spcPts val="700"/>
              </a:spcBef>
            </a:pPr>
            <a:r>
              <a:rPr sz="1100">
                <a:solidFill>
                  <a:srgbClr val="191919"/>
                </a:solidFill>
              </a:rPr>
              <a:t>Protected encryption keys</a:t>
            </a:r>
          </a:p>
          <a:p>
            <a:pPr>
              <a:spcBef>
                <a:spcPts val="700"/>
              </a:spcBef>
            </a:pPr>
            <a:r>
              <a:rPr sz="1100">
                <a:solidFill>
                  <a:srgbClr val="191919"/>
                </a:solidFill>
              </a:rPr>
              <a:t>Sensitive authentication</a:t>
            </a:r>
          </a:p>
          <a:p>
            <a:pPr>
              <a:spcBef>
                <a:spcPts val="700"/>
              </a:spcBef>
            </a:pPr>
            <a:r>
              <a:rPr sz="1100">
                <a:solidFill>
                  <a:srgbClr val="191919"/>
                </a:solidFill>
              </a:rPr>
              <a:t>Selected security operations</a:t>
            </a:r>
          </a:p>
        </p:txBody>
      </p:sp>
      <p:sp>
        <p:nvSpPr>
          <p:cNvPr id="10" name="TextBox 9"/>
          <p:cNvSpPr txBox="1"/>
          <p:nvPr/>
        </p:nvSpPr>
        <p:spPr>
          <a:xfrm>
            <a:off x="6812280" y="5486400"/>
            <a:ext cx="3657600" cy="411480"/>
          </a:xfrm>
          <a:prstGeom prst="rect">
            <a:avLst/>
          </a:prstGeom>
          <a:noFill/>
        </p:spPr>
        <p:txBody>
          <a:bodyPr wrap="none">
            <a:spAutoFit/>
          </a:bodyPr>
          <a:lstStyle/>
          <a:p>
            <a:r>
              <a:rPr sz="1000">
                <a:solidFill>
                  <a:srgbClr val="5F5F5A"/>
                </a:solidFill>
              </a:rPr>
              <a:t>Not a replacement for encryption or OS security.</a:t>
            </a:r>
          </a:p>
        </p:txBody>
      </p:sp>
      <p:sp>
        <p:nvSpPr>
          <p:cNvPr id="11" name="TextBox 10"/>
          <p:cNvSpPr txBox="1"/>
          <p:nvPr/>
        </p:nvSpPr>
        <p:spPr>
          <a:xfrm>
            <a:off x="640080" y="6446520"/>
            <a:ext cx="10607040" cy="228600"/>
          </a:xfrm>
          <a:prstGeom prst="rect">
            <a:avLst/>
          </a:prstGeom>
          <a:noFill/>
        </p:spPr>
        <p:txBody>
          <a:bodyPr wrap="none">
            <a:spAutoFit/>
          </a:bodyPr>
          <a:lstStyle/>
          <a:p>
            <a:r>
              <a:rPr sz="800">
                <a:solidFill>
                  <a:srgbClr val="5F5F5A"/>
                </a:solidFill>
              </a:rPr>
              <a:t>TEE is proposed as a future upgrade; it is not required by the current prototype.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515600" cy="274320"/>
          </a:xfrm>
          <a:prstGeom prst="rect">
            <a:avLst/>
          </a:prstGeom>
          <a:noFill/>
        </p:spPr>
        <p:txBody>
          <a:bodyPr wrap="none">
            <a:spAutoFit/>
          </a:bodyPr>
          <a:lstStyle/>
          <a:p>
            <a:r>
              <a:rPr sz="1000" b="1">
                <a:solidFill>
                  <a:srgbClr val="37695F"/>
                </a:solidFill>
              </a:rPr>
              <a:t>SECURITY ARCHITECTURE</a:t>
            </a:r>
          </a:p>
        </p:txBody>
      </p:sp>
      <p:sp>
        <p:nvSpPr>
          <p:cNvPr id="4" name="TextBox 3"/>
          <p:cNvSpPr txBox="1"/>
          <p:nvPr/>
        </p:nvSpPr>
        <p:spPr>
          <a:xfrm>
            <a:off x="640080" y="713232"/>
            <a:ext cx="10698480" cy="640080"/>
          </a:xfrm>
          <a:prstGeom prst="rect">
            <a:avLst/>
          </a:prstGeom>
          <a:noFill/>
        </p:spPr>
        <p:txBody>
          <a:bodyPr wrap="none">
            <a:spAutoFit/>
          </a:bodyPr>
          <a:lstStyle/>
          <a:p>
            <a:r>
              <a:rPr sz="2700" b="1">
                <a:solidFill>
                  <a:srgbClr val="191919"/>
                </a:solidFill>
              </a:rPr>
              <a:t>Where TEE fits into MediSync</a:t>
            </a:r>
          </a:p>
        </p:txBody>
      </p:sp>
      <p:sp>
        <p:nvSpPr>
          <p:cNvPr id="5" name="Rounded Rectangle 4"/>
          <p:cNvSpPr/>
          <p:nvPr/>
        </p:nvSpPr>
        <p:spPr>
          <a:xfrm>
            <a:off x="777240" y="1325880"/>
            <a:ext cx="6537960" cy="566928"/>
          </a:xfrm>
          <a:prstGeom prst="roundRect">
            <a:avLst/>
          </a:prstGeom>
          <a:solidFill>
            <a:srgbClr val="FFFFFF"/>
          </a:solidFill>
          <a:ln>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lIns="146304"/>
          <a:lstStyle/>
          <a:p>
            <a:pPr algn="ctr"/>
            <a:r>
              <a:rPr b="1" sz="1100">
                <a:solidFill>
                  <a:srgbClr val="191919"/>
                </a:solidFill>
              </a:rPr>
              <a:t>USER  </a:t>
            </a:r>
            <a:r>
              <a:rPr sz="1000">
                <a:solidFill>
                  <a:srgbClr val="5F5F5A"/>
                </a:solidFill>
              </a:rPr>
              <a:t>Medication + health context</a:t>
            </a:r>
          </a:p>
        </p:txBody>
      </p:sp>
      <p:cxnSp>
        <p:nvCxnSpPr>
          <p:cNvPr id="6" name="Connector 5"/>
          <p:cNvCxnSpPr/>
          <p:nvPr/>
        </p:nvCxnSpPr>
        <p:spPr>
          <a:xfrm>
            <a:off x="4023360" y="1892807"/>
            <a:ext cx="0" cy="164593"/>
          </a:xfrm>
          <a:prstGeom prst="line">
            <a:avLst/>
          </a:prstGeom>
          <a:ln>
            <a:solidFill>
              <a:srgbClr val="5F5F5A"/>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77240" y="2057400"/>
            <a:ext cx="6537960" cy="566928"/>
          </a:xfrm>
          <a:prstGeom prst="roundRect">
            <a:avLst/>
          </a:prstGeom>
          <a:solidFill>
            <a:srgbClr val="FFFFFF"/>
          </a:solidFill>
          <a:ln>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lIns="146304"/>
          <a:lstStyle/>
          <a:p>
            <a:pPr algn="ctr"/>
            <a:r>
              <a:rPr b="1" sz="1100">
                <a:solidFill>
                  <a:srgbClr val="191919"/>
                </a:solidFill>
              </a:rPr>
              <a:t>MEDISYNC APP  </a:t>
            </a:r>
            <a:r>
              <a:rPr sz="1000">
                <a:solidFill>
                  <a:srgbClr val="5F5F5A"/>
                </a:solidFill>
              </a:rPr>
              <a:t>Local-first application</a:t>
            </a:r>
          </a:p>
        </p:txBody>
      </p:sp>
      <p:cxnSp>
        <p:nvCxnSpPr>
          <p:cNvPr id="8" name="Connector 7"/>
          <p:cNvCxnSpPr/>
          <p:nvPr/>
        </p:nvCxnSpPr>
        <p:spPr>
          <a:xfrm>
            <a:off x="4023360" y="2624328"/>
            <a:ext cx="0" cy="164592"/>
          </a:xfrm>
          <a:prstGeom prst="line">
            <a:avLst/>
          </a:prstGeom>
          <a:ln>
            <a:solidFill>
              <a:srgbClr val="5F5F5A"/>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77240" y="2788920"/>
            <a:ext cx="6537960" cy="566928"/>
          </a:xfrm>
          <a:prstGeom prst="roundRect">
            <a:avLst/>
          </a:prstGeom>
          <a:solidFill>
            <a:srgbClr val="FFFFFF"/>
          </a:solidFill>
          <a:ln>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lIns="146304"/>
          <a:lstStyle/>
          <a:p>
            <a:pPr algn="ctr"/>
            <a:r>
              <a:rPr b="1" sz="1100">
                <a:solidFill>
                  <a:srgbClr val="191919"/>
                </a:solidFill>
              </a:rPr>
              <a:t>ENCRYPTED LOCAL DATA  </a:t>
            </a:r>
            <a:r>
              <a:rPr sz="1000">
                <a:solidFill>
                  <a:srgbClr val="5F5F5A"/>
                </a:solidFill>
              </a:rPr>
              <a:t>Health profile + adherence history</a:t>
            </a:r>
          </a:p>
        </p:txBody>
      </p:sp>
      <p:cxnSp>
        <p:nvCxnSpPr>
          <p:cNvPr id="10" name="Connector 9"/>
          <p:cNvCxnSpPr/>
          <p:nvPr/>
        </p:nvCxnSpPr>
        <p:spPr>
          <a:xfrm>
            <a:off x="4023360" y="3355848"/>
            <a:ext cx="0" cy="164592"/>
          </a:xfrm>
          <a:prstGeom prst="line">
            <a:avLst/>
          </a:prstGeom>
          <a:ln>
            <a:solidFill>
              <a:srgbClr val="5F5F5A"/>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77240" y="3520440"/>
            <a:ext cx="6537960" cy="566928"/>
          </a:xfrm>
          <a:prstGeom prst="roundRect">
            <a:avLst/>
          </a:prstGeom>
          <a:solidFill>
            <a:srgbClr val="E4ECE9"/>
          </a:solidFill>
          <a:ln>
            <a:solidFill>
              <a:srgbClr val="37695F"/>
            </a:solidFill>
          </a:ln>
        </p:spPr>
        <p:style>
          <a:lnRef idx="1">
            <a:schemeClr val="accent1"/>
          </a:lnRef>
          <a:fillRef idx="3">
            <a:schemeClr val="accent1"/>
          </a:fillRef>
          <a:effectRef idx="2">
            <a:schemeClr val="accent1"/>
          </a:effectRef>
          <a:fontRef idx="minor">
            <a:schemeClr val="lt1"/>
          </a:fontRef>
        </p:style>
        <p:txBody>
          <a:bodyPr rtlCol="0" anchor="ctr" lIns="146304"/>
          <a:lstStyle/>
          <a:p>
            <a:pPr algn="ctr"/>
            <a:r>
              <a:rPr b="1" sz="1100">
                <a:solidFill>
                  <a:srgbClr val="37695F"/>
                </a:solidFill>
              </a:rPr>
              <a:t>TEE-BACKED SECURITY  </a:t>
            </a:r>
            <a:r>
              <a:rPr sz="1000">
                <a:solidFill>
                  <a:srgbClr val="5F5F5A"/>
                </a:solidFill>
              </a:rPr>
              <a:t>Keys • authentication • selected protected operations</a:t>
            </a:r>
          </a:p>
        </p:txBody>
      </p:sp>
      <p:cxnSp>
        <p:nvCxnSpPr>
          <p:cNvPr id="12" name="Connector 11"/>
          <p:cNvCxnSpPr/>
          <p:nvPr/>
        </p:nvCxnSpPr>
        <p:spPr>
          <a:xfrm>
            <a:off x="4023360" y="4087368"/>
            <a:ext cx="0" cy="164592"/>
          </a:xfrm>
          <a:prstGeom prst="line">
            <a:avLst/>
          </a:prstGeom>
          <a:ln>
            <a:solidFill>
              <a:srgbClr val="5F5F5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 y="4251960"/>
            <a:ext cx="6537960" cy="566928"/>
          </a:xfrm>
          <a:prstGeom prst="roundRect">
            <a:avLst/>
          </a:prstGeom>
          <a:solidFill>
            <a:srgbClr val="FFFFFF"/>
          </a:solidFill>
          <a:ln>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lIns="146304"/>
          <a:lstStyle/>
          <a:p>
            <a:pPr algn="ctr"/>
            <a:r>
              <a:rPr b="1" sz="1100">
                <a:solidFill>
                  <a:srgbClr val="191919"/>
                </a:solidFill>
              </a:rPr>
              <a:t>LOCAL AI  </a:t>
            </a:r>
            <a:r>
              <a:rPr sz="1000">
                <a:solidFill>
                  <a:srgbClr val="5F5F5A"/>
                </a:solidFill>
              </a:rPr>
              <a:t>Uses only authorized local context</a:t>
            </a:r>
          </a:p>
        </p:txBody>
      </p:sp>
      <p:sp>
        <p:nvSpPr>
          <p:cNvPr id="14" name="Rounded Rectangle 13"/>
          <p:cNvSpPr/>
          <p:nvPr/>
        </p:nvSpPr>
        <p:spPr>
          <a:xfrm>
            <a:off x="7818120" y="2011680"/>
            <a:ext cx="3337560" cy="1965960"/>
          </a:xfrm>
          <a:prstGeom prst="roundRect">
            <a:avLst/>
          </a:prstGeom>
          <a:solidFill>
            <a:srgbClr val="FFFFFF"/>
          </a:solidFill>
          <a:ln>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600">
                <a:solidFill>
                  <a:srgbClr val="37695F"/>
                </a:solidFill>
              </a:rPr>
              <a:t>OPTIONAL CLOUD AI</a:t>
            </a:r>
          </a:p>
          <a:p>
            <a:pPr>
              <a:spcBef>
                <a:spcPts val="800"/>
              </a:spcBef>
            </a:pPr>
            <a:r>
              <a:rPr sz="1050">
                <a:solidFill>
                  <a:srgbClr val="5F5F5A"/>
                </a:solidFill>
              </a:rPr>
              <a:t>Only with explicit consent</a:t>
            </a:r>
          </a:p>
          <a:p>
            <a:pPr>
              <a:spcBef>
                <a:spcPts val="800"/>
              </a:spcBef>
            </a:pPr>
            <a:r>
              <a:rPr sz="1050">
                <a:solidFill>
                  <a:srgbClr val="5F5F5A"/>
                </a:solidFill>
              </a:rPr>
              <a:t>Deeper analysis / reports</a:t>
            </a:r>
          </a:p>
          <a:p>
            <a:pPr>
              <a:spcBef>
                <a:spcPts val="800"/>
              </a:spcBef>
            </a:pPr>
            <a:r>
              <a:rPr sz="1050">
                <a:solidFill>
                  <a:srgbClr val="5F5F5A"/>
                </a:solidFill>
              </a:rPr>
              <a:t>Current public information when available</a:t>
            </a:r>
          </a:p>
        </p:txBody>
      </p:sp>
      <p:sp>
        <p:nvSpPr>
          <p:cNvPr id="15" name="Rounded Rectangle 14"/>
          <p:cNvSpPr/>
          <p:nvPr/>
        </p:nvSpPr>
        <p:spPr>
          <a:xfrm>
            <a:off x="8183879" y="4343400"/>
            <a:ext cx="2606040" cy="640080"/>
          </a:xfrm>
          <a:prstGeom prst="roundRect">
            <a:avLst/>
          </a:prstGeom>
          <a:solidFill>
            <a:srgbClr val="E4ECE9"/>
          </a:solidFill>
          <a:ln>
            <a:solidFill>
              <a:srgbClr val="3769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200">
                <a:solidFill>
                  <a:srgbClr val="37695F"/>
                </a:solidFill>
              </a:rPr>
              <a:t>USER CONSENT</a:t>
            </a:r>
          </a:p>
        </p:txBody>
      </p:sp>
      <p:cxnSp>
        <p:nvCxnSpPr>
          <p:cNvPr id="16" name="Connector 15"/>
          <p:cNvCxnSpPr/>
          <p:nvPr/>
        </p:nvCxnSpPr>
        <p:spPr>
          <a:xfrm flipV="1">
            <a:off x="7269480" y="2971800"/>
            <a:ext cx="548640" cy="822960"/>
          </a:xfrm>
          <a:prstGeom prst="line">
            <a:avLst/>
          </a:prstGeom>
          <a:ln>
            <a:solidFill>
              <a:srgbClr val="5F5F5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6446520"/>
            <a:ext cx="10607040" cy="228600"/>
          </a:xfrm>
          <a:prstGeom prst="rect">
            <a:avLst/>
          </a:prstGeom>
          <a:noFill/>
        </p:spPr>
        <p:txBody>
          <a:bodyPr wrap="none">
            <a:spAutoFit/>
          </a:bodyPr>
          <a:lstStyle/>
          <a:p>
            <a:r>
              <a:rPr sz="800">
                <a:solidFill>
                  <a:srgbClr val="5F5F5A"/>
                </a:solidFill>
              </a:rPr>
              <a:t>TEE is a security boundary for selected operations — not an AI model and not a guarantee of complete security.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515600" cy="274320"/>
          </a:xfrm>
          <a:prstGeom prst="rect">
            <a:avLst/>
          </a:prstGeom>
          <a:noFill/>
        </p:spPr>
        <p:txBody>
          <a:bodyPr wrap="none">
            <a:spAutoFit/>
          </a:bodyPr>
          <a:lstStyle/>
          <a:p>
            <a:r>
              <a:rPr sz="1000" b="1">
                <a:solidFill>
                  <a:srgbClr val="37695F"/>
                </a:solidFill>
              </a:rPr>
              <a:t>SECURITY TRADE-OFF</a:t>
            </a:r>
          </a:p>
        </p:txBody>
      </p:sp>
      <p:sp>
        <p:nvSpPr>
          <p:cNvPr id="4" name="TextBox 3"/>
          <p:cNvSpPr txBox="1"/>
          <p:nvPr/>
        </p:nvSpPr>
        <p:spPr>
          <a:xfrm>
            <a:off x="640080" y="713232"/>
            <a:ext cx="10698480" cy="640080"/>
          </a:xfrm>
          <a:prstGeom prst="rect">
            <a:avLst/>
          </a:prstGeom>
          <a:noFill/>
        </p:spPr>
        <p:txBody>
          <a:bodyPr wrap="none">
            <a:spAutoFit/>
          </a:bodyPr>
          <a:lstStyle/>
          <a:p>
            <a:r>
              <a:rPr sz="2700" b="1">
                <a:solidFill>
                  <a:srgbClr val="191919"/>
                </a:solidFill>
              </a:rPr>
              <a:t>What TEE adds — and what it does not</a:t>
            </a:r>
          </a:p>
        </p:txBody>
      </p:sp>
      <p:sp>
        <p:nvSpPr>
          <p:cNvPr id="5" name="Rounded Rectangle 4"/>
          <p:cNvSpPr/>
          <p:nvPr/>
        </p:nvSpPr>
        <p:spPr>
          <a:xfrm>
            <a:off x="685800" y="1417320"/>
            <a:ext cx="4983480" cy="1417320"/>
          </a:xfrm>
          <a:prstGeom prst="roundRect">
            <a:avLst/>
          </a:prstGeom>
          <a:solidFill>
            <a:srgbClr val="FFFFFF"/>
          </a:solidFill>
          <a:ln>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37695F"/>
                </a:solidFill>
              </a:rPr>
              <a:t>01  Stronger key protection</a:t>
            </a:r>
          </a:p>
          <a:p>
            <a:pPr>
              <a:spcBef>
                <a:spcPts val="600"/>
              </a:spcBef>
            </a:pPr>
            <a:r>
              <a:rPr sz="1100">
                <a:solidFill>
                  <a:srgbClr val="5F5F5A"/>
                </a:solidFill>
              </a:rPr>
              <a:t>Cryptographic keys can be hardware-backed on supported devices.</a:t>
            </a:r>
          </a:p>
        </p:txBody>
      </p:sp>
      <p:sp>
        <p:nvSpPr>
          <p:cNvPr id="6" name="Rounded Rectangle 5"/>
          <p:cNvSpPr/>
          <p:nvPr/>
        </p:nvSpPr>
        <p:spPr>
          <a:xfrm>
            <a:off x="6080760" y="1417320"/>
            <a:ext cx="4983480" cy="1417320"/>
          </a:xfrm>
          <a:prstGeom prst="roundRect">
            <a:avLst/>
          </a:prstGeom>
          <a:solidFill>
            <a:srgbClr val="FFFFFF"/>
          </a:solidFill>
          <a:ln>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37695F"/>
                </a:solidFill>
              </a:rPr>
              <a:t>02  Isolation</a:t>
            </a:r>
          </a:p>
          <a:p>
            <a:pPr>
              <a:spcBef>
                <a:spcPts val="600"/>
              </a:spcBef>
            </a:pPr>
            <a:r>
              <a:rPr sz="1100">
                <a:solidFill>
                  <a:srgbClr val="5F5F5A"/>
                </a:solidFill>
              </a:rPr>
              <a:t>Selected sensitive operations can run outside the normal application environment.</a:t>
            </a:r>
          </a:p>
        </p:txBody>
      </p:sp>
      <p:sp>
        <p:nvSpPr>
          <p:cNvPr id="7" name="Rounded Rectangle 6"/>
          <p:cNvSpPr/>
          <p:nvPr/>
        </p:nvSpPr>
        <p:spPr>
          <a:xfrm>
            <a:off x="685800" y="3200400"/>
            <a:ext cx="4983480" cy="1417320"/>
          </a:xfrm>
          <a:prstGeom prst="roundRect">
            <a:avLst/>
          </a:prstGeom>
          <a:solidFill>
            <a:srgbClr val="FFFFFF"/>
          </a:solidFill>
          <a:ln>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37695F"/>
                </a:solidFill>
              </a:rPr>
              <a:t>03  Privacy layer</a:t>
            </a:r>
          </a:p>
          <a:p>
            <a:pPr>
              <a:spcBef>
                <a:spcPts val="600"/>
              </a:spcBef>
            </a:pPr>
            <a:r>
              <a:rPr sz="1100">
                <a:solidFill>
                  <a:srgbClr val="5F5F5A"/>
                </a:solidFill>
              </a:rPr>
              <a:t>Adds another protection boundary around sensitive MediSync assets.</a:t>
            </a:r>
          </a:p>
        </p:txBody>
      </p:sp>
      <p:sp>
        <p:nvSpPr>
          <p:cNvPr id="8" name="Rounded Rectangle 7"/>
          <p:cNvSpPr/>
          <p:nvPr/>
        </p:nvSpPr>
        <p:spPr>
          <a:xfrm>
            <a:off x="6080760" y="3200400"/>
            <a:ext cx="4983480" cy="1417320"/>
          </a:xfrm>
          <a:prstGeom prst="roundRect">
            <a:avLst/>
          </a:prstGeom>
          <a:solidFill>
            <a:srgbClr val="FFFFFF"/>
          </a:solidFill>
          <a:ln>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91919"/>
                </a:solidFill>
              </a:rPr>
              <a:t>04  Device-dependent</a:t>
            </a:r>
          </a:p>
          <a:p>
            <a:pPr>
              <a:spcBef>
                <a:spcPts val="600"/>
              </a:spcBef>
            </a:pPr>
            <a:r>
              <a:rPr sz="1100">
                <a:solidFill>
                  <a:srgbClr val="5F5F5A"/>
                </a:solidFill>
              </a:rPr>
              <a:t>TEE capabilities depend on the phone hardware and operating system.</a:t>
            </a:r>
          </a:p>
        </p:txBody>
      </p:sp>
      <p:sp>
        <p:nvSpPr>
          <p:cNvPr id="9" name="Rounded Rectangle 8"/>
          <p:cNvSpPr/>
          <p:nvPr/>
        </p:nvSpPr>
        <p:spPr>
          <a:xfrm>
            <a:off x="685800" y="5166360"/>
            <a:ext cx="10378440" cy="777240"/>
          </a:xfrm>
          <a:prstGeom prst="roundRect">
            <a:avLst/>
          </a:prstGeom>
          <a:solidFill>
            <a:srgbClr val="F3EFE7"/>
          </a:solidFill>
          <a:ln>
            <a:solidFill>
              <a:srgbClr val="E1D8C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100">
                <a:solidFill>
                  <a:srgbClr val="191919"/>
                </a:solidFill>
              </a:rPr>
              <a:t>IMPORTANT  </a:t>
            </a:r>
            <a:r>
              <a:rPr sz="1050">
                <a:solidFill>
                  <a:srgbClr val="5F5F5A"/>
                </a:solidFill>
              </a:rPr>
              <a:t>TEE does not automatically secure the whole app or AI, prevent every attack, or replace encryption, permissions and secure coding.</a:t>
            </a:r>
          </a:p>
        </p:txBody>
      </p:sp>
      <p:sp>
        <p:nvSpPr>
          <p:cNvPr id="10" name="TextBox 9"/>
          <p:cNvSpPr txBox="1"/>
          <p:nvPr/>
        </p:nvSpPr>
        <p:spPr>
          <a:xfrm>
            <a:off x="640080" y="6446520"/>
            <a:ext cx="10607040" cy="228600"/>
          </a:xfrm>
          <a:prstGeom prst="rect">
            <a:avLst/>
          </a:prstGeom>
          <a:noFill/>
        </p:spPr>
        <p:txBody>
          <a:bodyPr wrap="none">
            <a:spAutoFit/>
          </a:bodyPr>
          <a:lstStyle/>
          <a:p>
            <a:r>
              <a:rPr sz="800">
                <a:solidFill>
                  <a:srgbClr val="5F5F5A"/>
                </a:solidFill>
              </a:rPr>
              <a:t>MediSync current prototype: local-first privacy. TEE: planned future security upgrade.</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2026-10-05T09:48:07.1720000Z</dcterms:created>
  <dcterms:modified xsi:type="dcterms:W3CDTF">2026-10-05T09:48:07.1720000Z</dcterms:modified>
</coreProperties>
</file>